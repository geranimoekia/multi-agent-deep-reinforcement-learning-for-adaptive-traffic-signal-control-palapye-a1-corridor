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1"/>
  </p:notesMasterIdLst>
  <p:sldIdLst>
    <p:sldId id="256" r:id="rId5"/>
    <p:sldId id="275" r:id="rId6"/>
    <p:sldId id="266" r:id="rId7"/>
    <p:sldId id="277" r:id="rId8"/>
    <p:sldId id="258" r:id="rId9"/>
    <p:sldId id="264" r:id="rId10"/>
    <p:sldId id="268" r:id="rId11"/>
    <p:sldId id="259" r:id="rId12"/>
    <p:sldId id="276" r:id="rId13"/>
    <p:sldId id="281" r:id="rId14"/>
    <p:sldId id="282" r:id="rId15"/>
    <p:sldId id="280" r:id="rId16"/>
    <p:sldId id="283" r:id="rId17"/>
    <p:sldId id="284" r:id="rId18"/>
    <p:sldId id="285" r:id="rId19"/>
    <p:sldId id="286" r:id="rId20"/>
    <p:sldId id="287" r:id="rId21"/>
    <p:sldId id="288" r:id="rId22"/>
    <p:sldId id="289" r:id="rId23"/>
    <p:sldId id="290" r:id="rId24"/>
    <p:sldId id="291" r:id="rId25"/>
    <p:sldId id="292" r:id="rId26"/>
    <p:sldId id="293" r:id="rId27"/>
    <p:sldId id="272" r:id="rId28"/>
    <p:sldId id="295" r:id="rId29"/>
    <p:sldId id="294"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557B4-8982-46E4-A58D-D437394E3B18}" v="2" dt="2025-09-19T10:47:40.0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123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3742E-659B-4C84-AB38-1914BEEA2BA1}" type="datetimeFigureOut">
              <a:rPr lang="en-BW" smtClean="0"/>
              <a:t>05/20/2026</a:t>
            </a:fld>
            <a:endParaRPr lang="en-BW"/>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B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9FAE7D-D556-4059-9699-0D4C10290972}" type="slidenum">
              <a:rPr lang="en-BW" smtClean="0"/>
              <a:t>‹#›</a:t>
            </a:fld>
            <a:endParaRPr lang="en-BW"/>
          </a:p>
        </p:txBody>
      </p:sp>
    </p:spTree>
    <p:extLst>
      <p:ext uri="{BB962C8B-B14F-4D97-AF65-F5344CB8AC3E}">
        <p14:creationId xmlns:p14="http://schemas.microsoft.com/office/powerpoint/2010/main" val="35039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a:t>
            </a:r>
          </a:p>
          <a:p>
            <a:endParaRPr lang="en-US" dirty="0"/>
          </a:p>
        </p:txBody>
      </p:sp>
      <p:sp>
        <p:nvSpPr>
          <p:cNvPr id="4" name="Slide Number Placeholder 3"/>
          <p:cNvSpPr>
            <a:spLocks noGrp="1"/>
          </p:cNvSpPr>
          <p:nvPr>
            <p:ph type="sldNum" sz="quarter" idx="5"/>
          </p:nvPr>
        </p:nvSpPr>
        <p:spPr/>
        <p:txBody>
          <a:bodyPr/>
          <a:lstStyle/>
          <a:p>
            <a:fld id="{689FAE7D-D556-4059-9699-0D4C10290972}" type="slidenum">
              <a:rPr lang="en-BW" smtClean="0"/>
              <a:t>1</a:t>
            </a:fld>
            <a:endParaRPr lang="en-BW"/>
          </a:p>
        </p:txBody>
      </p:sp>
    </p:spTree>
    <p:extLst>
      <p:ext uri="{BB962C8B-B14F-4D97-AF65-F5344CB8AC3E}">
        <p14:creationId xmlns:p14="http://schemas.microsoft.com/office/powerpoint/2010/main" val="426804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9FAE7D-D556-4059-9699-0D4C10290972}" type="slidenum">
              <a:rPr lang="en-BW" smtClean="0"/>
              <a:t>7</a:t>
            </a:fld>
            <a:endParaRPr lang="en-BW"/>
          </a:p>
        </p:txBody>
      </p:sp>
    </p:spTree>
    <p:extLst>
      <p:ext uri="{BB962C8B-B14F-4D97-AF65-F5344CB8AC3E}">
        <p14:creationId xmlns:p14="http://schemas.microsoft.com/office/powerpoint/2010/main" val="1934844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FF9187E-FFA9-40B4-BCB1-100FF485DB19}" type="datetime8">
              <a:rPr lang="en-BW" smtClean="0"/>
              <a:t>05/20/2026 13:09</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39991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C6AC79-5773-42C3-8913-2775B5654BDC}" type="datetime8">
              <a:rPr lang="en-BW" smtClean="0"/>
              <a:t>05/20/2026 13:09</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52159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294FD5-E321-45AF-98F4-34B4412A6B22}" type="datetime8">
              <a:rPr lang="en-BW" smtClean="0"/>
              <a:t>05/20/2026 13:09</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636728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B494EC-EE40-448D-B857-59DBAEDEBE40}" type="datetime8">
              <a:rPr lang="en-BW" smtClean="0"/>
              <a:t>05/20/2026 13:09</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2477581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94FD51-E875-4995-97B8-7EEFEB9FB353}" type="datetime8">
              <a:rPr lang="en-BW" smtClean="0"/>
              <a:t>05/20/2026 13:09</a:t>
            </a:fld>
            <a:endParaRPr lang="en-BW"/>
          </a:p>
        </p:txBody>
      </p:sp>
      <p:sp>
        <p:nvSpPr>
          <p:cNvPr id="8" name="Footer Placeholder 7"/>
          <p:cNvSpPr>
            <a:spLocks noGrp="1"/>
          </p:cNvSpPr>
          <p:nvPr>
            <p:ph type="ftr" sz="quarter" idx="11"/>
          </p:nvPr>
        </p:nvSpPr>
        <p:spPr/>
        <p:txBody>
          <a:bodyPr/>
          <a:lstStyle/>
          <a:p>
            <a:endParaRPr lang="en-BW"/>
          </a:p>
        </p:txBody>
      </p:sp>
      <p:sp>
        <p:nvSpPr>
          <p:cNvPr id="9" name="Slide Number Placeholder 8"/>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2089448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4A7EDF-EB88-4E55-8427-2C7D95901739}" type="datetime8">
              <a:rPr lang="en-BW" smtClean="0"/>
              <a:t>05/20/2026 13:09</a:t>
            </a:fld>
            <a:endParaRPr lang="en-BW"/>
          </a:p>
        </p:txBody>
      </p:sp>
      <p:sp>
        <p:nvSpPr>
          <p:cNvPr id="4" name="Footer Placeholder 3"/>
          <p:cNvSpPr>
            <a:spLocks noGrp="1"/>
          </p:cNvSpPr>
          <p:nvPr>
            <p:ph type="ftr" sz="quarter" idx="11"/>
          </p:nvPr>
        </p:nvSpPr>
        <p:spPr/>
        <p:txBody>
          <a:bodyPr/>
          <a:lstStyle/>
          <a:p>
            <a:endParaRPr lang="en-BW"/>
          </a:p>
        </p:txBody>
      </p:sp>
      <p:sp>
        <p:nvSpPr>
          <p:cNvPr id="5" name="Slide Number Placeholder 4"/>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102079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3B499-A31D-41BD-B6E4-69815B193A01}" type="datetime8">
              <a:rPr lang="en-BW" smtClean="0"/>
              <a:t>05/20/2026 13:09</a:t>
            </a:fld>
            <a:endParaRPr lang="en-BW"/>
          </a:p>
        </p:txBody>
      </p:sp>
      <p:sp>
        <p:nvSpPr>
          <p:cNvPr id="3" name="Footer Placeholder 2"/>
          <p:cNvSpPr>
            <a:spLocks noGrp="1"/>
          </p:cNvSpPr>
          <p:nvPr>
            <p:ph type="ftr" sz="quarter" idx="11"/>
          </p:nvPr>
        </p:nvSpPr>
        <p:spPr/>
        <p:txBody>
          <a:bodyPr/>
          <a:lstStyle/>
          <a:p>
            <a:endParaRPr lang="en-BW"/>
          </a:p>
        </p:txBody>
      </p:sp>
      <p:sp>
        <p:nvSpPr>
          <p:cNvPr id="4" name="Slide Number Placeholder 3"/>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46965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01D611A-B717-4F13-A163-42428EA6ACFD}" type="datetime8">
              <a:rPr lang="en-BW" smtClean="0"/>
              <a:t>05/20/2026 13:09</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415441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3A46EF0-A025-4B05-B375-2F927B249A57}" type="datetime8">
              <a:rPr lang="en-BW" smtClean="0"/>
              <a:t>05/20/2026 13:09</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68262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14886C-BD01-49B2-A8E1-27AB7E94EC54}" type="datetime8">
              <a:rPr lang="en-BW" smtClean="0"/>
              <a:t>05/20/2026 13:09</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1607945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EBF9C-9856-4B73-9F9D-488FEB29050D}" type="datetime8">
              <a:rPr lang="en-BW" smtClean="0"/>
              <a:t>05/20/2026 13:09</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51557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18F4C-3B4F-475A-B134-0F78DE8B6A93}" type="datetime8">
              <a:rPr lang="en-BW" smtClean="0"/>
              <a:t>05/20/2026 13:09</a:t>
            </a:fld>
            <a:endParaRPr lang="en-BW"/>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W"/>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04690-02AB-4EF8-9513-CB283ECF7991}" type="slidenum">
              <a:rPr lang="en-BW" smtClean="0"/>
              <a:t>‹#›</a:t>
            </a:fld>
            <a:endParaRPr lang="en-BW"/>
          </a:p>
        </p:txBody>
      </p:sp>
    </p:spTree>
    <p:extLst>
      <p:ext uri="{BB962C8B-B14F-4D97-AF65-F5344CB8AC3E}">
        <p14:creationId xmlns:p14="http://schemas.microsoft.com/office/powerpoint/2010/main" val="18681566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emf"/><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hyperlink" Target="https://www.mmegi.bw/" TargetMode="Externa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2382EE1-E91E-4A2A-B9C3-CAAF9C673CF0}"/>
              </a:ext>
            </a:extLst>
          </p:cNvPr>
          <p:cNvSpPr txBox="1">
            <a:spLocks/>
          </p:cNvSpPr>
          <p:nvPr/>
        </p:nvSpPr>
        <p:spPr>
          <a:xfrm>
            <a:off x="27857" y="35807"/>
            <a:ext cx="632777" cy="819821"/>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a:t>
            </a:r>
          </a:p>
        </p:txBody>
      </p:sp>
      <p:sp>
        <p:nvSpPr>
          <p:cNvPr id="5" name="Title 1">
            <a:extLst>
              <a:ext uri="{FF2B5EF4-FFF2-40B4-BE49-F238E27FC236}">
                <a16:creationId xmlns:a16="http://schemas.microsoft.com/office/drawing/2014/main" id="{14310272-04F5-454A-8972-5C74287C0CF8}"/>
              </a:ext>
            </a:extLst>
          </p:cNvPr>
          <p:cNvSpPr txBox="1">
            <a:spLocks/>
          </p:cNvSpPr>
          <p:nvPr/>
        </p:nvSpPr>
        <p:spPr>
          <a:xfrm>
            <a:off x="914400" y="39461"/>
            <a:ext cx="8058150" cy="465364"/>
          </a:xfrm>
          <a:prstGeom prst="rect">
            <a:avLst/>
          </a:prstGeom>
          <a:solidFill>
            <a:srgbClr val="FB823F"/>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PROJECT PRESENTATION</a:t>
            </a:r>
          </a:p>
        </p:txBody>
      </p:sp>
      <p:pic>
        <p:nvPicPr>
          <p:cNvPr id="9" name="Picture 8">
            <a:extLst>
              <a:ext uri="{FF2B5EF4-FFF2-40B4-BE49-F238E27FC236}">
                <a16:creationId xmlns:a16="http://schemas.microsoft.com/office/drawing/2014/main" id="{253AEFA3-9403-4DDC-B77B-9C58A689BBA1}"/>
              </a:ext>
            </a:extLst>
          </p:cNvPr>
          <p:cNvPicPr>
            <a:picLocks noChangeAspect="1"/>
          </p:cNvPicPr>
          <p:nvPr/>
        </p:nvPicPr>
        <p:blipFill>
          <a:blip r:embed="rId3"/>
          <a:stretch>
            <a:fillRect/>
          </a:stretch>
        </p:blipFill>
        <p:spPr>
          <a:xfrm>
            <a:off x="0" y="6603109"/>
            <a:ext cx="9144000" cy="254891"/>
          </a:xfrm>
          <a:prstGeom prst="rect">
            <a:avLst/>
          </a:prstGeom>
        </p:spPr>
      </p:pic>
      <p:pic>
        <p:nvPicPr>
          <p:cNvPr id="10" name="Picture 9">
            <a:extLst>
              <a:ext uri="{FF2B5EF4-FFF2-40B4-BE49-F238E27FC236}">
                <a16:creationId xmlns:a16="http://schemas.microsoft.com/office/drawing/2014/main" id="{8F313493-882D-4291-9453-EC81D9BB9EE4}"/>
              </a:ext>
            </a:extLst>
          </p:cNvPr>
          <p:cNvPicPr>
            <a:picLocks noChangeAspect="1"/>
          </p:cNvPicPr>
          <p:nvPr/>
        </p:nvPicPr>
        <p:blipFill>
          <a:blip r:embed="rId4"/>
          <a:stretch>
            <a:fillRect/>
          </a:stretch>
        </p:blipFill>
        <p:spPr>
          <a:xfrm>
            <a:off x="4098367" y="6377285"/>
            <a:ext cx="1113605" cy="451648"/>
          </a:xfrm>
          <a:prstGeom prst="rect">
            <a:avLst/>
          </a:prstGeom>
        </p:spPr>
      </p:pic>
      <p:pic>
        <p:nvPicPr>
          <p:cNvPr id="7" name="Picture 6" descr="A logo with text and a clock&#10;&#10;AI-generated content may be incorrect.">
            <a:extLst>
              <a:ext uri="{FF2B5EF4-FFF2-40B4-BE49-F238E27FC236}">
                <a16:creationId xmlns:a16="http://schemas.microsoft.com/office/drawing/2014/main" id="{720CB2E7-EE0F-4826-AA64-F66EE325B9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3021" y="544516"/>
            <a:ext cx="2537958" cy="1189943"/>
          </a:xfrm>
          <a:prstGeom prst="rect">
            <a:avLst/>
          </a:prstGeom>
        </p:spPr>
      </p:pic>
      <p:sp>
        <p:nvSpPr>
          <p:cNvPr id="15" name="Content Placeholder 2">
            <a:extLst>
              <a:ext uri="{FF2B5EF4-FFF2-40B4-BE49-F238E27FC236}">
                <a16:creationId xmlns:a16="http://schemas.microsoft.com/office/drawing/2014/main" id="{BF4CD33E-9FE2-0C3C-1AD9-3A43422C6F55}"/>
              </a:ext>
            </a:extLst>
          </p:cNvPr>
          <p:cNvSpPr>
            <a:spLocks noGrp="1"/>
          </p:cNvSpPr>
          <p:nvPr/>
        </p:nvSpPr>
        <p:spPr>
          <a:xfrm>
            <a:off x="114300" y="2013381"/>
            <a:ext cx="8915400" cy="432421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200" dirty="0">
                <a:latin typeface="Times New Roman" panose="02020603050405020304" pitchFamily="18" charset="0"/>
                <a:cs typeface="Times New Roman" panose="02020603050405020304" pitchFamily="18" charset="0"/>
              </a:rPr>
              <a:t>SCHOOL OF ELECTRICAL AND MECHANICAL</a:t>
            </a:r>
          </a:p>
          <a:p>
            <a:pPr marL="0" indent="0" algn="ctr">
              <a:buNone/>
            </a:pPr>
            <a:r>
              <a:rPr lang="en-GB" sz="1700" dirty="0">
                <a:latin typeface="Times New Roman" panose="02020603050405020304" pitchFamily="18" charset="0"/>
                <a:cs typeface="Times New Roman" panose="02020603050405020304" pitchFamily="18" charset="0"/>
              </a:rPr>
              <a:t>DEPARTMENT OF ELECTRICAL,COMPUTER AND TELECOMMUNICATIONS</a:t>
            </a:r>
          </a:p>
          <a:p>
            <a:pPr marL="0" indent="0" algn="ctr">
              <a:buNone/>
            </a:pPr>
            <a:endParaRPr lang="en-GB" b="1" dirty="0">
              <a:latin typeface="Times New Roman" panose="02020603050405020304" pitchFamily="18" charset="0"/>
              <a:cs typeface="Times New Roman" panose="02020603050405020304" pitchFamily="18" charset="0"/>
            </a:endParaRPr>
          </a:p>
          <a:p>
            <a:pPr marL="0" indent="0" algn="ctr">
              <a:buNone/>
            </a:pPr>
            <a:r>
              <a:rPr lang="en-GB" b="1" dirty="0">
                <a:latin typeface="Times New Roman" panose="02020603050405020304" pitchFamily="18" charset="0"/>
                <a:cs typeface="Times New Roman" panose="02020603050405020304" pitchFamily="18" charset="0"/>
              </a:rPr>
              <a:t>Multi-Agent Deep Reinforcement Learning for Adaptive Traffic Signal Control in the Palapye A1 Corridor</a:t>
            </a:r>
          </a:p>
          <a:p>
            <a:pPr marL="0" indent="0" algn="ctr">
              <a:buNone/>
            </a:pPr>
            <a:endParaRPr lang="en-GB" sz="2400" dirty="0">
              <a:latin typeface="Times New Roman" panose="02020603050405020304" pitchFamily="18" charset="0"/>
              <a:cs typeface="Times New Roman" panose="02020603050405020304" pitchFamily="18" charset="0"/>
            </a:endParaRPr>
          </a:p>
          <a:p>
            <a:pPr marL="0" indent="0" algn="just">
              <a:buNone/>
            </a:pPr>
            <a:r>
              <a:rPr lang="en-GB" sz="2400" dirty="0">
                <a:latin typeface="Times New Roman" panose="02020603050405020304" pitchFamily="18" charset="0"/>
                <a:cs typeface="Times New Roman" panose="02020603050405020304" pitchFamily="18" charset="0"/>
              </a:rPr>
              <a:t>TSOTLHE NAYANG SEIPHEPI</a:t>
            </a:r>
          </a:p>
          <a:p>
            <a:pPr marL="0" indent="0" algn="just">
              <a:buNone/>
            </a:pPr>
            <a:r>
              <a:rPr lang="en-GB" sz="2400" dirty="0">
                <a:latin typeface="Times New Roman" panose="02020603050405020304" pitchFamily="18" charset="0"/>
                <a:cs typeface="Times New Roman" panose="02020603050405020304" pitchFamily="18" charset="0"/>
              </a:rPr>
              <a:t>21001137</a:t>
            </a:r>
          </a:p>
          <a:p>
            <a:pPr marL="0" indent="0" algn="just">
              <a:buNone/>
            </a:pPr>
            <a:r>
              <a:rPr lang="en-GB" sz="2400" dirty="0">
                <a:latin typeface="Times New Roman" panose="02020603050405020304" pitchFamily="18" charset="0"/>
                <a:cs typeface="Times New Roman" panose="02020603050405020304" pitchFamily="18" charset="0"/>
              </a:rPr>
              <a:t>EEEN 520 Final Year Project</a:t>
            </a:r>
          </a:p>
          <a:p>
            <a:pPr marL="0" indent="0" algn="just">
              <a:buNone/>
            </a:pPr>
            <a:r>
              <a:rPr lang="en-GB" sz="2400" dirty="0">
                <a:latin typeface="Times New Roman" panose="02020603050405020304" pitchFamily="18" charset="0"/>
                <a:cs typeface="Times New Roman" panose="02020603050405020304" pitchFamily="18" charset="0"/>
              </a:rPr>
              <a:t>Supervisor: Dr Bokamoso </a:t>
            </a:r>
            <a:r>
              <a:rPr lang="en-GB" sz="2400" dirty="0" err="1">
                <a:latin typeface="Times New Roman" panose="02020603050405020304" pitchFamily="18" charset="0"/>
                <a:cs typeface="Times New Roman" panose="02020603050405020304" pitchFamily="18" charset="0"/>
              </a:rPr>
              <a:t>Basutli</a:t>
            </a:r>
            <a:endParaRPr lang="en-GB" sz="2400" dirty="0">
              <a:latin typeface="Times New Roman" panose="02020603050405020304" pitchFamily="18" charset="0"/>
              <a:cs typeface="Times New Roman" panose="02020603050405020304" pitchFamily="18" charset="0"/>
            </a:endParaRPr>
          </a:p>
          <a:p>
            <a:pPr marL="0" indent="0" algn="just">
              <a:buNone/>
            </a:pPr>
            <a:r>
              <a:rPr lang="en-GB" sz="2400" dirty="0">
                <a:latin typeface="Times New Roman" panose="02020603050405020304" pitchFamily="18" charset="0"/>
                <a:cs typeface="Times New Roman" panose="02020603050405020304" pitchFamily="18" charset="0"/>
              </a:rPr>
              <a:t>Date: 20/05/26      </a:t>
            </a:r>
          </a:p>
        </p:txBody>
      </p:sp>
    </p:spTree>
    <p:extLst>
      <p:ext uri="{BB962C8B-B14F-4D97-AF65-F5344CB8AC3E}">
        <p14:creationId xmlns:p14="http://schemas.microsoft.com/office/powerpoint/2010/main" val="157968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2</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OUTLINE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274668"/>
            <a:ext cx="5846022" cy="313932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AIM &amp; OBJECTIVES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LITERATURE REVIEW</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METHODOLOGY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PERFORMANCE TESTING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 – PHASE 2 (MAPPO)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 ANALYSIS &amp; COMPARISON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DISCUSSION &amp; ASSUMPTIONS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32988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6A6E-0C6F-0024-A124-1FC9FCB5CFA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662A58-ADB5-E5A2-F771-FD6344285B4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3</a:t>
            </a:r>
          </a:p>
        </p:txBody>
      </p:sp>
      <p:sp>
        <p:nvSpPr>
          <p:cNvPr id="5" name="Title 1">
            <a:extLst>
              <a:ext uri="{FF2B5EF4-FFF2-40B4-BE49-F238E27FC236}">
                <a16:creationId xmlns:a16="http://schemas.microsoft.com/office/drawing/2014/main" id="{8846F30D-A409-20CA-256D-C12469DF4F1D}"/>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INTRODUCTION</a:t>
            </a:r>
          </a:p>
        </p:txBody>
      </p:sp>
      <p:pic>
        <p:nvPicPr>
          <p:cNvPr id="6" name="Content Placeholder 4">
            <a:extLst>
              <a:ext uri="{FF2B5EF4-FFF2-40B4-BE49-F238E27FC236}">
                <a16:creationId xmlns:a16="http://schemas.microsoft.com/office/drawing/2014/main" id="{E3045083-640D-0D13-3939-3F10DFF029E8}"/>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FBE00D5-8113-E107-59DB-F8DCB603F153}"/>
              </a:ext>
            </a:extLst>
          </p:cNvPr>
          <p:cNvSpPr>
            <a:spLocks noGrp="1"/>
          </p:cNvSpPr>
          <p:nvPr>
            <p:ph type="sldNum" sz="quarter" idx="12"/>
          </p:nvPr>
        </p:nvSpPr>
        <p:spPr/>
        <p:txBody>
          <a:bodyPr/>
          <a:lstStyle/>
          <a:p>
            <a:fld id="{21004690-02AB-4EF8-9513-CB283ECF7991}" type="slidenum">
              <a:rPr lang="en-BW" smtClean="0"/>
              <a:t>3</a:t>
            </a:fld>
            <a:endParaRPr lang="en-BW"/>
          </a:p>
        </p:txBody>
      </p:sp>
      <p:pic>
        <p:nvPicPr>
          <p:cNvPr id="9" name="Picture 8">
            <a:extLst>
              <a:ext uri="{FF2B5EF4-FFF2-40B4-BE49-F238E27FC236}">
                <a16:creationId xmlns:a16="http://schemas.microsoft.com/office/drawing/2014/main" id="{0D9DAD64-B5B8-7ADD-4491-DA98CD207295}"/>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818614D-4DD2-0F41-373C-F8C671A35623}"/>
              </a:ext>
            </a:extLst>
          </p:cNvPr>
          <p:cNvPicPr>
            <a:picLocks noChangeAspect="1"/>
          </p:cNvPicPr>
          <p:nvPr/>
        </p:nvPicPr>
        <p:blipFill>
          <a:blip r:embed="rId4"/>
          <a:stretch>
            <a:fillRect/>
          </a:stretch>
        </p:blipFill>
        <p:spPr>
          <a:xfrm>
            <a:off x="0" y="6610277"/>
            <a:ext cx="9144000" cy="254891"/>
          </a:xfrm>
          <a:prstGeom prst="rect">
            <a:avLst/>
          </a:prstGeom>
        </p:spPr>
      </p:pic>
      <p:sp>
        <p:nvSpPr>
          <p:cNvPr id="15" name="TextBox 14">
            <a:extLst>
              <a:ext uri="{FF2B5EF4-FFF2-40B4-BE49-F238E27FC236}">
                <a16:creationId xmlns:a16="http://schemas.microsoft.com/office/drawing/2014/main" id="{D799878B-F1A4-14A1-9C93-7B04E4CD9536}"/>
              </a:ext>
            </a:extLst>
          </p:cNvPr>
          <p:cNvSpPr txBox="1"/>
          <p:nvPr/>
        </p:nvSpPr>
        <p:spPr>
          <a:xfrm>
            <a:off x="947970" y="1426671"/>
            <a:ext cx="7811982" cy="4585871"/>
          </a:xfrm>
          <a:prstGeom prst="rect">
            <a:avLst/>
          </a:prstGeom>
          <a:noFill/>
        </p:spPr>
        <p:txBody>
          <a:bodyPr wrap="square">
            <a:spAutoFit/>
          </a:bodyPr>
          <a:lstStyle/>
          <a:p>
            <a:pPr marL="285750" indent="-285750" algn="just">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Urban traffic congestion and road safety remain significant challenges worldwide. Traditional traffic control systems, from manual operation to early automated actuator-based systems, struggled to efficiently manage increasing vehicle volumes due to limitations like human error, rigid timing, and limited coordination.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Figure 1.0 : Traffic congestion in Botswana [1]</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Modern traffic management increasingly rely on adaptive and coordinated control systems that use real-time traffic data, sensors, and computational techniques to optimize signal timings. Optimization methods, including evolutionary algorithms and predictive control strategies, have shown promise in improving traffic flow, reducing congestion, and enhancing urban mobility.</a:t>
            </a:r>
            <a:endParaRPr lang="en-US" sz="1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8301D033-897C-AE20-7AC0-66F76DB814A0}"/>
              </a:ext>
            </a:extLst>
          </p:cNvPr>
          <p:cNvPicPr>
            <a:picLocks noChangeAspect="1"/>
          </p:cNvPicPr>
          <p:nvPr/>
        </p:nvPicPr>
        <p:blipFill>
          <a:blip r:embed="rId5"/>
          <a:stretch>
            <a:fillRect/>
          </a:stretch>
        </p:blipFill>
        <p:spPr>
          <a:xfrm>
            <a:off x="3384729" y="2473337"/>
            <a:ext cx="2938463" cy="1911325"/>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384337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D1A92-EEE5-F836-A68D-3387E53211F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44A0232-3110-D0D9-84CE-7CFB69627515}"/>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4</a:t>
            </a:r>
          </a:p>
        </p:txBody>
      </p:sp>
      <p:sp>
        <p:nvSpPr>
          <p:cNvPr id="5" name="Title 1">
            <a:extLst>
              <a:ext uri="{FF2B5EF4-FFF2-40B4-BE49-F238E27FC236}">
                <a16:creationId xmlns:a16="http://schemas.microsoft.com/office/drawing/2014/main" id="{E49FE3B5-2794-F07F-BC71-661397F13023}"/>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INTRODUCTION</a:t>
            </a:r>
          </a:p>
        </p:txBody>
      </p:sp>
      <p:pic>
        <p:nvPicPr>
          <p:cNvPr id="6" name="Content Placeholder 4">
            <a:extLst>
              <a:ext uri="{FF2B5EF4-FFF2-40B4-BE49-F238E27FC236}">
                <a16:creationId xmlns:a16="http://schemas.microsoft.com/office/drawing/2014/main" id="{57F40E70-F410-25A6-B669-42A66818CA67}"/>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38FA720-FEB0-70DC-EEF5-A6BF2B1C4E31}"/>
              </a:ext>
            </a:extLst>
          </p:cNvPr>
          <p:cNvSpPr>
            <a:spLocks noGrp="1"/>
          </p:cNvSpPr>
          <p:nvPr>
            <p:ph type="sldNum" sz="quarter" idx="12"/>
          </p:nvPr>
        </p:nvSpPr>
        <p:spPr/>
        <p:txBody>
          <a:bodyPr/>
          <a:lstStyle/>
          <a:p>
            <a:fld id="{21004690-02AB-4EF8-9513-CB283ECF7991}" type="slidenum">
              <a:rPr lang="en-BW" smtClean="0"/>
              <a:t>4</a:t>
            </a:fld>
            <a:endParaRPr lang="en-BW"/>
          </a:p>
        </p:txBody>
      </p:sp>
      <p:pic>
        <p:nvPicPr>
          <p:cNvPr id="9" name="Picture 8">
            <a:extLst>
              <a:ext uri="{FF2B5EF4-FFF2-40B4-BE49-F238E27FC236}">
                <a16:creationId xmlns:a16="http://schemas.microsoft.com/office/drawing/2014/main" id="{A9264A18-174B-2B78-D686-6B9E5E487553}"/>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5D6A1B0-5361-6E5D-01D3-992F81F3C85D}"/>
              </a:ext>
            </a:extLst>
          </p:cNvPr>
          <p:cNvPicPr>
            <a:picLocks noChangeAspect="1"/>
          </p:cNvPicPr>
          <p:nvPr/>
        </p:nvPicPr>
        <p:blipFill>
          <a:blip r:embed="rId4"/>
          <a:stretch>
            <a:fillRect/>
          </a:stretch>
        </p:blipFill>
        <p:spPr>
          <a:xfrm>
            <a:off x="0" y="6610277"/>
            <a:ext cx="9144000" cy="254891"/>
          </a:xfrm>
          <a:prstGeom prst="rect">
            <a:avLst/>
          </a:prstGeom>
        </p:spPr>
      </p:pic>
      <p:sp>
        <p:nvSpPr>
          <p:cNvPr id="15" name="TextBox 14">
            <a:extLst>
              <a:ext uri="{FF2B5EF4-FFF2-40B4-BE49-F238E27FC236}">
                <a16:creationId xmlns:a16="http://schemas.microsoft.com/office/drawing/2014/main" id="{50F5E209-CC5F-4DF1-98D0-1E138640EFBE}"/>
              </a:ext>
            </a:extLst>
          </p:cNvPr>
          <p:cNvSpPr txBox="1"/>
          <p:nvPr/>
        </p:nvSpPr>
        <p:spPr>
          <a:xfrm>
            <a:off x="947970" y="1593820"/>
            <a:ext cx="7811982" cy="2585323"/>
          </a:xfrm>
          <a:prstGeom prst="rect">
            <a:avLst/>
          </a:prstGeom>
          <a:noFill/>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Palapye lies on the A1 highway between Gaborone and Francistown.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Commercial and population growth have driven steady increases in traffic volume.</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Signal controllers still run on static, fixed-time cycles.</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 Fixed cycles cannot adjust to changing demand during changing traffic demands.</a:t>
            </a:r>
          </a:p>
          <a:p>
            <a:pPr marL="285750" indent="-285750" algn="just">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This research develops an optimization-based signal control approach for the A1 corridor that run through Palapye.</a:t>
            </a:r>
          </a:p>
        </p:txBody>
      </p:sp>
    </p:spTree>
    <p:extLst>
      <p:ext uri="{BB962C8B-B14F-4D97-AF65-F5344CB8AC3E}">
        <p14:creationId xmlns:p14="http://schemas.microsoft.com/office/powerpoint/2010/main" val="86645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6</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PROBLEM STATEMENT</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5</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62EF4368-4A3F-AEA3-692F-0BA799603CB8}"/>
              </a:ext>
            </a:extLst>
          </p:cNvPr>
          <p:cNvSpPr txBox="1"/>
          <p:nvPr/>
        </p:nvSpPr>
        <p:spPr>
          <a:xfrm>
            <a:off x="517778" y="1553807"/>
            <a:ext cx="7925562" cy="128907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Urban intersections in Palapye experience increased traffic congestion, delays, and inefficient traffic flow due to conventional fixed-time traffic light control systems that do not adapt to real-time traffic conditions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093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7</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OBJECTIVES </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6</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D315CFAE-3CFD-3CED-9D49-5FEB4A7DB567}"/>
              </a:ext>
            </a:extLst>
          </p:cNvPr>
          <p:cNvSpPr txBox="1"/>
          <p:nvPr/>
        </p:nvSpPr>
        <p:spPr>
          <a:xfrm>
            <a:off x="751091" y="1101238"/>
            <a:ext cx="7911846" cy="4715330"/>
          </a:xfrm>
          <a:prstGeom prst="rect">
            <a:avLst/>
          </a:prstGeom>
          <a:noFill/>
        </p:spPr>
        <p:txBody>
          <a:bodyPr wrap="square">
            <a:spAutoFit/>
          </a:bodyPr>
          <a:lstStyle/>
          <a:p>
            <a:pPr marL="285750" marR="0" indent="-285750" algn="just">
              <a:lnSpc>
                <a:spcPct val="150000"/>
              </a:lnSpc>
              <a:spcAft>
                <a:spcPts val="800"/>
              </a:spcAft>
              <a:buFont typeface="Wingdings" panose="05000000000000000000" pitchFamily="2" charset="2"/>
              <a:buChar char="Ø"/>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Ø"/>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To design and implement an optimized traffic light control system that minimizes vehicle delays, reduces congestion, and improves traffic flow efficiency at urban intersections.</a:t>
            </a:r>
          </a:p>
          <a:p>
            <a:pPr marL="342900" marR="0" lvl="0" indent="-342900" algn="just">
              <a:lnSpc>
                <a:spcPct val="150000"/>
              </a:lnSpc>
              <a:buFont typeface="Wingdings" panose="05000000000000000000" pitchFamily="2" charset="2"/>
              <a:buChar char="Ø"/>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Design and implement adaptive signal timing algorithms that respond to real-time traffic conditions.</a:t>
            </a:r>
          </a:p>
          <a:p>
            <a:pPr marL="342900" marR="0" lvl="0" indent="-342900" algn="just">
              <a:lnSpc>
                <a:spcPct val="150000"/>
              </a:lnSpc>
              <a:buFont typeface="Wingdings" panose="05000000000000000000" pitchFamily="2" charset="2"/>
              <a:buChar char="Ø"/>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Implement coordinated control across multiple intersections to reduce stop-and-go traffic.</a:t>
            </a:r>
          </a:p>
          <a:p>
            <a:pPr marL="342900" marR="0" lvl="0" indent="-342900" algn="just">
              <a:lnSpc>
                <a:spcPct val="150000"/>
              </a:lnSpc>
              <a:buFont typeface="Wingdings" panose="05000000000000000000" pitchFamily="2" charset="2"/>
              <a:buChar char="Ø"/>
            </a:pPr>
            <a:r>
              <a:rPr lang="en-GB" b="0" i="0" dirty="0">
                <a:effectLst/>
                <a:latin typeface="Times New Roman" panose="02020603050405020304" pitchFamily="18" charset="0"/>
                <a:cs typeface="Times New Roman" panose="02020603050405020304" pitchFamily="18" charset="0"/>
              </a:rPr>
              <a:t>Quantitatively evaluate the MAPPO controller against a single-agent PPO baseline and a conventional fixed time controller across key traffic performance metrics</a:t>
            </a:r>
            <a:r>
              <a:rPr lang="en-GB" b="0" i="0" dirty="0">
                <a:effectLst/>
                <a:latin typeface="Arial" panose="020B0604020202020204" pitchFamily="34" charset="0"/>
              </a:rPr>
              <a:t>.</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14242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8BE-618F-83F6-D342-C2C13332A2C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A645C70-851C-4BF1-C29D-3E690DF93857}"/>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5</a:t>
            </a:r>
          </a:p>
        </p:txBody>
      </p:sp>
      <p:sp>
        <p:nvSpPr>
          <p:cNvPr id="5" name="Title 1">
            <a:extLst>
              <a:ext uri="{FF2B5EF4-FFF2-40B4-BE49-F238E27FC236}">
                <a16:creationId xmlns:a16="http://schemas.microsoft.com/office/drawing/2014/main" id="{F02C089E-5C0E-4ADA-7E49-AAEFD5D5B21F}"/>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LITERATURE REVIEW</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A2918F7-8E43-0FAD-F6D3-8BBC93E4ED44}"/>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57C7C480-BF77-4C10-6D10-96BD1D8F44B9}"/>
              </a:ext>
            </a:extLst>
          </p:cNvPr>
          <p:cNvSpPr>
            <a:spLocks noGrp="1"/>
          </p:cNvSpPr>
          <p:nvPr>
            <p:ph type="sldNum" sz="quarter" idx="12"/>
          </p:nvPr>
        </p:nvSpPr>
        <p:spPr/>
        <p:txBody>
          <a:bodyPr/>
          <a:lstStyle/>
          <a:p>
            <a:fld id="{21004690-02AB-4EF8-9513-CB283ECF7991}" type="slidenum">
              <a:rPr lang="en-BW" smtClean="0"/>
              <a:t>7</a:t>
            </a:fld>
            <a:endParaRPr lang="en-BW"/>
          </a:p>
        </p:txBody>
      </p:sp>
      <p:pic>
        <p:nvPicPr>
          <p:cNvPr id="9" name="Picture 8">
            <a:extLst>
              <a:ext uri="{FF2B5EF4-FFF2-40B4-BE49-F238E27FC236}">
                <a16:creationId xmlns:a16="http://schemas.microsoft.com/office/drawing/2014/main" id="{710CAF18-A490-4CCA-B8DF-B4BA6F026438}"/>
              </a:ext>
            </a:extLst>
          </p:cNvPr>
          <p:cNvPicPr>
            <a:picLocks noChangeAspect="1"/>
          </p:cNvPicPr>
          <p:nvPr/>
        </p:nvPicPr>
        <p:blipFill>
          <a:blip r:embed="rId4"/>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3F71D9E-E032-9100-2B26-C3B42708B598}"/>
              </a:ext>
            </a:extLst>
          </p:cNvPr>
          <p:cNvPicPr>
            <a:picLocks noChangeAspect="1"/>
          </p:cNvPicPr>
          <p:nvPr/>
        </p:nvPicPr>
        <p:blipFill>
          <a:blip r:embed="rId5"/>
          <a:stretch>
            <a:fillRect/>
          </a:stretch>
        </p:blipFill>
        <p:spPr>
          <a:xfrm>
            <a:off x="0" y="6610277"/>
            <a:ext cx="9144000" cy="254891"/>
          </a:xfrm>
          <a:prstGeom prst="rect">
            <a:avLst/>
          </a:prstGeom>
        </p:spPr>
      </p:pic>
      <p:graphicFrame>
        <p:nvGraphicFramePr>
          <p:cNvPr id="15" name="Table 14">
            <a:extLst>
              <a:ext uri="{FF2B5EF4-FFF2-40B4-BE49-F238E27FC236}">
                <a16:creationId xmlns:a16="http://schemas.microsoft.com/office/drawing/2014/main" id="{3A6AD9EC-C7AE-EDBF-765E-CDE6764DC6DD}"/>
              </a:ext>
            </a:extLst>
          </p:cNvPr>
          <p:cNvGraphicFramePr>
            <a:graphicFrameLocks noGrp="1"/>
          </p:cNvGraphicFramePr>
          <p:nvPr>
            <p:extLst>
              <p:ext uri="{D42A27DB-BD31-4B8C-83A1-F6EECF244321}">
                <p14:modId xmlns:p14="http://schemas.microsoft.com/office/powerpoint/2010/main" val="1082115368"/>
              </p:ext>
            </p:extLst>
          </p:nvPr>
        </p:nvGraphicFramePr>
        <p:xfrm>
          <a:off x="682499" y="1009264"/>
          <a:ext cx="7414135" cy="5333933"/>
        </p:xfrm>
        <a:graphic>
          <a:graphicData uri="http://schemas.openxmlformats.org/drawingml/2006/table">
            <a:tbl>
              <a:tblPr firstRow="1" bandRow="1">
                <a:tableStyleId>{5C22544A-7EE6-4342-B048-85BDC9FD1C3A}</a:tableStyleId>
              </a:tblPr>
              <a:tblGrid>
                <a:gridCol w="1323282">
                  <a:extLst>
                    <a:ext uri="{9D8B030D-6E8A-4147-A177-3AD203B41FA5}">
                      <a16:colId xmlns:a16="http://schemas.microsoft.com/office/drawing/2014/main" val="2163507817"/>
                    </a:ext>
                  </a:extLst>
                </a:gridCol>
                <a:gridCol w="2064774">
                  <a:extLst>
                    <a:ext uri="{9D8B030D-6E8A-4147-A177-3AD203B41FA5}">
                      <a16:colId xmlns:a16="http://schemas.microsoft.com/office/drawing/2014/main" val="1247354760"/>
                    </a:ext>
                  </a:extLst>
                </a:gridCol>
                <a:gridCol w="2241755">
                  <a:extLst>
                    <a:ext uri="{9D8B030D-6E8A-4147-A177-3AD203B41FA5}">
                      <a16:colId xmlns:a16="http://schemas.microsoft.com/office/drawing/2014/main" val="4217087862"/>
                    </a:ext>
                  </a:extLst>
                </a:gridCol>
                <a:gridCol w="1784324">
                  <a:extLst>
                    <a:ext uri="{9D8B030D-6E8A-4147-A177-3AD203B41FA5}">
                      <a16:colId xmlns:a16="http://schemas.microsoft.com/office/drawing/2014/main" val="2738274051"/>
                    </a:ext>
                  </a:extLst>
                </a:gridCol>
              </a:tblGrid>
              <a:tr h="624708">
                <a:tc>
                  <a:txBody>
                    <a:bodyPr/>
                    <a:lstStyle/>
                    <a:p>
                      <a:r>
                        <a:rPr lang="en-US" sz="1400" dirty="0">
                          <a:solidFill>
                            <a:schemeClr val="tx1"/>
                          </a:solidFill>
                          <a:latin typeface="Times New Roman" panose="02020603050405020304" pitchFamily="18" charset="0"/>
                          <a:cs typeface="Times New Roman" panose="02020603050405020304" pitchFamily="18" charset="0"/>
                        </a:rPr>
                        <a:t>Author and Publication Year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Title of study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Findings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Gaps In The Findings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967316"/>
                  </a:ext>
                </a:extLst>
              </a:tr>
              <a:tr h="845100">
                <a:tc>
                  <a:txBody>
                    <a:bodyPr/>
                    <a:lstStyle/>
                    <a:p>
                      <a:pPr marL="171450" indent="-171450">
                        <a:buFont typeface="Arial" panose="020B0604020202020204" pitchFamily="34" charset="0"/>
                        <a:buChar char="•"/>
                      </a:pPr>
                      <a:r>
                        <a:rPr lang="en-US" sz="1100" dirty="0" err="1">
                          <a:solidFill>
                            <a:schemeClr val="tx1"/>
                          </a:solidFill>
                          <a:effectLst/>
                          <a:latin typeface="Times New Roman" panose="02020603050405020304" pitchFamily="18" charset="0"/>
                          <a:cs typeface="Times New Roman" panose="02020603050405020304" pitchFamily="18" charset="0"/>
                        </a:rPr>
                        <a:t>Mansouryar</a:t>
                      </a:r>
                      <a:r>
                        <a:rPr lang="en-US" sz="1100" dirty="0">
                          <a:solidFill>
                            <a:schemeClr val="tx1"/>
                          </a:solidFill>
                          <a:effectLst/>
                          <a:latin typeface="Times New Roman" panose="02020603050405020304" pitchFamily="18" charset="0"/>
                          <a:cs typeface="Times New Roman" panose="02020603050405020304" pitchFamily="18" charset="0"/>
                        </a:rPr>
                        <a:t> et al., 2025</a:t>
                      </a:r>
                    </a:p>
                  </a:txBody>
                  <a:tcPr marL="19050" marR="19050" marT="19050" marB="1905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Deep Reinforcement Learning for Traffic Light Control and Transit Priority</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DRL outperforms fixed-time control on simulated corridors; agents adapt signal timing without explicit traffic models</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Single-agent only , no coordination across adjacent junctions; corridor-level multi-agent control not explored</a:t>
                      </a:r>
                    </a:p>
                  </a:txBody>
                  <a:tcPr marL="19050" marR="19050" marT="19050" marB="1905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1830691"/>
                  </a:ext>
                </a:extLst>
              </a:tr>
              <a:tr h="963561">
                <a:tc>
                  <a:txBody>
                    <a:bodyPr/>
                    <a:lstStyle/>
                    <a:p>
                      <a:pPr marL="171450" indent="-171450">
                        <a:buFont typeface="Arial" panose="020B0604020202020204" pitchFamily="34" charset="0"/>
                        <a:buChar char="•"/>
                      </a:pPr>
                      <a:r>
                        <a:rPr lang="en-US" sz="1100" dirty="0">
                          <a:solidFill>
                            <a:schemeClr val="tx1"/>
                          </a:solidFill>
                          <a:effectLst/>
                          <a:latin typeface="Times New Roman" panose="02020603050405020304" pitchFamily="18" charset="0"/>
                          <a:cs typeface="Times New Roman" panose="02020603050405020304" pitchFamily="18" charset="0"/>
                        </a:rPr>
                        <a:t>Mannion, Duggan &amp; Howley, 2020</a:t>
                      </a:r>
                    </a:p>
                  </a:txBody>
                  <a:tcPr marL="19050" marR="19050" marT="19050" marB="1905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An Experimental Review of Reinforcement Learning Algorithms for Adaptive Traffic Signal Control</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DQL outperforms fixed-time control at isolated intersections</a:t>
                      </a:r>
                    </a:p>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enable agents to handle continuous</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Single-intersection only</a:t>
                      </a:r>
                    </a:p>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independent DQL agents destabilise each other </a:t>
                      </a:r>
                    </a:p>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no coordination mechanism exists across the corridor</a:t>
                      </a:r>
                    </a:p>
                  </a:txBody>
                  <a:tcPr marL="19050" marR="19050" marT="19050" marB="1905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1171395"/>
                  </a:ext>
                </a:extLst>
              </a:tr>
              <a:tr h="1023294">
                <a:tc>
                  <a:txBody>
                    <a:bodyPr/>
                    <a:lstStyle/>
                    <a:p>
                      <a:pPr marL="171450" indent="-171450">
                        <a:buFont typeface="Arial" panose="020B0604020202020204" pitchFamily="34" charset="0"/>
                        <a:buChar char="•"/>
                      </a:pPr>
                      <a:r>
                        <a:rPr lang="en-US" sz="1100" dirty="0" err="1">
                          <a:effectLst/>
                          <a:latin typeface="Times New Roman" panose="02020603050405020304" pitchFamily="18" charset="0"/>
                          <a:cs typeface="Times New Roman" panose="02020603050405020304" pitchFamily="18" charset="0"/>
                        </a:rPr>
                        <a:t>Kalašová</a:t>
                      </a:r>
                      <a:r>
                        <a:rPr lang="en-US" sz="1100" dirty="0">
                          <a:effectLst/>
                          <a:latin typeface="Times New Roman" panose="02020603050405020304" pitchFamily="18" charset="0"/>
                          <a:cs typeface="Times New Roman" panose="02020603050405020304" pitchFamily="18" charset="0"/>
                        </a:rPr>
                        <a:t> et al., 2022</a:t>
                      </a:r>
                    </a:p>
                  </a:txBody>
                  <a:tcPr marL="19050" marR="19050" marT="19050" marB="1905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The Impact of Actuated Control on the Environment and Traffic Flow</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GB" sz="1100">
                          <a:effectLst/>
                          <a:latin typeface="Times New Roman" panose="02020603050405020304" pitchFamily="18" charset="0"/>
                          <a:cs typeface="Times New Roman" panose="02020603050405020304" pitchFamily="18" charset="0"/>
                        </a:rPr>
                        <a:t>Actuated control reduces fuel consumption and emissions compared to fixed-time by extending green phases when vehicles are detected</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Responds only to vehicle presence </a:t>
                      </a:r>
                    </a:p>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cannot estimate queue lengths, predict demand, </a:t>
                      </a:r>
                    </a:p>
                  </a:txBody>
                  <a:tcPr marL="19050" marR="19050" marT="19050" marB="1905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981432"/>
                  </a:ext>
                </a:extLst>
              </a:tr>
              <a:tr h="925836">
                <a:tc>
                  <a:txBody>
                    <a:bodyPr/>
                    <a:lstStyle/>
                    <a:p>
                      <a:pPr marL="171450" indent="-171450">
                        <a:buFont typeface="Arial" panose="020B0604020202020204" pitchFamily="34" charset="0"/>
                        <a:buChar char="•"/>
                      </a:pPr>
                      <a:r>
                        <a:rPr lang="en-US" sz="1100" b="0" i="0" kern="1200" dirty="0">
                          <a:solidFill>
                            <a:schemeClr val="dk1"/>
                          </a:solidFill>
                          <a:effectLst/>
                          <a:latin typeface="Times New Roman" panose="02020603050405020304" pitchFamily="18" charset="0"/>
                          <a:ea typeface="+mn-ea"/>
                          <a:cs typeface="Times New Roman" panose="02020603050405020304" pitchFamily="18" charset="0"/>
                        </a:rPr>
                        <a:t>Wang &amp; Shao, 2025</a:t>
                      </a:r>
                      <a:endParaRPr lang="en-GB" sz="1100" dirty="0">
                        <a:effectLst/>
                        <a:latin typeface="Times New Roman" panose="02020603050405020304" pitchFamily="18" charset="0"/>
                        <a:cs typeface="Times New Roman" panose="02020603050405020304" pitchFamily="18"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GA-optimised PID controller for adaptive signal control</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GB" sz="1100" dirty="0">
                          <a:effectLst/>
                          <a:latin typeface="Times New Roman" panose="02020603050405020304" pitchFamily="18" charset="0"/>
                          <a:cs typeface="Times New Roman" panose="02020603050405020304" pitchFamily="18" charset="0"/>
                        </a:rPr>
                        <a:t>GA-tuned PID improved traffic regulation efficiency by </a:t>
                      </a:r>
                      <a:r>
                        <a:rPr lang="en-GB" sz="1100" b="1" dirty="0">
                          <a:effectLst/>
                          <a:latin typeface="Times New Roman" panose="02020603050405020304" pitchFamily="18" charset="0"/>
                          <a:cs typeface="Times New Roman" panose="02020603050405020304" pitchFamily="18" charset="0"/>
                        </a:rPr>
                        <a:t>17.3%</a:t>
                      </a:r>
                      <a:r>
                        <a:rPr lang="en-GB" sz="1100" dirty="0">
                          <a:effectLst/>
                          <a:latin typeface="Times New Roman" panose="02020603050405020304" pitchFamily="18" charset="0"/>
                          <a:cs typeface="Times New Roman" panose="02020603050405020304" pitchFamily="18" charset="0"/>
                        </a:rPr>
                        <a:t> over fixed-time control</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Single-intersection scope</a:t>
                      </a:r>
                    </a:p>
                    <a:p>
                      <a:pPr marL="171450" indent="-171450">
                        <a:buFont typeface="Arial" panose="020B0604020202020204" pitchFamily="34" charset="0"/>
                        <a:buChar char="•"/>
                      </a:pPr>
                      <a:r>
                        <a:rPr lang="en-GB" sz="1100" dirty="0">
                          <a:effectLst/>
                          <a:latin typeface="Times New Roman" panose="02020603050405020304" pitchFamily="18" charset="0"/>
                          <a:cs typeface="Times New Roman" panose="02020603050405020304" pitchFamily="18" charset="0"/>
                        </a:rPr>
                        <a:t> GA tunes parameters offline</a:t>
                      </a:r>
                    </a:p>
                  </a:txBody>
                  <a:tcPr marL="19050" marR="19050" marT="19050" marB="1905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3083333"/>
                  </a:ext>
                </a:extLst>
              </a:tr>
              <a:tr h="813422">
                <a:tc>
                  <a:txBody>
                    <a:bodyPr/>
                    <a:lstStyle/>
                    <a:p>
                      <a:pPr marL="171450" indent="-171450">
                        <a:buFont typeface="Arial" panose="020B0604020202020204" pitchFamily="34" charset="0"/>
                        <a:buChar char="•"/>
                      </a:pPr>
                      <a:r>
                        <a:rPr lang="es-ES" sz="1100" dirty="0">
                          <a:solidFill>
                            <a:schemeClr val="tx1"/>
                          </a:solidFill>
                          <a:effectLst/>
                          <a:latin typeface="Times New Roman" panose="02020603050405020304" pitchFamily="18" charset="0"/>
                          <a:cs typeface="Times New Roman" panose="02020603050405020304" pitchFamily="18" charset="0"/>
                        </a:rPr>
                        <a:t>dos Santos </a:t>
                      </a:r>
                      <a:r>
                        <a:rPr lang="es-ES" sz="1100" dirty="0" err="1">
                          <a:solidFill>
                            <a:schemeClr val="tx1"/>
                          </a:solidFill>
                          <a:effectLst/>
                          <a:latin typeface="Times New Roman" panose="02020603050405020304" pitchFamily="18" charset="0"/>
                          <a:cs typeface="Times New Roman" panose="02020603050405020304" pitchFamily="18" charset="0"/>
                        </a:rPr>
                        <a:t>Ximenes</a:t>
                      </a:r>
                      <a:r>
                        <a:rPr lang="es-ES" sz="1100" dirty="0">
                          <a:solidFill>
                            <a:schemeClr val="tx1"/>
                          </a:solidFill>
                          <a:effectLst/>
                          <a:latin typeface="Times New Roman" panose="02020603050405020304" pitchFamily="18" charset="0"/>
                          <a:cs typeface="Times New Roman" panose="02020603050405020304" pitchFamily="18" charset="0"/>
                        </a:rPr>
                        <a:t> et al., 2024</a:t>
                      </a:r>
                    </a:p>
                  </a:txBody>
                  <a:tcPr marL="19050" marR="19050" marT="19050" marB="1905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Vehicular Traffic Detection for Smart Traffic Lights  Using OpenCV </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Camera-based detection achieves ~90% </a:t>
                      </a:r>
                    </a:p>
                    <a:p>
                      <a:pPr marL="171450" indent="-171450">
                        <a:buFont typeface="Arial" panose="020B0604020202020204" pitchFamily="34" charset="0"/>
                        <a:buChar char="•"/>
                      </a:pPr>
                      <a:r>
                        <a:rPr lang="en-GB" sz="1100" dirty="0">
                          <a:solidFill>
                            <a:schemeClr val="tx1"/>
                          </a:solidFill>
                          <a:effectLst/>
                          <a:latin typeface="Times New Roman" panose="02020603050405020304" pitchFamily="18" charset="0"/>
                          <a:cs typeface="Times New Roman" panose="02020603050405020304" pitchFamily="18" charset="0"/>
                        </a:rPr>
                        <a:t>validates low-cost sensing</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buNone/>
                      </a:pPr>
                      <a:r>
                        <a:rPr lang="en-GB" sz="1100" dirty="0">
                          <a:solidFill>
                            <a:schemeClr val="tx1"/>
                          </a:solidFill>
                          <a:effectLst/>
                          <a:latin typeface="Times New Roman" panose="02020603050405020304" pitchFamily="18" charset="0"/>
                          <a:cs typeface="Times New Roman" panose="02020603050405020304" pitchFamily="18" charset="0"/>
                        </a:rPr>
                        <a:t>Fails under lighting changes and occlusion</a:t>
                      </a:r>
                    </a:p>
                  </a:txBody>
                  <a:tcPr marL="19050" marR="19050" marT="19050" marB="1905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777176515"/>
                  </a:ext>
                </a:extLst>
              </a:tr>
            </a:tbl>
          </a:graphicData>
        </a:graphic>
      </p:graphicFrame>
    </p:spTree>
    <p:extLst>
      <p:ext uri="{BB962C8B-B14F-4D97-AF65-F5344CB8AC3E}">
        <p14:creationId xmlns:p14="http://schemas.microsoft.com/office/powerpoint/2010/main" val="99836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8</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AIM</a:t>
            </a: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8</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AF740BFE-7EA1-7015-7E13-A5263F786A11}"/>
              </a:ext>
            </a:extLst>
          </p:cNvPr>
          <p:cNvSpPr txBox="1"/>
          <p:nvPr/>
        </p:nvSpPr>
        <p:spPr>
          <a:xfrm>
            <a:off x="947970" y="1491101"/>
            <a:ext cx="6620108" cy="129586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To investigate and develop an optimization-based traffic signal control strategy that improves urban traffic flow, reduces congestion, and enhances road safety in Palapye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523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94F0-D310-33BC-3C29-433CAF8D8CC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6F45FD1-F983-55D5-AF8A-24234D279812}"/>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AD7984CD-E8FE-8CA2-E79C-FB68A8F9D56B}"/>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E15D8980-B7E9-8C33-5541-7FF0D269C92A}"/>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FD17D38-1E05-2DE2-2C9E-8DD3066DF54F}"/>
              </a:ext>
            </a:extLst>
          </p:cNvPr>
          <p:cNvSpPr>
            <a:spLocks noGrp="1"/>
          </p:cNvSpPr>
          <p:nvPr>
            <p:ph type="sldNum" sz="quarter" idx="12"/>
          </p:nvPr>
        </p:nvSpPr>
        <p:spPr/>
        <p:txBody>
          <a:bodyPr/>
          <a:lstStyle/>
          <a:p>
            <a:fld id="{21004690-02AB-4EF8-9513-CB283ECF7991}" type="slidenum">
              <a:rPr lang="en-BW" smtClean="0"/>
              <a:t>9</a:t>
            </a:fld>
            <a:endParaRPr lang="en-BW"/>
          </a:p>
        </p:txBody>
      </p:sp>
      <p:pic>
        <p:nvPicPr>
          <p:cNvPr id="9" name="Picture 8">
            <a:extLst>
              <a:ext uri="{FF2B5EF4-FFF2-40B4-BE49-F238E27FC236}">
                <a16:creationId xmlns:a16="http://schemas.microsoft.com/office/drawing/2014/main" id="{B228C5B9-F414-A733-7FBE-9F308D4FE5E6}"/>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37A2BF3-0AB6-F720-4448-B42393259525}"/>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Rectangle 1">
            <a:extLst>
              <a:ext uri="{FF2B5EF4-FFF2-40B4-BE49-F238E27FC236}">
                <a16:creationId xmlns:a16="http://schemas.microsoft.com/office/drawing/2014/main" id="{B503A6C0-DF2F-7F48-2A0A-85CF2D8210B3}"/>
              </a:ext>
            </a:extLst>
          </p:cNvPr>
          <p:cNvSpPr>
            <a:spLocks noChangeArrowheads="1"/>
          </p:cNvSpPr>
          <p:nvPr/>
        </p:nvSpPr>
        <p:spPr bwMode="auto">
          <a:xfrm>
            <a:off x="1366838" y="3144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2B876716-44EC-6AD1-D11A-A43B11828D0C}"/>
              </a:ext>
            </a:extLst>
          </p:cNvPr>
          <p:cNvSpPr txBox="1"/>
          <p:nvPr/>
        </p:nvSpPr>
        <p:spPr>
          <a:xfrm>
            <a:off x="947970" y="1121951"/>
            <a:ext cx="6620108" cy="369332"/>
          </a:xfrm>
          <a:prstGeom prst="rect">
            <a:avLst/>
          </a:prstGeom>
          <a:noFill/>
        </p:spPr>
        <p:txBody>
          <a:bodyPr wrap="square">
            <a:spAutoFit/>
          </a:bodyPr>
          <a:lstStyle/>
          <a:p>
            <a:pPr algn="l">
              <a:buNone/>
            </a:pPr>
            <a:r>
              <a:rPr lang="en-US" b="1" i="0" dirty="0">
                <a:effectLst/>
                <a:latin typeface="Times New Roman" panose="02020603050405020304" pitchFamily="18" charset="0"/>
                <a:cs typeface="Times New Roman" panose="02020603050405020304" pitchFamily="18" charset="0"/>
              </a:rPr>
              <a:t>MAPPO Multi-Agent Controller</a:t>
            </a:r>
            <a:endParaRPr lang="en-US" b="0" i="0" dirty="0">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260BDAE-5E5B-7A0F-A33D-41D6C1DA0C5C}"/>
              </a:ext>
            </a:extLst>
          </p:cNvPr>
          <p:cNvSpPr txBox="1"/>
          <p:nvPr/>
        </p:nvSpPr>
        <p:spPr>
          <a:xfrm>
            <a:off x="778668" y="1691869"/>
            <a:ext cx="7315200" cy="1600438"/>
          </a:xfrm>
          <a:prstGeom prst="rect">
            <a:avLst/>
          </a:prstGeom>
          <a:noFill/>
        </p:spPr>
        <p:txBody>
          <a:bodyPr wrap="square">
            <a:spAutoFit/>
          </a:bodyPr>
          <a:lstStyle/>
          <a:p>
            <a:pPr algn="l">
              <a:buFont typeface="Arial" panose="020B0604020202020204" pitchFamily="34" charset="0"/>
              <a:buChar char="•"/>
            </a:pPr>
            <a:r>
              <a:rPr lang="en-GB" sz="1400" b="0" i="0" dirty="0">
                <a:effectLst/>
                <a:latin typeface="Times New Roman" panose="02020603050405020304" pitchFamily="18" charset="0"/>
                <a:cs typeface="Times New Roman" panose="02020603050405020304" pitchFamily="18" charset="0"/>
              </a:rPr>
              <a:t>Traditional single-agent RL controllers optimise one junction in isolation</a:t>
            </a:r>
          </a:p>
          <a:p>
            <a:pPr algn="l">
              <a:buFont typeface="Arial" panose="020B0604020202020204" pitchFamily="34" charset="0"/>
              <a:buChar char="•"/>
            </a:pPr>
            <a:endParaRPr lang="en-GB" sz="14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GB" sz="1400" b="0" i="0" dirty="0">
                <a:effectLst/>
                <a:latin typeface="Times New Roman" panose="02020603050405020304" pitchFamily="18" charset="0"/>
                <a:cs typeface="Times New Roman" panose="02020603050405020304" pitchFamily="18" charset="0"/>
              </a:rPr>
              <a:t>MAPPO extends PPO to cooperative multi-agent settings each junction gets its own agent, but all three are trained together under a shared objective</a:t>
            </a:r>
          </a:p>
          <a:p>
            <a:pPr algn="l">
              <a:buFont typeface="Arial" panose="020B0604020202020204" pitchFamily="34" charset="0"/>
              <a:buChar char="•"/>
            </a:pPr>
            <a:endParaRPr lang="en-GB" sz="14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GB" sz="1400" b="0" i="0" dirty="0">
                <a:effectLst/>
                <a:latin typeface="Times New Roman" panose="02020603050405020304" pitchFamily="18" charset="0"/>
                <a:cs typeface="Times New Roman" panose="02020603050405020304" pitchFamily="18" charset="0"/>
              </a:rPr>
              <a:t>Built on the </a:t>
            </a:r>
            <a:r>
              <a:rPr lang="en-GB" sz="1400" i="0" dirty="0">
                <a:effectLst/>
                <a:latin typeface="Times New Roman" panose="02020603050405020304" pitchFamily="18" charset="0"/>
                <a:cs typeface="Times New Roman" panose="02020603050405020304" pitchFamily="18" charset="0"/>
              </a:rPr>
              <a:t>Centralised Training, Decentralised Execution (CTDE) </a:t>
            </a:r>
            <a:r>
              <a:rPr lang="en-GB" sz="1400" b="0" i="0" dirty="0">
                <a:effectLst/>
                <a:latin typeface="Times New Roman" panose="02020603050405020304" pitchFamily="18" charset="0"/>
                <a:cs typeface="Times New Roman" panose="02020603050405020304" pitchFamily="18" charset="0"/>
              </a:rPr>
              <a:t>principle agents have access to global information during training but act purely on local observations at runtime.</a:t>
            </a:r>
          </a:p>
        </p:txBody>
      </p:sp>
    </p:spTree>
    <p:extLst>
      <p:ext uri="{BB962C8B-B14F-4D97-AF65-F5344CB8AC3E}">
        <p14:creationId xmlns:p14="http://schemas.microsoft.com/office/powerpoint/2010/main" val="64618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0C95D-AAE1-0FDC-4DDB-C6C83E4330D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BDC8519-F6F0-91B2-CA09-060A27E582F5}"/>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9DB194DF-7D99-F52A-E0E7-4C1D9671BBE0}"/>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3A2A1D86-87E6-724E-5B41-B58AD130D35C}"/>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0495A345-D499-1E85-C185-62BCAA35AD84}"/>
              </a:ext>
            </a:extLst>
          </p:cNvPr>
          <p:cNvSpPr>
            <a:spLocks noGrp="1"/>
          </p:cNvSpPr>
          <p:nvPr>
            <p:ph type="sldNum" sz="quarter" idx="12"/>
          </p:nvPr>
        </p:nvSpPr>
        <p:spPr/>
        <p:txBody>
          <a:bodyPr/>
          <a:lstStyle/>
          <a:p>
            <a:fld id="{21004690-02AB-4EF8-9513-CB283ECF7991}" type="slidenum">
              <a:rPr lang="en-BW" smtClean="0"/>
              <a:t>10</a:t>
            </a:fld>
            <a:endParaRPr lang="en-BW"/>
          </a:p>
        </p:txBody>
      </p:sp>
      <p:pic>
        <p:nvPicPr>
          <p:cNvPr id="9" name="Picture 8">
            <a:extLst>
              <a:ext uri="{FF2B5EF4-FFF2-40B4-BE49-F238E27FC236}">
                <a16:creationId xmlns:a16="http://schemas.microsoft.com/office/drawing/2014/main" id="{E315F928-C15C-DE01-138E-62F019EA8C34}"/>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F2ADB99-F700-ED59-EFDB-FA8054364C39}"/>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A2034307-EA4D-A641-BBA1-F0BCB2CEA827}"/>
              </a:ext>
            </a:extLst>
          </p:cNvPr>
          <p:cNvSpPr txBox="1"/>
          <p:nvPr/>
        </p:nvSpPr>
        <p:spPr>
          <a:xfrm>
            <a:off x="778668" y="1014395"/>
            <a:ext cx="4596580" cy="369332"/>
          </a:xfrm>
          <a:prstGeom prst="rect">
            <a:avLst/>
          </a:prstGeom>
          <a:noFill/>
        </p:spPr>
        <p:txBody>
          <a:bodyPr wrap="square">
            <a:spAutoFit/>
          </a:bodyPr>
          <a:lstStyle/>
          <a:p>
            <a:r>
              <a:rPr lang="en-US" b="1" i="0" dirty="0">
                <a:effectLst/>
                <a:latin typeface="Times New Roman" panose="02020603050405020304" pitchFamily="18" charset="0"/>
                <a:cs typeface="Times New Roman" panose="02020603050405020304" pitchFamily="18" charset="0"/>
              </a:rPr>
              <a:t>Theoretical Design</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4DE877F-2D4C-B697-DF02-96B946E660A7}"/>
              </a:ext>
            </a:extLst>
          </p:cNvPr>
          <p:cNvSpPr txBox="1"/>
          <p:nvPr/>
        </p:nvSpPr>
        <p:spPr>
          <a:xfrm>
            <a:off x="852948" y="1644565"/>
            <a:ext cx="6690161" cy="1200329"/>
          </a:xfrm>
          <a:prstGeom prst="rect">
            <a:avLst/>
          </a:prstGeom>
          <a:noFill/>
        </p:spPr>
        <p:txBody>
          <a:bodyPr wrap="square">
            <a:spAutoFit/>
          </a:bodyPr>
          <a:lstStyle/>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Two-phase approach : Phase 1 (single junction PPO baseline) → Phase 2 (full A1 corridor MAPPO)</a:t>
            </a:r>
          </a:p>
          <a:p>
            <a:pPr algn="just">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SUMO micro-simulator + Python + </a:t>
            </a:r>
            <a:r>
              <a:rPr lang="en-US" b="0" i="0" dirty="0" err="1">
                <a:effectLst/>
                <a:latin typeface="Times New Roman" panose="02020603050405020304" pitchFamily="18" charset="0"/>
                <a:cs typeface="Times New Roman" panose="02020603050405020304" pitchFamily="18" charset="0"/>
              </a:rPr>
              <a:t>TraCI</a:t>
            </a:r>
            <a:r>
              <a:rPr lang="en-US" b="0" i="0" dirty="0">
                <a:effectLst/>
                <a:latin typeface="Times New Roman" panose="02020603050405020304" pitchFamily="18" charset="0"/>
                <a:cs typeface="Times New Roman" panose="02020603050405020304" pitchFamily="18" charset="0"/>
              </a:rPr>
              <a:t> as the core platform</a:t>
            </a:r>
          </a:p>
        </p:txBody>
      </p:sp>
      <p:sp>
        <p:nvSpPr>
          <p:cNvPr id="3" name="TextBox 2">
            <a:extLst>
              <a:ext uri="{FF2B5EF4-FFF2-40B4-BE49-F238E27FC236}">
                <a16:creationId xmlns:a16="http://schemas.microsoft.com/office/drawing/2014/main" id="{BE2A71DD-BB3E-F0DF-37C2-72AAB7F0E657}"/>
              </a:ext>
            </a:extLst>
          </p:cNvPr>
          <p:cNvSpPr txBox="1"/>
          <p:nvPr/>
        </p:nvSpPr>
        <p:spPr>
          <a:xfrm>
            <a:off x="778668" y="3274237"/>
            <a:ext cx="4596580" cy="369332"/>
          </a:xfrm>
          <a:prstGeom prst="rect">
            <a:avLst/>
          </a:prstGeom>
          <a:noFill/>
        </p:spPr>
        <p:txBody>
          <a:bodyPr wrap="square">
            <a:spAutoFit/>
          </a:bodyPr>
          <a:lstStyle/>
          <a:p>
            <a:r>
              <a:rPr lang="en-US" b="1" i="0" dirty="0">
                <a:effectLst/>
                <a:latin typeface="Times New Roman" panose="02020603050405020304" pitchFamily="18" charset="0"/>
                <a:cs typeface="Times New Roman" panose="02020603050405020304" pitchFamily="18" charset="0"/>
              </a:rPr>
              <a:t>Assumptions</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C7EB2EB-87CA-E4A9-B608-300B17C7EDBC}"/>
              </a:ext>
            </a:extLst>
          </p:cNvPr>
          <p:cNvSpPr txBox="1"/>
          <p:nvPr/>
        </p:nvSpPr>
        <p:spPr>
          <a:xfrm>
            <a:off x="778668" y="3734996"/>
            <a:ext cx="7592962" cy="1754326"/>
          </a:xfrm>
          <a:prstGeom prst="rect">
            <a:avLst/>
          </a:prstGeom>
          <a:noFill/>
        </p:spPr>
        <p:txBody>
          <a:bodyPr wrap="square">
            <a:spAutoFit/>
          </a:bodyPr>
          <a:lstStyle/>
          <a:p>
            <a:pPr marL="285750" indent="-285750">
              <a:buFont typeface="Arial" panose="020B0604020202020204" pitchFamily="34" charset="0"/>
              <a:buChar char="•"/>
            </a:pPr>
            <a:r>
              <a:rPr lang="en-GB" dirty="0"/>
              <a:t>No historical traffic data exists for Palapye A1  where all demand is synthetically parameterised from typical urban arterial volumes.</a:t>
            </a:r>
          </a:p>
          <a:p>
            <a:pPr marL="285750" indent="-285750">
              <a:buFont typeface="Arial" panose="020B0604020202020204" pitchFamily="34" charset="0"/>
              <a:buChar char="•"/>
            </a:pPr>
            <a:r>
              <a:rPr lang="en-GB" dirty="0"/>
              <a:t>Pedestrian flows and movements  are not modelled.</a:t>
            </a:r>
          </a:p>
          <a:p>
            <a:pPr marL="285750" indent="-285750">
              <a:buFont typeface="Arial" panose="020B0604020202020204" pitchFamily="34" charset="0"/>
              <a:buChar char="•"/>
            </a:pPr>
            <a:r>
              <a:rPr lang="en-GB" dirty="0"/>
              <a:t>All vehicles treated with equal priority.</a:t>
            </a:r>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86792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7AD4D-B1FD-E493-41F3-051FD3AEEF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FEA7016-1661-15A2-983E-0B0A06E226BC}"/>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6F736A9E-D0C2-DF08-EF86-CAABDE9E726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35A8F79C-5388-D20F-A7DC-C554A96D3233}"/>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E425481-E9B6-60F8-49DC-E30589C62C14}"/>
              </a:ext>
            </a:extLst>
          </p:cNvPr>
          <p:cNvSpPr>
            <a:spLocks noGrp="1"/>
          </p:cNvSpPr>
          <p:nvPr>
            <p:ph type="sldNum" sz="quarter" idx="12"/>
          </p:nvPr>
        </p:nvSpPr>
        <p:spPr/>
        <p:txBody>
          <a:bodyPr/>
          <a:lstStyle/>
          <a:p>
            <a:fld id="{21004690-02AB-4EF8-9513-CB283ECF7991}" type="slidenum">
              <a:rPr lang="en-BW" smtClean="0"/>
              <a:t>11</a:t>
            </a:fld>
            <a:endParaRPr lang="en-BW"/>
          </a:p>
        </p:txBody>
      </p:sp>
      <p:pic>
        <p:nvPicPr>
          <p:cNvPr id="9" name="Picture 8">
            <a:extLst>
              <a:ext uri="{FF2B5EF4-FFF2-40B4-BE49-F238E27FC236}">
                <a16:creationId xmlns:a16="http://schemas.microsoft.com/office/drawing/2014/main" id="{67919E5E-61DF-1F68-E52F-FD28E25310C5}"/>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57A4A0B-593C-CDB2-5E9F-93CF6438A70D}"/>
              </a:ext>
            </a:extLst>
          </p:cNvPr>
          <p:cNvPicPr>
            <a:picLocks noChangeAspect="1"/>
          </p:cNvPicPr>
          <p:nvPr/>
        </p:nvPicPr>
        <p:blipFill>
          <a:blip r:embed="rId4"/>
          <a:stretch>
            <a:fillRect/>
          </a:stretch>
        </p:blipFill>
        <p:spPr>
          <a:xfrm>
            <a:off x="0" y="6610277"/>
            <a:ext cx="9144000" cy="254891"/>
          </a:xfrm>
          <a:prstGeom prst="rect">
            <a:avLst/>
          </a:prstGeom>
        </p:spPr>
      </p:pic>
      <p:graphicFrame>
        <p:nvGraphicFramePr>
          <p:cNvPr id="3" name="Table 2">
            <a:extLst>
              <a:ext uri="{FF2B5EF4-FFF2-40B4-BE49-F238E27FC236}">
                <a16:creationId xmlns:a16="http://schemas.microsoft.com/office/drawing/2014/main" id="{2415F52E-BF50-2189-F751-A05CB85991F7}"/>
              </a:ext>
            </a:extLst>
          </p:cNvPr>
          <p:cNvGraphicFramePr>
            <a:graphicFrameLocks noGrp="1"/>
          </p:cNvGraphicFramePr>
          <p:nvPr>
            <p:extLst>
              <p:ext uri="{D42A27DB-BD31-4B8C-83A1-F6EECF244321}">
                <p14:modId xmlns:p14="http://schemas.microsoft.com/office/powerpoint/2010/main" val="3761034268"/>
              </p:ext>
            </p:extLst>
          </p:nvPr>
        </p:nvGraphicFramePr>
        <p:xfrm>
          <a:off x="947970" y="1536286"/>
          <a:ext cx="7395210" cy="3352012"/>
        </p:xfrm>
        <a:graphic>
          <a:graphicData uri="http://schemas.openxmlformats.org/drawingml/2006/table">
            <a:tbl>
              <a:tblPr>
                <a:tableStyleId>{2D5ABB26-0587-4C30-8999-92F81FD0307C}</a:tableStyleId>
              </a:tblPr>
              <a:tblGrid>
                <a:gridCol w="3697605">
                  <a:extLst>
                    <a:ext uri="{9D8B030D-6E8A-4147-A177-3AD203B41FA5}">
                      <a16:colId xmlns:a16="http://schemas.microsoft.com/office/drawing/2014/main" val="360312250"/>
                    </a:ext>
                  </a:extLst>
                </a:gridCol>
                <a:gridCol w="3697605">
                  <a:extLst>
                    <a:ext uri="{9D8B030D-6E8A-4147-A177-3AD203B41FA5}">
                      <a16:colId xmlns:a16="http://schemas.microsoft.com/office/drawing/2014/main" val="1521004100"/>
                    </a:ext>
                  </a:extLst>
                </a:gridCol>
              </a:tblGrid>
              <a:tr h="369069">
                <a:tc>
                  <a:txBody>
                    <a:bodyPr/>
                    <a:lstStyle/>
                    <a:p>
                      <a:pPr>
                        <a:buNone/>
                      </a:pPr>
                      <a:r>
                        <a:rPr lang="en-US" b="1" dirty="0">
                          <a:solidFill>
                            <a:schemeClr val="tx1"/>
                          </a:solidFill>
                          <a:effectLst/>
                          <a:latin typeface="Times New Roman" panose="02020603050405020304" pitchFamily="18" charset="0"/>
                          <a:cs typeface="Times New Roman" panose="02020603050405020304" pitchFamily="18" charset="0"/>
                        </a:rPr>
                        <a:t>Category</a:t>
                      </a:r>
                    </a:p>
                  </a:txBody>
                  <a:tcPr marL="19050" marR="19050" marT="19050" marB="19050" anchor="ctr">
                    <a:lnB w="12700" cap="flat" cmpd="sng" algn="ctr">
                      <a:solidFill>
                        <a:schemeClr val="tx1"/>
                      </a:solidFill>
                      <a:prstDash val="solid"/>
                      <a:round/>
                      <a:headEnd type="none" w="med" len="med"/>
                      <a:tailEnd type="none" w="med" len="med"/>
                    </a:lnB>
                  </a:tcPr>
                </a:tc>
                <a:tc>
                  <a:txBody>
                    <a:bodyPr/>
                    <a:lstStyle/>
                    <a:p>
                      <a:pPr>
                        <a:buNone/>
                      </a:pPr>
                      <a:r>
                        <a:rPr lang="en-US" b="1" dirty="0">
                          <a:solidFill>
                            <a:schemeClr val="tx1"/>
                          </a:solidFill>
                          <a:effectLst/>
                          <a:latin typeface="Times New Roman" panose="02020603050405020304" pitchFamily="18" charset="0"/>
                          <a:cs typeface="Times New Roman" panose="02020603050405020304" pitchFamily="18" charset="0"/>
                        </a:rPr>
                        <a:t>Tool / Library</a:t>
                      </a:r>
                    </a:p>
                  </a:txBody>
                  <a:tcPr marL="19050" marR="19050" marT="19050" marB="1905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260135"/>
                  </a:ext>
                </a:extLst>
              </a:tr>
              <a:tr h="377662">
                <a:tc>
                  <a:txBody>
                    <a:bodyPr/>
                    <a:lstStyle/>
                    <a:p>
                      <a:pPr>
                        <a:buNone/>
                      </a:pPr>
                      <a:r>
                        <a:rPr lang="en-US" b="0" dirty="0">
                          <a:solidFill>
                            <a:schemeClr val="tx1"/>
                          </a:solidFill>
                          <a:effectLst/>
                          <a:latin typeface="Times New Roman" panose="02020603050405020304" pitchFamily="18" charset="0"/>
                          <a:cs typeface="Times New Roman" panose="02020603050405020304" pitchFamily="18" charset="0"/>
                        </a:rPr>
                        <a:t>Sim-Agent Interface</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err="1">
                          <a:solidFill>
                            <a:schemeClr val="tx1"/>
                          </a:solidFill>
                          <a:effectLst/>
                          <a:latin typeface="Times New Roman" panose="02020603050405020304" pitchFamily="18" charset="0"/>
                          <a:cs typeface="Times New Roman" panose="02020603050405020304" pitchFamily="18" charset="0"/>
                        </a:rPr>
                        <a:t>TraCI</a:t>
                      </a:r>
                      <a:r>
                        <a:rPr lang="en-US" dirty="0">
                          <a:solidFill>
                            <a:schemeClr val="tx1"/>
                          </a:solidFill>
                          <a:effectLst/>
                          <a:latin typeface="Times New Roman" panose="02020603050405020304" pitchFamily="18" charset="0"/>
                          <a:cs typeface="Times New Roman" panose="02020603050405020304" pitchFamily="18" charset="0"/>
                        </a:rPr>
                        <a:t> (Traffic Control Interface)</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946399"/>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Programming Language</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solidFill>
                            <a:schemeClr val="tx1"/>
                          </a:solidFill>
                          <a:effectLst/>
                          <a:latin typeface="Times New Roman" panose="02020603050405020304" pitchFamily="18" charset="0"/>
                          <a:cs typeface="Times New Roman" panose="02020603050405020304" pitchFamily="18" charset="0"/>
                        </a:rPr>
                        <a:t>Python ,XLM</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903190"/>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RL Framework</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solidFill>
                            <a:schemeClr val="tx1"/>
                          </a:solidFill>
                          <a:effectLst/>
                          <a:latin typeface="Times New Roman" panose="02020603050405020304" pitchFamily="18" charset="0"/>
                          <a:cs typeface="Times New Roman" panose="02020603050405020304" pitchFamily="18" charset="0"/>
                        </a:rPr>
                        <a:t>Stable-Baselines3</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702737"/>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Multi-Agent Environment</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err="1">
                          <a:solidFill>
                            <a:schemeClr val="tx1"/>
                          </a:solidFill>
                          <a:effectLst/>
                          <a:latin typeface="Times New Roman" panose="02020603050405020304" pitchFamily="18" charset="0"/>
                          <a:cs typeface="Times New Roman" panose="02020603050405020304" pitchFamily="18" charset="0"/>
                        </a:rPr>
                        <a:t>PettingZoo</a:t>
                      </a:r>
                      <a:r>
                        <a:rPr lang="en-US" dirty="0">
                          <a:solidFill>
                            <a:schemeClr val="tx1"/>
                          </a:solidFill>
                          <a:effectLst/>
                          <a:latin typeface="Times New Roman" panose="02020603050405020304" pitchFamily="18" charset="0"/>
                          <a:cs typeface="Times New Roman" panose="02020603050405020304" pitchFamily="18" charset="0"/>
                        </a:rPr>
                        <a:t> (Parallel API)</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4863604"/>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Deep Learning</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err="1">
                          <a:solidFill>
                            <a:schemeClr val="tx1"/>
                          </a:solidFill>
                          <a:effectLst/>
                          <a:latin typeface="Times New Roman" panose="02020603050405020304" pitchFamily="18" charset="0"/>
                          <a:cs typeface="Times New Roman" panose="02020603050405020304" pitchFamily="18" charset="0"/>
                        </a:rPr>
                        <a:t>PyTorch</a:t>
                      </a:r>
                      <a:endParaRPr lang="en-US" dirty="0">
                        <a:solidFill>
                          <a:schemeClr val="tx1"/>
                        </a:solidFill>
                        <a:effectLst/>
                        <a:latin typeface="Times New Roman" panose="02020603050405020304" pitchFamily="18" charset="0"/>
                        <a:cs typeface="Times New Roman" panose="02020603050405020304" pitchFamily="18" charset="0"/>
                      </a:endParaRP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587774"/>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Vehicle Detection</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solidFill>
                            <a:schemeClr val="tx1"/>
                          </a:solidFill>
                          <a:effectLst/>
                          <a:latin typeface="Times New Roman" panose="02020603050405020304" pitchFamily="18" charset="0"/>
                          <a:cs typeface="Times New Roman" panose="02020603050405020304" pitchFamily="18" charset="0"/>
                        </a:rPr>
                        <a:t>YOLOv8 (</a:t>
                      </a:r>
                      <a:r>
                        <a:rPr lang="en-US" dirty="0" err="1">
                          <a:solidFill>
                            <a:schemeClr val="tx1"/>
                          </a:solidFill>
                          <a:effectLst/>
                          <a:latin typeface="Times New Roman" panose="02020603050405020304" pitchFamily="18" charset="0"/>
                          <a:cs typeface="Times New Roman" panose="02020603050405020304" pitchFamily="18" charset="0"/>
                        </a:rPr>
                        <a:t>Ultralytics</a:t>
                      </a:r>
                      <a:r>
                        <a:rPr lang="en-US" dirty="0">
                          <a:solidFill>
                            <a:schemeClr val="tx1"/>
                          </a:solidFill>
                          <a:effectLst/>
                          <a:latin typeface="Times New Roman" panose="02020603050405020304" pitchFamily="18" charset="0"/>
                          <a:cs typeface="Times New Roman" panose="02020603050405020304" pitchFamily="18" charset="0"/>
                        </a:rPr>
                        <a:t>)</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417594"/>
                  </a:ext>
                </a:extLst>
              </a:tr>
              <a:tr h="377662">
                <a:tc>
                  <a:txBody>
                    <a:bodyPr/>
                    <a:lstStyle/>
                    <a:p>
                      <a:pPr>
                        <a:buNone/>
                      </a:pPr>
                      <a:r>
                        <a:rPr lang="en-US" b="0">
                          <a:solidFill>
                            <a:schemeClr val="tx1"/>
                          </a:solidFill>
                          <a:effectLst/>
                          <a:latin typeface="Times New Roman" panose="02020603050405020304" pitchFamily="18" charset="0"/>
                          <a:cs typeface="Times New Roman" panose="02020603050405020304" pitchFamily="18" charset="0"/>
                        </a:rPr>
                        <a:t>Computer Vision</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solidFill>
                            <a:schemeClr val="tx1"/>
                          </a:solidFill>
                          <a:effectLst/>
                          <a:latin typeface="Times New Roman" panose="02020603050405020304" pitchFamily="18" charset="0"/>
                          <a:cs typeface="Times New Roman" panose="02020603050405020304" pitchFamily="18" charset="0"/>
                        </a:rPr>
                        <a:t>OpenCV</a:t>
                      </a:r>
                    </a:p>
                  </a:txBody>
                  <a:tcPr marL="19050" marR="19050" marT="19050" marB="1905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916999"/>
                  </a:ext>
                </a:extLst>
              </a:tr>
              <a:tr h="339309">
                <a:tc>
                  <a:txBody>
                    <a:bodyPr/>
                    <a:lstStyle/>
                    <a:p>
                      <a:pPr>
                        <a:buNone/>
                      </a:pPr>
                      <a:r>
                        <a:rPr lang="en-US" b="0" dirty="0">
                          <a:solidFill>
                            <a:schemeClr val="tx1"/>
                          </a:solidFill>
                          <a:effectLst/>
                          <a:latin typeface="Times New Roman" panose="02020603050405020304" pitchFamily="18" charset="0"/>
                          <a:cs typeface="Times New Roman" panose="02020603050405020304" pitchFamily="18" charset="0"/>
                        </a:rPr>
                        <a:t>Data &amp; Visualization</a:t>
                      </a:r>
                    </a:p>
                  </a:txBody>
                  <a:tcPr marL="19050" marR="19050" marT="19050" marB="19050" anchor="ctr">
                    <a:lnT w="12700" cap="flat" cmpd="sng" algn="ctr">
                      <a:solidFill>
                        <a:schemeClr val="tx1"/>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dirty="0">
                          <a:solidFill>
                            <a:schemeClr val="tx1"/>
                          </a:solidFill>
                          <a:effectLst/>
                          <a:latin typeface="Times New Roman" panose="02020603050405020304" pitchFamily="18" charset="0"/>
                          <a:cs typeface="Times New Roman" panose="02020603050405020304" pitchFamily="18" charset="0"/>
                        </a:rPr>
                        <a:t>NumPy, Pandas, Matplotlib</a:t>
                      </a:r>
                    </a:p>
                  </a:txBody>
                  <a:tcPr marL="19050" marR="19050" marT="19050" marB="1905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94578832"/>
                  </a:ext>
                </a:extLst>
              </a:tr>
            </a:tbl>
          </a:graphicData>
        </a:graphic>
      </p:graphicFrame>
      <p:sp>
        <p:nvSpPr>
          <p:cNvPr id="12" name="TextBox 11">
            <a:extLst>
              <a:ext uri="{FF2B5EF4-FFF2-40B4-BE49-F238E27FC236}">
                <a16:creationId xmlns:a16="http://schemas.microsoft.com/office/drawing/2014/main" id="{CFF3DC89-EE44-99B2-B868-8E31AD327411}"/>
              </a:ext>
            </a:extLst>
          </p:cNvPr>
          <p:cNvSpPr txBox="1"/>
          <p:nvPr/>
        </p:nvSpPr>
        <p:spPr>
          <a:xfrm>
            <a:off x="874394" y="913028"/>
            <a:ext cx="4596580" cy="369332"/>
          </a:xfrm>
          <a:prstGeom prst="rect">
            <a:avLst/>
          </a:prstGeom>
          <a:noFill/>
        </p:spPr>
        <p:txBody>
          <a:bodyPr wrap="square">
            <a:spAutoFit/>
          </a:bodyPr>
          <a:lstStyle/>
          <a:p>
            <a:pPr algn="l">
              <a:buNone/>
            </a:pPr>
            <a:r>
              <a:rPr lang="en-US" b="1" i="0" dirty="0">
                <a:effectLst/>
                <a:latin typeface="Times New Roman" panose="02020603050405020304" pitchFamily="18" charset="0"/>
                <a:cs typeface="Times New Roman" panose="02020603050405020304" pitchFamily="18" charset="0"/>
              </a:rPr>
              <a:t>Tools &amp; Technologies</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391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2F41-9241-D8F6-9A02-0A611E4F392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5E99825-0F07-3D1B-1511-311E9AC93C75}"/>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224299BA-CC32-1F96-744D-B17A88C8DBAB}"/>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7AEF10E0-E6C3-3233-D6FE-C14A38124A3E}"/>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C79A5991-750A-9D73-6F49-26BF369EB771}"/>
              </a:ext>
            </a:extLst>
          </p:cNvPr>
          <p:cNvSpPr>
            <a:spLocks noGrp="1"/>
          </p:cNvSpPr>
          <p:nvPr>
            <p:ph type="sldNum" sz="quarter" idx="12"/>
          </p:nvPr>
        </p:nvSpPr>
        <p:spPr/>
        <p:txBody>
          <a:bodyPr/>
          <a:lstStyle/>
          <a:p>
            <a:fld id="{21004690-02AB-4EF8-9513-CB283ECF7991}" type="slidenum">
              <a:rPr lang="en-BW" smtClean="0"/>
              <a:t>12</a:t>
            </a:fld>
            <a:endParaRPr lang="en-BW"/>
          </a:p>
        </p:txBody>
      </p:sp>
      <p:pic>
        <p:nvPicPr>
          <p:cNvPr id="9" name="Picture 8">
            <a:extLst>
              <a:ext uri="{FF2B5EF4-FFF2-40B4-BE49-F238E27FC236}">
                <a16:creationId xmlns:a16="http://schemas.microsoft.com/office/drawing/2014/main" id="{F6C3A3C3-1C79-216F-E099-3ED5E41D5780}"/>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1DFC862-456A-6755-D0D9-A2228F9B3AC7}"/>
              </a:ext>
            </a:extLst>
          </p:cNvPr>
          <p:cNvPicPr>
            <a:picLocks noChangeAspect="1"/>
          </p:cNvPicPr>
          <p:nvPr/>
        </p:nvPicPr>
        <p:blipFill>
          <a:blip r:embed="rId4"/>
          <a:stretch>
            <a:fillRect/>
          </a:stretch>
        </p:blipFill>
        <p:spPr>
          <a:xfrm>
            <a:off x="0" y="6610277"/>
            <a:ext cx="9144000" cy="254891"/>
          </a:xfrm>
          <a:prstGeom prst="rect">
            <a:avLst/>
          </a:prstGeom>
        </p:spPr>
      </p:pic>
      <p:pic>
        <p:nvPicPr>
          <p:cNvPr id="11" name="Picture 10">
            <a:extLst>
              <a:ext uri="{FF2B5EF4-FFF2-40B4-BE49-F238E27FC236}">
                <a16:creationId xmlns:a16="http://schemas.microsoft.com/office/drawing/2014/main" id="{11F1FEB6-4DA4-E29C-3BB3-F325D54FE1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047" y="1212042"/>
            <a:ext cx="3248478" cy="3277057"/>
          </a:xfrm>
          <a:prstGeom prst="rect">
            <a:avLst/>
          </a:prstGeom>
        </p:spPr>
      </p:pic>
      <p:pic>
        <p:nvPicPr>
          <p:cNvPr id="13" name="Picture 12">
            <a:extLst>
              <a:ext uri="{FF2B5EF4-FFF2-40B4-BE49-F238E27FC236}">
                <a16:creationId xmlns:a16="http://schemas.microsoft.com/office/drawing/2014/main" id="{AFB7DD14-D52A-A514-72C4-63AD663DC32E}"/>
              </a:ext>
            </a:extLst>
          </p:cNvPr>
          <p:cNvPicPr>
            <a:picLocks noChangeAspect="1"/>
          </p:cNvPicPr>
          <p:nvPr/>
        </p:nvPicPr>
        <p:blipFill>
          <a:blip r:embed="rId6"/>
          <a:stretch>
            <a:fillRect/>
          </a:stretch>
        </p:blipFill>
        <p:spPr>
          <a:xfrm>
            <a:off x="5243882" y="1069307"/>
            <a:ext cx="3067228" cy="3562529"/>
          </a:xfrm>
          <a:prstGeom prst="rect">
            <a:avLst/>
          </a:prstGeom>
        </p:spPr>
      </p:pic>
      <p:sp>
        <p:nvSpPr>
          <p:cNvPr id="14" name="TextBox 13">
            <a:extLst>
              <a:ext uri="{FF2B5EF4-FFF2-40B4-BE49-F238E27FC236}">
                <a16:creationId xmlns:a16="http://schemas.microsoft.com/office/drawing/2014/main" id="{A5590CFA-B48B-B040-DFBC-4018C7FDE9E0}"/>
              </a:ext>
            </a:extLst>
          </p:cNvPr>
          <p:cNvSpPr txBox="1"/>
          <p:nvPr/>
        </p:nvSpPr>
        <p:spPr>
          <a:xfrm>
            <a:off x="344129" y="4797359"/>
            <a:ext cx="4052315" cy="369332"/>
          </a:xfrm>
          <a:prstGeom prst="rect">
            <a:avLst/>
          </a:prstGeom>
          <a:noFill/>
        </p:spPr>
        <p:txBody>
          <a:bodyPr wrap="square">
            <a:spAutoFit/>
          </a:bodyPr>
          <a:lstStyle/>
          <a:p>
            <a:pPr algn="l">
              <a:buNone/>
            </a:pPr>
            <a:r>
              <a:rPr lang="en-US" i="0" dirty="0">
                <a:effectLst/>
                <a:latin typeface="Times New Roman" panose="02020603050405020304" pitchFamily="18" charset="0"/>
                <a:cs typeface="Times New Roman" panose="02020603050405020304" pitchFamily="18" charset="0"/>
              </a:rPr>
              <a:t>Figure 2.0: Image of a single intersection</a:t>
            </a:r>
          </a:p>
        </p:txBody>
      </p:sp>
      <p:sp>
        <p:nvSpPr>
          <p:cNvPr id="15" name="TextBox 14">
            <a:extLst>
              <a:ext uri="{FF2B5EF4-FFF2-40B4-BE49-F238E27FC236}">
                <a16:creationId xmlns:a16="http://schemas.microsoft.com/office/drawing/2014/main" id="{0BBC8B8D-CAE3-9BD4-2B61-2255A15A658B}"/>
              </a:ext>
            </a:extLst>
          </p:cNvPr>
          <p:cNvSpPr txBox="1"/>
          <p:nvPr/>
        </p:nvSpPr>
        <p:spPr>
          <a:xfrm>
            <a:off x="5244820" y="4705507"/>
            <a:ext cx="3555051" cy="646331"/>
          </a:xfrm>
          <a:prstGeom prst="rect">
            <a:avLst/>
          </a:prstGeom>
          <a:noFill/>
        </p:spPr>
        <p:txBody>
          <a:bodyPr wrap="square">
            <a:spAutoFit/>
          </a:bodyPr>
          <a:lstStyle/>
          <a:p>
            <a:pPr algn="l">
              <a:buNone/>
            </a:pPr>
            <a:r>
              <a:rPr lang="en-US" b="0" i="0" dirty="0">
                <a:effectLst/>
                <a:latin typeface="Times New Roman" panose="02020603050405020304" pitchFamily="18" charset="0"/>
                <a:cs typeface="Times New Roman" panose="02020603050405020304" pitchFamily="18" charset="0"/>
              </a:rPr>
              <a:t>Figure 3.0: Image of multi-intersection</a:t>
            </a:r>
          </a:p>
        </p:txBody>
      </p:sp>
    </p:spTree>
    <p:extLst>
      <p:ext uri="{BB962C8B-B14F-4D97-AF65-F5344CB8AC3E}">
        <p14:creationId xmlns:p14="http://schemas.microsoft.com/office/powerpoint/2010/main" val="3710294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82C7C-2D33-12C1-B02B-363DA9784C6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EBCF9F2-7777-CB81-830F-BFB4706E827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4952D13D-5FFE-D644-6DFC-14FBA7A4278E}"/>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DA77DE29-E919-FA3F-0855-F78390D96FB9}"/>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2B4256E-00C6-9678-C92B-0612E03B02EC}"/>
              </a:ext>
            </a:extLst>
          </p:cNvPr>
          <p:cNvSpPr>
            <a:spLocks noGrp="1"/>
          </p:cNvSpPr>
          <p:nvPr>
            <p:ph type="sldNum" sz="quarter" idx="12"/>
          </p:nvPr>
        </p:nvSpPr>
        <p:spPr/>
        <p:txBody>
          <a:bodyPr/>
          <a:lstStyle/>
          <a:p>
            <a:fld id="{21004690-02AB-4EF8-9513-CB283ECF7991}" type="slidenum">
              <a:rPr lang="en-BW" smtClean="0"/>
              <a:t>13</a:t>
            </a:fld>
            <a:endParaRPr lang="en-BW"/>
          </a:p>
        </p:txBody>
      </p:sp>
      <p:pic>
        <p:nvPicPr>
          <p:cNvPr id="9" name="Picture 8">
            <a:extLst>
              <a:ext uri="{FF2B5EF4-FFF2-40B4-BE49-F238E27FC236}">
                <a16:creationId xmlns:a16="http://schemas.microsoft.com/office/drawing/2014/main" id="{AFF33ED1-4C91-22BC-27F3-81D22869C6F3}"/>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2B48EDC0-ED68-BFDC-A1C1-C8CBEB83F56B}"/>
              </a:ext>
            </a:extLst>
          </p:cNvPr>
          <p:cNvPicPr>
            <a:picLocks noChangeAspect="1"/>
          </p:cNvPicPr>
          <p:nvPr/>
        </p:nvPicPr>
        <p:blipFill>
          <a:blip r:embed="rId4"/>
          <a:stretch>
            <a:fillRect/>
          </a:stretch>
        </p:blipFill>
        <p:spPr>
          <a:xfrm>
            <a:off x="0" y="6610277"/>
            <a:ext cx="9144000" cy="254891"/>
          </a:xfrm>
          <a:prstGeom prst="rect">
            <a:avLst/>
          </a:prstGeom>
        </p:spPr>
      </p:pic>
      <p:pic>
        <p:nvPicPr>
          <p:cNvPr id="8" name="Picture 7">
            <a:extLst>
              <a:ext uri="{FF2B5EF4-FFF2-40B4-BE49-F238E27FC236}">
                <a16:creationId xmlns:a16="http://schemas.microsoft.com/office/drawing/2014/main" id="{A12D8528-E2A4-1F78-5D3B-C2FBDAB97501}"/>
              </a:ext>
            </a:extLst>
          </p:cNvPr>
          <p:cNvPicPr>
            <a:picLocks noChangeAspect="1"/>
          </p:cNvPicPr>
          <p:nvPr/>
        </p:nvPicPr>
        <p:blipFill>
          <a:blip r:embed="rId5"/>
          <a:stretch>
            <a:fillRect/>
          </a:stretch>
        </p:blipFill>
        <p:spPr>
          <a:xfrm>
            <a:off x="2870107" y="976431"/>
            <a:ext cx="3256373" cy="4480346"/>
          </a:xfrm>
          <a:prstGeom prst="rect">
            <a:avLst/>
          </a:prstGeom>
        </p:spPr>
      </p:pic>
      <p:sp>
        <p:nvSpPr>
          <p:cNvPr id="13" name="TextBox 12">
            <a:extLst>
              <a:ext uri="{FF2B5EF4-FFF2-40B4-BE49-F238E27FC236}">
                <a16:creationId xmlns:a16="http://schemas.microsoft.com/office/drawing/2014/main" id="{A5B6F12F-336A-C878-5760-7CAEF45FC05C}"/>
              </a:ext>
            </a:extLst>
          </p:cNvPr>
          <p:cNvSpPr txBox="1"/>
          <p:nvPr/>
        </p:nvSpPr>
        <p:spPr>
          <a:xfrm>
            <a:off x="1366838" y="5664302"/>
            <a:ext cx="6498000" cy="276999"/>
          </a:xfrm>
          <a:prstGeom prst="rect">
            <a:avLst/>
          </a:prstGeom>
          <a:noFill/>
        </p:spPr>
        <p:txBody>
          <a:bodyPr wrap="square">
            <a:spAutoFit/>
          </a:bodyPr>
          <a:lstStyle/>
          <a:p>
            <a:r>
              <a:rPr lang="en-GB" sz="1200" b="0" i="0" dirty="0">
                <a:effectLst/>
                <a:latin typeface="Arial" panose="020B0604020202020204" pitchFamily="34" charset="0"/>
              </a:rPr>
              <a:t>Figure 4: MAPPO controller flowchart with Centralised Training, Decentralised Execution</a:t>
            </a:r>
            <a:endParaRPr lang="en-US" sz="1200" dirty="0"/>
          </a:p>
        </p:txBody>
      </p:sp>
    </p:spTree>
    <p:extLst>
      <p:ext uri="{BB962C8B-B14F-4D97-AF65-F5344CB8AC3E}">
        <p14:creationId xmlns:p14="http://schemas.microsoft.com/office/powerpoint/2010/main" val="231057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5E615-6E1B-B259-4D82-9F68D18D199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3FD819-07B5-E569-6847-A2A4CA81709F}"/>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602717CA-250C-DAAF-CD5E-3726A6F5B57D}"/>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E9916B9C-4CAF-8500-5B7D-6A01782292D5}"/>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EC54145-AACA-E4B8-D80C-BA1F21E89B2E}"/>
              </a:ext>
            </a:extLst>
          </p:cNvPr>
          <p:cNvSpPr>
            <a:spLocks noGrp="1"/>
          </p:cNvSpPr>
          <p:nvPr>
            <p:ph type="sldNum" sz="quarter" idx="12"/>
          </p:nvPr>
        </p:nvSpPr>
        <p:spPr/>
        <p:txBody>
          <a:bodyPr/>
          <a:lstStyle/>
          <a:p>
            <a:fld id="{21004690-02AB-4EF8-9513-CB283ECF7991}" type="slidenum">
              <a:rPr lang="en-BW" smtClean="0"/>
              <a:t>14</a:t>
            </a:fld>
            <a:endParaRPr lang="en-BW"/>
          </a:p>
        </p:txBody>
      </p:sp>
      <p:pic>
        <p:nvPicPr>
          <p:cNvPr id="9" name="Picture 8">
            <a:extLst>
              <a:ext uri="{FF2B5EF4-FFF2-40B4-BE49-F238E27FC236}">
                <a16:creationId xmlns:a16="http://schemas.microsoft.com/office/drawing/2014/main" id="{795B2D47-0ECC-66FB-9C07-CF4B7FFC712E}"/>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1AA3B668-5924-93C3-A05A-C50B793566E2}"/>
              </a:ext>
            </a:extLst>
          </p:cNvPr>
          <p:cNvPicPr>
            <a:picLocks noChangeAspect="1"/>
          </p:cNvPicPr>
          <p:nvPr/>
        </p:nvPicPr>
        <p:blipFill>
          <a:blip r:embed="rId4"/>
          <a:stretch>
            <a:fillRect/>
          </a:stretch>
        </p:blipFill>
        <p:spPr>
          <a:xfrm>
            <a:off x="0" y="6610277"/>
            <a:ext cx="9144000" cy="254891"/>
          </a:xfrm>
          <a:prstGeom prst="rect">
            <a:avLst/>
          </a:prstGeom>
        </p:spPr>
      </p:pic>
      <p:sp>
        <p:nvSpPr>
          <p:cNvPr id="12" name="TextBox 11">
            <a:extLst>
              <a:ext uri="{FF2B5EF4-FFF2-40B4-BE49-F238E27FC236}">
                <a16:creationId xmlns:a16="http://schemas.microsoft.com/office/drawing/2014/main" id="{C295055D-B017-61B2-608E-F7CA54A21129}"/>
              </a:ext>
            </a:extLst>
          </p:cNvPr>
          <p:cNvSpPr txBox="1"/>
          <p:nvPr/>
        </p:nvSpPr>
        <p:spPr>
          <a:xfrm>
            <a:off x="456594" y="2384231"/>
            <a:ext cx="2226999" cy="2862322"/>
          </a:xfrm>
          <a:prstGeom prst="rect">
            <a:avLst/>
          </a:prstGeom>
          <a:noFill/>
          <a:ln>
            <a:solidFill>
              <a:schemeClr val="tx1"/>
            </a:solidFill>
          </a:ln>
        </p:spPr>
        <p:txBody>
          <a:bodyPr wrap="square">
            <a:spAutoFit/>
          </a:bodyPr>
          <a:lstStyle/>
          <a:p>
            <a:pPr algn="l">
              <a:buNone/>
            </a:pPr>
            <a:r>
              <a:rPr lang="en-US" b="1" i="0" dirty="0">
                <a:effectLst/>
                <a:latin typeface="-apple-system"/>
              </a:rPr>
              <a:t>Observations</a:t>
            </a:r>
          </a:p>
          <a:p>
            <a:pPr algn="l">
              <a:buNone/>
            </a:pPr>
            <a:endParaRPr lang="en-US" b="0" i="0" dirty="0">
              <a:effectLst/>
              <a:latin typeface="-apple-system"/>
            </a:endParaRPr>
          </a:p>
          <a:p>
            <a:pPr algn="l">
              <a:buFont typeface="Arial" panose="020B0604020202020204" pitchFamily="34" charset="0"/>
              <a:buChar char="•"/>
            </a:pPr>
            <a:r>
              <a:rPr lang="en-US" b="0" i="0" dirty="0">
                <a:effectLst/>
                <a:latin typeface="-apple-system"/>
              </a:rPr>
              <a:t>Queue length per lane</a:t>
            </a:r>
          </a:p>
          <a:p>
            <a:pPr algn="l">
              <a:buFont typeface="Arial" panose="020B0604020202020204" pitchFamily="34" charset="0"/>
              <a:buChar char="•"/>
            </a:pPr>
            <a:r>
              <a:rPr lang="en-US" b="0" i="0" dirty="0">
                <a:effectLst/>
                <a:latin typeface="-apple-system"/>
              </a:rPr>
              <a:t>Vehicle arrival rate per approach</a:t>
            </a:r>
          </a:p>
          <a:p>
            <a:pPr algn="l">
              <a:buFont typeface="Arial" panose="020B0604020202020204" pitchFamily="34" charset="0"/>
              <a:buChar char="•"/>
            </a:pPr>
            <a:r>
              <a:rPr lang="en-US" b="0" i="0" dirty="0">
                <a:effectLst/>
                <a:latin typeface="-apple-system"/>
              </a:rPr>
              <a:t>Current active signal phase</a:t>
            </a:r>
          </a:p>
          <a:p>
            <a:pPr algn="l">
              <a:buFont typeface="Arial" panose="020B0604020202020204" pitchFamily="34" charset="0"/>
              <a:buChar char="•"/>
            </a:pPr>
            <a:r>
              <a:rPr lang="en-US" b="0" i="0" dirty="0">
                <a:effectLst/>
                <a:latin typeface="-apple-system"/>
              </a:rPr>
              <a:t>Average approach speed per lane</a:t>
            </a:r>
          </a:p>
        </p:txBody>
      </p:sp>
      <p:sp>
        <p:nvSpPr>
          <p:cNvPr id="15" name="TextBox 14">
            <a:extLst>
              <a:ext uri="{FF2B5EF4-FFF2-40B4-BE49-F238E27FC236}">
                <a16:creationId xmlns:a16="http://schemas.microsoft.com/office/drawing/2014/main" id="{144627DF-A1AB-3C54-C59D-961E701A4FE6}"/>
              </a:ext>
            </a:extLst>
          </p:cNvPr>
          <p:cNvSpPr txBox="1"/>
          <p:nvPr/>
        </p:nvSpPr>
        <p:spPr>
          <a:xfrm>
            <a:off x="2931583" y="2384231"/>
            <a:ext cx="2910416" cy="2031325"/>
          </a:xfrm>
          <a:prstGeom prst="rect">
            <a:avLst/>
          </a:prstGeom>
          <a:noFill/>
          <a:ln>
            <a:solidFill>
              <a:schemeClr val="tx1"/>
            </a:solidFill>
          </a:ln>
        </p:spPr>
        <p:txBody>
          <a:bodyPr wrap="square">
            <a:spAutoFit/>
          </a:bodyPr>
          <a:lstStyle/>
          <a:p>
            <a:pPr algn="l">
              <a:buNone/>
            </a:pPr>
            <a:r>
              <a:rPr lang="en-GB" b="1" i="0" dirty="0">
                <a:effectLst/>
                <a:latin typeface="-apple-system"/>
              </a:rPr>
              <a:t>Actions</a:t>
            </a:r>
            <a:r>
              <a:rPr lang="en-GB" b="0" i="0" dirty="0">
                <a:effectLst/>
                <a:latin typeface="-apple-system"/>
              </a:rPr>
              <a:t> </a:t>
            </a:r>
          </a:p>
          <a:p>
            <a:pPr algn="l">
              <a:buNone/>
            </a:pPr>
            <a:r>
              <a:rPr lang="en-GB" b="0" i="0" dirty="0">
                <a:effectLst/>
                <a:latin typeface="-apple-system"/>
              </a:rPr>
              <a:t>Action 0 — Phase A green (North-South through)</a:t>
            </a:r>
          </a:p>
          <a:p>
            <a:pPr algn="l">
              <a:buFont typeface="Arial" panose="020B0604020202020204" pitchFamily="34" charset="0"/>
              <a:buChar char="•"/>
            </a:pPr>
            <a:r>
              <a:rPr lang="en-GB" b="0" i="0" dirty="0">
                <a:effectLst/>
                <a:latin typeface="-apple-system"/>
              </a:rPr>
              <a:t>Action 1 — Phase B green (East-West through)</a:t>
            </a:r>
          </a:p>
          <a:p>
            <a:pPr algn="l">
              <a:buFont typeface="Arial" panose="020B0604020202020204" pitchFamily="34" charset="0"/>
              <a:buChar char="•"/>
            </a:pPr>
            <a:r>
              <a:rPr lang="en-GB" b="0" i="0" dirty="0">
                <a:effectLst/>
                <a:latin typeface="-apple-system"/>
              </a:rPr>
              <a:t>Action 2 — Phase C green (Protected/Secondary)</a:t>
            </a:r>
          </a:p>
        </p:txBody>
      </p:sp>
      <p:sp>
        <p:nvSpPr>
          <p:cNvPr id="17" name="TextBox 16">
            <a:extLst>
              <a:ext uri="{FF2B5EF4-FFF2-40B4-BE49-F238E27FC236}">
                <a16:creationId xmlns:a16="http://schemas.microsoft.com/office/drawing/2014/main" id="{A0B8E0FD-BA8E-130D-B262-F46C2096914F}"/>
              </a:ext>
            </a:extLst>
          </p:cNvPr>
          <p:cNvSpPr txBox="1"/>
          <p:nvPr/>
        </p:nvSpPr>
        <p:spPr>
          <a:xfrm>
            <a:off x="6189501" y="2384231"/>
            <a:ext cx="2758016" cy="2031325"/>
          </a:xfrm>
          <a:prstGeom prst="rect">
            <a:avLst/>
          </a:prstGeom>
          <a:noFill/>
          <a:ln>
            <a:solidFill>
              <a:schemeClr val="tx1"/>
            </a:solidFill>
          </a:ln>
        </p:spPr>
        <p:txBody>
          <a:bodyPr wrap="square">
            <a:spAutoFit/>
          </a:bodyPr>
          <a:lstStyle/>
          <a:p>
            <a:pPr algn="l">
              <a:buNone/>
            </a:pPr>
            <a:r>
              <a:rPr lang="en-GB" b="1" i="0" dirty="0">
                <a:effectLst/>
                <a:latin typeface="-apple-system"/>
              </a:rPr>
              <a:t>Rewards</a:t>
            </a:r>
            <a:endParaRPr lang="en-GB" b="0" i="0" dirty="0">
              <a:effectLst/>
              <a:latin typeface="-apple-system"/>
            </a:endParaRPr>
          </a:p>
          <a:p>
            <a:pPr algn="l">
              <a:buFont typeface="Arial" panose="020B0604020202020204" pitchFamily="34" charset="0"/>
              <a:buChar char="•"/>
            </a:pPr>
            <a:r>
              <a:rPr lang="en-GB" b="1" i="0" dirty="0">
                <a:effectLst/>
                <a:latin typeface="-apple-system"/>
              </a:rPr>
              <a:t>  +</a:t>
            </a:r>
            <a:r>
              <a:rPr lang="en-GB" b="0" i="0" dirty="0">
                <a:effectLst/>
                <a:latin typeface="-apple-system"/>
              </a:rPr>
              <a:t> Throughput </a:t>
            </a:r>
          </a:p>
          <a:p>
            <a:pPr algn="l">
              <a:buFont typeface="Arial" panose="020B0604020202020204" pitchFamily="34" charset="0"/>
              <a:buChar char="•"/>
            </a:pPr>
            <a:r>
              <a:rPr lang="en-GB" dirty="0">
                <a:latin typeface="-apple-system"/>
              </a:rPr>
              <a:t> </a:t>
            </a:r>
            <a:r>
              <a:rPr lang="en-GB" b="1" i="0" dirty="0">
                <a:effectLst/>
                <a:latin typeface="-apple-system"/>
              </a:rPr>
              <a:t>−</a:t>
            </a:r>
            <a:r>
              <a:rPr lang="en-GB" b="0" i="0" dirty="0">
                <a:effectLst/>
                <a:latin typeface="-apple-system"/>
              </a:rPr>
              <a:t> Queue penalty </a:t>
            </a:r>
          </a:p>
          <a:p>
            <a:pPr algn="l">
              <a:buFont typeface="Arial" panose="020B0604020202020204" pitchFamily="34" charset="0"/>
              <a:buChar char="•"/>
            </a:pPr>
            <a:r>
              <a:rPr lang="en-GB" dirty="0">
                <a:latin typeface="-apple-system"/>
              </a:rPr>
              <a:t> </a:t>
            </a:r>
            <a:r>
              <a:rPr lang="en-GB" b="1" i="0" dirty="0">
                <a:effectLst/>
                <a:latin typeface="-apple-system"/>
              </a:rPr>
              <a:t>−</a:t>
            </a:r>
            <a:r>
              <a:rPr lang="en-GB" b="0" i="0" dirty="0">
                <a:effectLst/>
                <a:latin typeface="-apple-system"/>
              </a:rPr>
              <a:t> Halting penalty — penalises stationary vehicles</a:t>
            </a:r>
          </a:p>
          <a:p>
            <a:pPr algn="l">
              <a:buFont typeface="Arial" panose="020B0604020202020204" pitchFamily="34" charset="0"/>
              <a:buChar char="•"/>
            </a:pPr>
            <a:r>
              <a:rPr lang="en-GB" b="1" i="0" dirty="0">
                <a:effectLst/>
                <a:latin typeface="-apple-system"/>
              </a:rPr>
              <a:t> </a:t>
            </a:r>
            <a:endParaRPr lang="en-GB" b="0" i="0" dirty="0">
              <a:effectLst/>
              <a:latin typeface="-apple-system"/>
            </a:endParaRPr>
          </a:p>
        </p:txBody>
      </p:sp>
      <p:sp>
        <p:nvSpPr>
          <p:cNvPr id="19" name="TextBox 18">
            <a:extLst>
              <a:ext uri="{FF2B5EF4-FFF2-40B4-BE49-F238E27FC236}">
                <a16:creationId xmlns:a16="http://schemas.microsoft.com/office/drawing/2014/main" id="{6092D420-DF67-17FF-BCA7-F0CBF6E09001}"/>
              </a:ext>
            </a:extLst>
          </p:cNvPr>
          <p:cNvSpPr txBox="1"/>
          <p:nvPr/>
        </p:nvSpPr>
        <p:spPr>
          <a:xfrm>
            <a:off x="778668" y="1159027"/>
            <a:ext cx="4593166"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AGENT DESIGN</a:t>
            </a:r>
          </a:p>
        </p:txBody>
      </p:sp>
    </p:spTree>
    <p:extLst>
      <p:ext uri="{BB962C8B-B14F-4D97-AF65-F5344CB8AC3E}">
        <p14:creationId xmlns:p14="http://schemas.microsoft.com/office/powerpoint/2010/main" val="3560296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AA68B-568C-662E-F7C0-E3881075E5D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98A12C-D26B-9062-77EC-820318A46D52}"/>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4F995629-CF6D-8833-CE6F-5ABE779C98EA}"/>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METHODOLOGY</a:t>
            </a:r>
          </a:p>
        </p:txBody>
      </p:sp>
      <p:pic>
        <p:nvPicPr>
          <p:cNvPr id="6" name="Content Placeholder 4">
            <a:extLst>
              <a:ext uri="{FF2B5EF4-FFF2-40B4-BE49-F238E27FC236}">
                <a16:creationId xmlns:a16="http://schemas.microsoft.com/office/drawing/2014/main" id="{C3DB678C-63F7-787F-8A98-8F6685F75295}"/>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F8423891-53D5-3E70-5737-7B869CCCC81E}"/>
              </a:ext>
            </a:extLst>
          </p:cNvPr>
          <p:cNvSpPr>
            <a:spLocks noGrp="1"/>
          </p:cNvSpPr>
          <p:nvPr>
            <p:ph type="sldNum" sz="quarter" idx="12"/>
          </p:nvPr>
        </p:nvSpPr>
        <p:spPr/>
        <p:txBody>
          <a:bodyPr/>
          <a:lstStyle/>
          <a:p>
            <a:fld id="{21004690-02AB-4EF8-9513-CB283ECF7991}" type="slidenum">
              <a:rPr lang="en-BW" smtClean="0"/>
              <a:t>15</a:t>
            </a:fld>
            <a:endParaRPr lang="en-BW"/>
          </a:p>
        </p:txBody>
      </p:sp>
      <p:pic>
        <p:nvPicPr>
          <p:cNvPr id="9" name="Picture 8">
            <a:extLst>
              <a:ext uri="{FF2B5EF4-FFF2-40B4-BE49-F238E27FC236}">
                <a16:creationId xmlns:a16="http://schemas.microsoft.com/office/drawing/2014/main" id="{781057F9-3D7C-67C7-71DE-E3480325C997}"/>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7770B58-F754-7E12-2E19-F0AD34EF0D82}"/>
              </a:ext>
            </a:extLst>
          </p:cNvPr>
          <p:cNvPicPr>
            <a:picLocks noChangeAspect="1"/>
          </p:cNvPicPr>
          <p:nvPr/>
        </p:nvPicPr>
        <p:blipFill>
          <a:blip r:embed="rId4"/>
          <a:stretch>
            <a:fillRect/>
          </a:stretch>
        </p:blipFill>
        <p:spPr>
          <a:xfrm>
            <a:off x="0" y="6610277"/>
            <a:ext cx="9144000" cy="254891"/>
          </a:xfrm>
          <a:prstGeom prst="rect">
            <a:avLst/>
          </a:prstGeom>
        </p:spPr>
      </p:pic>
      <p:sp>
        <p:nvSpPr>
          <p:cNvPr id="19" name="TextBox 18">
            <a:extLst>
              <a:ext uri="{FF2B5EF4-FFF2-40B4-BE49-F238E27FC236}">
                <a16:creationId xmlns:a16="http://schemas.microsoft.com/office/drawing/2014/main" id="{AF36AE27-642B-64F1-F824-F0ADB6495DD0}"/>
              </a:ext>
            </a:extLst>
          </p:cNvPr>
          <p:cNvSpPr txBox="1"/>
          <p:nvPr/>
        </p:nvSpPr>
        <p:spPr>
          <a:xfrm>
            <a:off x="778668" y="1159027"/>
            <a:ext cx="4593166"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TRAINING SETUP</a:t>
            </a:r>
          </a:p>
        </p:txBody>
      </p:sp>
      <p:sp>
        <p:nvSpPr>
          <p:cNvPr id="7" name="TextBox 6">
            <a:extLst>
              <a:ext uri="{FF2B5EF4-FFF2-40B4-BE49-F238E27FC236}">
                <a16:creationId xmlns:a16="http://schemas.microsoft.com/office/drawing/2014/main" id="{1CDD7AD9-92C2-1577-9D8D-1007135C1F00}"/>
              </a:ext>
            </a:extLst>
          </p:cNvPr>
          <p:cNvSpPr txBox="1"/>
          <p:nvPr/>
        </p:nvSpPr>
        <p:spPr>
          <a:xfrm>
            <a:off x="947970" y="1872005"/>
            <a:ext cx="6382776" cy="2031325"/>
          </a:xfrm>
          <a:prstGeom prst="rect">
            <a:avLst/>
          </a:prstGeom>
          <a:noFill/>
        </p:spPr>
        <p:txBody>
          <a:bodyPr wrap="square">
            <a:spAutoFit/>
          </a:bodyPr>
          <a:lstStyle/>
          <a:p>
            <a:pPr algn="just">
              <a:buFont typeface="Arial" panose="020B0604020202020204" pitchFamily="34" charset="0"/>
              <a:buChar char="•"/>
            </a:pPr>
            <a:r>
              <a:rPr lang="en-US" b="0" i="0" dirty="0">
                <a:effectLst/>
                <a:latin typeface="-apple-system"/>
              </a:rPr>
              <a:t>Training algorithm </a:t>
            </a:r>
            <a:r>
              <a:rPr lang="en-US" dirty="0">
                <a:latin typeface="-apple-system"/>
              </a:rPr>
              <a:t>=</a:t>
            </a:r>
            <a:r>
              <a:rPr lang="en-US" b="0" i="0" dirty="0">
                <a:effectLst/>
                <a:latin typeface="-apple-system"/>
              </a:rPr>
              <a:t>  MAPPO with parameter sharing</a:t>
            </a:r>
          </a:p>
          <a:p>
            <a:pPr algn="just">
              <a:buFont typeface="Arial" panose="020B0604020202020204" pitchFamily="34" charset="0"/>
              <a:buChar char="•"/>
            </a:pPr>
            <a:r>
              <a:rPr lang="en-US" b="0" i="0" dirty="0">
                <a:effectLst/>
                <a:latin typeface="-apple-system"/>
              </a:rPr>
              <a:t>Number of agents   = 3</a:t>
            </a:r>
          </a:p>
          <a:p>
            <a:pPr algn="just">
              <a:buFont typeface="Arial" panose="020B0604020202020204" pitchFamily="34" charset="0"/>
              <a:buChar char="•"/>
            </a:pPr>
            <a:r>
              <a:rPr lang="en-US" b="0" i="0" dirty="0">
                <a:effectLst/>
                <a:latin typeface="-apple-system"/>
              </a:rPr>
              <a:t>Training timesteps = 1 500 00 steps</a:t>
            </a:r>
          </a:p>
          <a:p>
            <a:pPr algn="just">
              <a:buFont typeface="Arial" panose="020B0604020202020204" pitchFamily="34" charset="0"/>
              <a:buChar char="•"/>
            </a:pPr>
            <a:r>
              <a:rPr lang="en-US" b="0" i="0" dirty="0">
                <a:effectLst/>
                <a:latin typeface="-apple-system"/>
              </a:rPr>
              <a:t>Curriculum training </a:t>
            </a:r>
            <a:r>
              <a:rPr lang="en-US" dirty="0">
                <a:latin typeface="-apple-system"/>
              </a:rPr>
              <a:t>= </a:t>
            </a:r>
            <a:r>
              <a:rPr lang="en-US" b="0" i="0" dirty="0">
                <a:effectLst/>
                <a:latin typeface="-apple-system"/>
              </a:rPr>
              <a:t>3 stages across 6 demand scenarios</a:t>
            </a:r>
          </a:p>
          <a:p>
            <a:pPr algn="just">
              <a:buFont typeface="Arial" panose="020B0604020202020204" pitchFamily="34" charset="0"/>
              <a:buChar char="•"/>
            </a:pPr>
            <a:r>
              <a:rPr lang="en-US" b="0" i="0" dirty="0">
                <a:effectLst/>
                <a:latin typeface="-apple-system"/>
              </a:rPr>
              <a:t>Reward = global cooperative.</a:t>
            </a:r>
          </a:p>
          <a:p>
            <a:pPr algn="just">
              <a:buFont typeface="Arial" panose="020B0604020202020204" pitchFamily="34" charset="0"/>
              <a:buChar char="•"/>
            </a:pPr>
            <a:r>
              <a:rPr lang="en-US" b="0" i="0" dirty="0">
                <a:effectLst/>
                <a:latin typeface="-apple-system"/>
              </a:rPr>
              <a:t>Framework = </a:t>
            </a:r>
            <a:r>
              <a:rPr lang="en-US" b="0" i="0" dirty="0" err="1">
                <a:effectLst/>
                <a:latin typeface="-apple-system"/>
              </a:rPr>
              <a:t>PettingZoo</a:t>
            </a:r>
            <a:r>
              <a:rPr lang="en-US" b="0" i="0" dirty="0">
                <a:effectLst/>
                <a:latin typeface="-apple-system"/>
              </a:rPr>
              <a:t>.</a:t>
            </a:r>
          </a:p>
          <a:p>
            <a:pPr algn="just">
              <a:buFont typeface="Arial" panose="020B0604020202020204" pitchFamily="34" charset="0"/>
              <a:buChar char="•"/>
            </a:pPr>
            <a:r>
              <a:rPr lang="en-US" b="0" i="0" dirty="0">
                <a:effectLst/>
                <a:latin typeface="-apple-system"/>
              </a:rPr>
              <a:t>Environment =  SUMO via </a:t>
            </a:r>
            <a:r>
              <a:rPr lang="en-US" b="0" i="0" dirty="0" err="1">
                <a:effectLst/>
                <a:latin typeface="-apple-system"/>
              </a:rPr>
              <a:t>TraCI</a:t>
            </a:r>
            <a:r>
              <a:rPr lang="en-US" b="0" i="0" dirty="0">
                <a:effectLst/>
                <a:latin typeface="-apple-system"/>
              </a:rPr>
              <a:t>.</a:t>
            </a:r>
          </a:p>
        </p:txBody>
      </p:sp>
    </p:spTree>
    <p:extLst>
      <p:ext uri="{BB962C8B-B14F-4D97-AF65-F5344CB8AC3E}">
        <p14:creationId xmlns:p14="http://schemas.microsoft.com/office/powerpoint/2010/main" val="728656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8932-E813-86A7-621E-9E3070BF6AE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9C46A3-BE1E-E8D5-E5BC-AA58DF8992D4}"/>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B096180B-D649-EE62-C01A-77796FDCE132}"/>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AF797644-A645-6EDF-5666-7731448A1C2C}"/>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A39CDED-790D-7E50-6BE5-E2B64C9B8CB3}"/>
              </a:ext>
            </a:extLst>
          </p:cNvPr>
          <p:cNvSpPr>
            <a:spLocks noGrp="1"/>
          </p:cNvSpPr>
          <p:nvPr>
            <p:ph type="sldNum" sz="quarter" idx="12"/>
          </p:nvPr>
        </p:nvSpPr>
        <p:spPr/>
        <p:txBody>
          <a:bodyPr/>
          <a:lstStyle/>
          <a:p>
            <a:fld id="{21004690-02AB-4EF8-9513-CB283ECF7991}" type="slidenum">
              <a:rPr lang="en-BW" smtClean="0"/>
              <a:t>16</a:t>
            </a:fld>
            <a:endParaRPr lang="en-BW"/>
          </a:p>
        </p:txBody>
      </p:sp>
      <p:pic>
        <p:nvPicPr>
          <p:cNvPr id="9" name="Picture 8">
            <a:extLst>
              <a:ext uri="{FF2B5EF4-FFF2-40B4-BE49-F238E27FC236}">
                <a16:creationId xmlns:a16="http://schemas.microsoft.com/office/drawing/2014/main" id="{14E4BBC0-380F-C86C-CC60-B36CAD386B46}"/>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8AF391E0-60CD-2DA0-90B3-97C28753229F}"/>
              </a:ext>
            </a:extLst>
          </p:cNvPr>
          <p:cNvPicPr>
            <a:picLocks noChangeAspect="1"/>
          </p:cNvPicPr>
          <p:nvPr/>
        </p:nvPicPr>
        <p:blipFill>
          <a:blip r:embed="rId4"/>
          <a:stretch>
            <a:fillRect/>
          </a:stretch>
        </p:blipFill>
        <p:spPr>
          <a:xfrm>
            <a:off x="0" y="6610277"/>
            <a:ext cx="9144000" cy="254891"/>
          </a:xfrm>
          <a:prstGeom prst="rect">
            <a:avLst/>
          </a:prstGeom>
        </p:spPr>
      </p:pic>
      <p:pic>
        <p:nvPicPr>
          <p:cNvPr id="8" name="Picture 7">
            <a:extLst>
              <a:ext uri="{FF2B5EF4-FFF2-40B4-BE49-F238E27FC236}">
                <a16:creationId xmlns:a16="http://schemas.microsoft.com/office/drawing/2014/main" id="{4ADBAEB7-3F60-F2BC-67D2-792A56D70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668" y="1438173"/>
            <a:ext cx="7196932" cy="2914991"/>
          </a:xfrm>
          <a:prstGeom prst="rect">
            <a:avLst/>
          </a:prstGeom>
        </p:spPr>
      </p:pic>
      <p:sp>
        <p:nvSpPr>
          <p:cNvPr id="12" name="TextBox 11">
            <a:extLst>
              <a:ext uri="{FF2B5EF4-FFF2-40B4-BE49-F238E27FC236}">
                <a16:creationId xmlns:a16="http://schemas.microsoft.com/office/drawing/2014/main" id="{3D7FC46B-086F-B40A-AA3C-031BF34DCCBD}"/>
              </a:ext>
            </a:extLst>
          </p:cNvPr>
          <p:cNvSpPr txBox="1"/>
          <p:nvPr/>
        </p:nvSpPr>
        <p:spPr>
          <a:xfrm>
            <a:off x="778668" y="1069307"/>
            <a:ext cx="4593166" cy="369332"/>
          </a:xfrm>
          <a:prstGeom prst="rect">
            <a:avLst/>
          </a:prstGeom>
          <a:noFill/>
        </p:spPr>
        <p:txBody>
          <a:bodyPr wrap="square">
            <a:spAutoFit/>
          </a:bodyPr>
          <a:lstStyle/>
          <a:p>
            <a:r>
              <a:rPr lang="en-US" dirty="0"/>
              <a:t>TRAINING EVALUATION</a:t>
            </a:r>
          </a:p>
        </p:txBody>
      </p:sp>
      <p:sp>
        <p:nvSpPr>
          <p:cNvPr id="13" name="TextBox 12">
            <a:extLst>
              <a:ext uri="{FF2B5EF4-FFF2-40B4-BE49-F238E27FC236}">
                <a16:creationId xmlns:a16="http://schemas.microsoft.com/office/drawing/2014/main" id="{68DD619F-C52B-7DA4-20F1-92F1FAB304E7}"/>
              </a:ext>
            </a:extLst>
          </p:cNvPr>
          <p:cNvSpPr txBox="1"/>
          <p:nvPr/>
        </p:nvSpPr>
        <p:spPr>
          <a:xfrm>
            <a:off x="1665551" y="4422424"/>
            <a:ext cx="6849799" cy="369332"/>
          </a:xfrm>
          <a:prstGeom prst="rect">
            <a:avLst/>
          </a:prstGeom>
          <a:noFill/>
        </p:spPr>
        <p:txBody>
          <a:bodyPr wrap="square">
            <a:spAutoFit/>
          </a:bodyPr>
          <a:lstStyle/>
          <a:p>
            <a:r>
              <a:rPr lang="en-US" dirty="0"/>
              <a:t>Figure 5 : Mean reward graph of MAPPO during training</a:t>
            </a:r>
          </a:p>
        </p:txBody>
      </p:sp>
      <p:sp>
        <p:nvSpPr>
          <p:cNvPr id="15" name="TextBox 14">
            <a:extLst>
              <a:ext uri="{FF2B5EF4-FFF2-40B4-BE49-F238E27FC236}">
                <a16:creationId xmlns:a16="http://schemas.microsoft.com/office/drawing/2014/main" id="{C66113BC-0183-B111-6946-FF327764E725}"/>
              </a:ext>
            </a:extLst>
          </p:cNvPr>
          <p:cNvSpPr txBox="1"/>
          <p:nvPr/>
        </p:nvSpPr>
        <p:spPr>
          <a:xfrm>
            <a:off x="628650" y="5061585"/>
            <a:ext cx="8596080" cy="1477328"/>
          </a:xfrm>
          <a:prstGeom prst="rect">
            <a:avLst/>
          </a:prstGeom>
          <a:noFill/>
        </p:spPr>
        <p:txBody>
          <a:bodyPr wrap="square">
            <a:spAutoFit/>
          </a:bodyPr>
          <a:lstStyle/>
          <a:p>
            <a:pPr algn="l">
              <a:buFont typeface="Arial" panose="020B0604020202020204" pitchFamily="34" charset="0"/>
              <a:buChar char="•"/>
            </a:pPr>
            <a:r>
              <a:rPr lang="en-GB" b="0" i="0" dirty="0">
                <a:effectLst/>
                <a:latin typeface="-apple-system"/>
              </a:rPr>
              <a:t>agents acting randomly with no coordination</a:t>
            </a:r>
          </a:p>
          <a:p>
            <a:pPr algn="l">
              <a:buFont typeface="Arial" panose="020B0604020202020204" pitchFamily="34" charset="0"/>
              <a:buChar char="•"/>
            </a:pPr>
            <a:r>
              <a:rPr lang="en-GB" b="0" i="0" dirty="0">
                <a:effectLst/>
                <a:latin typeface="-apple-system"/>
              </a:rPr>
              <a:t>Steep climb from 0 to 200k </a:t>
            </a:r>
            <a:r>
              <a:rPr lang="en-GB" dirty="0">
                <a:latin typeface="-apple-system"/>
              </a:rPr>
              <a:t> where </a:t>
            </a:r>
            <a:r>
              <a:rPr lang="en-GB" b="0" i="0" dirty="0">
                <a:effectLst/>
                <a:latin typeface="-apple-system"/>
              </a:rPr>
              <a:t>agents are learning basic queue-clearing at each junction</a:t>
            </a:r>
          </a:p>
          <a:p>
            <a:pPr>
              <a:buNone/>
            </a:pPr>
            <a:br>
              <a:rPr lang="en-GB" dirty="0"/>
            </a:br>
            <a:endParaRPr lang="en-US" dirty="0"/>
          </a:p>
        </p:txBody>
      </p:sp>
    </p:spTree>
    <p:extLst>
      <p:ext uri="{BB962C8B-B14F-4D97-AF65-F5344CB8AC3E}">
        <p14:creationId xmlns:p14="http://schemas.microsoft.com/office/powerpoint/2010/main" val="3448340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DE281-7855-C01B-66D5-13DF7446856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56CD2C8-9EDE-1CC0-F6E5-59A19EB44EA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5C026A25-2DEF-A209-E31E-BAA6B07E8DFC}"/>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71589490-AEEB-16CD-B81A-9AF663B4AC84}"/>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7374877B-D1F2-9B56-60AA-667621B95C24}"/>
              </a:ext>
            </a:extLst>
          </p:cNvPr>
          <p:cNvSpPr>
            <a:spLocks noGrp="1"/>
          </p:cNvSpPr>
          <p:nvPr>
            <p:ph type="sldNum" sz="quarter" idx="12"/>
          </p:nvPr>
        </p:nvSpPr>
        <p:spPr/>
        <p:txBody>
          <a:bodyPr/>
          <a:lstStyle/>
          <a:p>
            <a:fld id="{21004690-02AB-4EF8-9513-CB283ECF7991}" type="slidenum">
              <a:rPr lang="en-BW" smtClean="0"/>
              <a:t>17</a:t>
            </a:fld>
            <a:endParaRPr lang="en-BW"/>
          </a:p>
        </p:txBody>
      </p:sp>
      <p:pic>
        <p:nvPicPr>
          <p:cNvPr id="9" name="Picture 8">
            <a:extLst>
              <a:ext uri="{FF2B5EF4-FFF2-40B4-BE49-F238E27FC236}">
                <a16:creationId xmlns:a16="http://schemas.microsoft.com/office/drawing/2014/main" id="{6075F41A-20FB-10A1-729E-ECFCC55A558C}"/>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791C08C5-2653-140C-203D-D4FDBB5FDDE0}"/>
              </a:ext>
            </a:extLst>
          </p:cNvPr>
          <p:cNvPicPr>
            <a:picLocks noChangeAspect="1"/>
          </p:cNvPicPr>
          <p:nvPr/>
        </p:nvPicPr>
        <p:blipFill>
          <a:blip r:embed="rId4"/>
          <a:stretch>
            <a:fillRect/>
          </a:stretch>
        </p:blipFill>
        <p:spPr>
          <a:xfrm>
            <a:off x="0" y="6610277"/>
            <a:ext cx="9144000" cy="254891"/>
          </a:xfrm>
          <a:prstGeom prst="rect">
            <a:avLst/>
          </a:prstGeom>
        </p:spPr>
      </p:pic>
      <p:sp>
        <p:nvSpPr>
          <p:cNvPr id="14" name="TextBox 13">
            <a:extLst>
              <a:ext uri="{FF2B5EF4-FFF2-40B4-BE49-F238E27FC236}">
                <a16:creationId xmlns:a16="http://schemas.microsoft.com/office/drawing/2014/main" id="{08AA29C4-0D24-430A-8B47-170BD1A97779}"/>
              </a:ext>
            </a:extLst>
          </p:cNvPr>
          <p:cNvSpPr txBox="1"/>
          <p:nvPr/>
        </p:nvSpPr>
        <p:spPr>
          <a:xfrm>
            <a:off x="947970" y="1069307"/>
            <a:ext cx="4593166" cy="2031325"/>
          </a:xfrm>
          <a:prstGeom prst="rect">
            <a:avLst/>
          </a:prstGeom>
          <a:noFill/>
        </p:spPr>
        <p:txBody>
          <a:bodyPr wrap="square">
            <a:spAutoFit/>
          </a:bodyPr>
          <a:lstStyle/>
          <a:p>
            <a:pPr algn="l">
              <a:buNone/>
            </a:pPr>
            <a:r>
              <a:rPr lang="en-GB" b="1" i="0" dirty="0">
                <a:effectLst/>
                <a:latin typeface="Times New Roman" panose="02020603050405020304" pitchFamily="18" charset="0"/>
                <a:cs typeface="Times New Roman" panose="02020603050405020304" pitchFamily="18" charset="0"/>
              </a:rPr>
              <a:t>Performance Metrics</a:t>
            </a:r>
          </a:p>
          <a:p>
            <a:pPr algn="l">
              <a:buNone/>
            </a:pPr>
            <a:endParaRPr lang="en-GB"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Waiting time</a:t>
            </a:r>
          </a:p>
          <a:p>
            <a:pPr algn="l">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Queue length</a:t>
            </a:r>
          </a:p>
          <a:p>
            <a:pPr algn="l">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Throughput</a:t>
            </a:r>
          </a:p>
          <a:p>
            <a:pPr algn="l">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Pressure</a:t>
            </a:r>
          </a:p>
          <a:p>
            <a:pPr algn="l">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Stop ratio</a:t>
            </a:r>
          </a:p>
        </p:txBody>
      </p:sp>
    </p:spTree>
    <p:extLst>
      <p:ext uri="{BB962C8B-B14F-4D97-AF65-F5344CB8AC3E}">
        <p14:creationId xmlns:p14="http://schemas.microsoft.com/office/powerpoint/2010/main" val="2557485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85621-9839-F40F-F493-8054882BBD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F839359-5C38-98C5-6B5B-6A9413FA1EE3}"/>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A5217B73-B601-857E-8352-40AA095105C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323C02AE-CC66-83E5-0E4D-404BC6717456}"/>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26AE8699-E31E-B79F-7BC0-38419CC220CF}"/>
              </a:ext>
            </a:extLst>
          </p:cNvPr>
          <p:cNvSpPr>
            <a:spLocks noGrp="1"/>
          </p:cNvSpPr>
          <p:nvPr>
            <p:ph type="sldNum" sz="quarter" idx="12"/>
          </p:nvPr>
        </p:nvSpPr>
        <p:spPr/>
        <p:txBody>
          <a:bodyPr/>
          <a:lstStyle/>
          <a:p>
            <a:fld id="{21004690-02AB-4EF8-9513-CB283ECF7991}" type="slidenum">
              <a:rPr lang="en-BW" smtClean="0"/>
              <a:t>18</a:t>
            </a:fld>
            <a:endParaRPr lang="en-BW"/>
          </a:p>
        </p:txBody>
      </p:sp>
      <p:pic>
        <p:nvPicPr>
          <p:cNvPr id="9" name="Picture 8">
            <a:extLst>
              <a:ext uri="{FF2B5EF4-FFF2-40B4-BE49-F238E27FC236}">
                <a16:creationId xmlns:a16="http://schemas.microsoft.com/office/drawing/2014/main" id="{95D70936-0F23-31E1-7CA7-001A9E260B06}"/>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80BBE61B-30C4-3099-62A1-2BAB3CE8EF90}"/>
              </a:ext>
            </a:extLst>
          </p:cNvPr>
          <p:cNvPicPr>
            <a:picLocks noChangeAspect="1"/>
          </p:cNvPicPr>
          <p:nvPr/>
        </p:nvPicPr>
        <p:blipFill>
          <a:blip r:embed="rId4"/>
          <a:stretch>
            <a:fillRect/>
          </a:stretch>
        </p:blipFill>
        <p:spPr>
          <a:xfrm>
            <a:off x="0" y="6610277"/>
            <a:ext cx="9144000" cy="254891"/>
          </a:xfrm>
          <a:prstGeom prst="rect">
            <a:avLst/>
          </a:prstGeom>
        </p:spPr>
      </p:pic>
      <p:pic>
        <p:nvPicPr>
          <p:cNvPr id="7" name="Picture 6">
            <a:extLst>
              <a:ext uri="{FF2B5EF4-FFF2-40B4-BE49-F238E27FC236}">
                <a16:creationId xmlns:a16="http://schemas.microsoft.com/office/drawing/2014/main" id="{01653559-C4AA-7EF9-F559-9651BC1E89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794" y="1069307"/>
            <a:ext cx="6942166" cy="2850760"/>
          </a:xfrm>
          <a:prstGeom prst="rect">
            <a:avLst/>
          </a:prstGeom>
        </p:spPr>
      </p:pic>
      <p:sp>
        <p:nvSpPr>
          <p:cNvPr id="12" name="TextBox 11">
            <a:extLst>
              <a:ext uri="{FF2B5EF4-FFF2-40B4-BE49-F238E27FC236}">
                <a16:creationId xmlns:a16="http://schemas.microsoft.com/office/drawing/2014/main" id="{35AE6108-20A5-EE86-B7BB-BF0F94298FFF}"/>
              </a:ext>
            </a:extLst>
          </p:cNvPr>
          <p:cNvSpPr txBox="1"/>
          <p:nvPr/>
        </p:nvSpPr>
        <p:spPr>
          <a:xfrm>
            <a:off x="2225886" y="3894308"/>
            <a:ext cx="469222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6 : Graph showing Waiting time at TL_A</a:t>
            </a:r>
          </a:p>
        </p:txBody>
      </p:sp>
    </p:spTree>
    <p:extLst>
      <p:ext uri="{BB962C8B-B14F-4D97-AF65-F5344CB8AC3E}">
        <p14:creationId xmlns:p14="http://schemas.microsoft.com/office/powerpoint/2010/main" val="2037331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5000-4F94-0338-A2F2-834CCE3CEC1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4860FB5-9E0E-46A4-4772-8FBC2ACFA6D8}"/>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65473745-D69B-B83A-169B-795E12F59C9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B71EE81C-DD3C-90E2-305C-FD1B9B5CCA36}"/>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DB928FF-A8D4-BD37-6DFF-CF2DE4FD878D}"/>
              </a:ext>
            </a:extLst>
          </p:cNvPr>
          <p:cNvSpPr>
            <a:spLocks noGrp="1"/>
          </p:cNvSpPr>
          <p:nvPr>
            <p:ph type="sldNum" sz="quarter" idx="12"/>
          </p:nvPr>
        </p:nvSpPr>
        <p:spPr/>
        <p:txBody>
          <a:bodyPr/>
          <a:lstStyle/>
          <a:p>
            <a:fld id="{21004690-02AB-4EF8-9513-CB283ECF7991}" type="slidenum">
              <a:rPr lang="en-BW" smtClean="0"/>
              <a:t>19</a:t>
            </a:fld>
            <a:endParaRPr lang="en-BW"/>
          </a:p>
        </p:txBody>
      </p:sp>
      <p:pic>
        <p:nvPicPr>
          <p:cNvPr id="9" name="Picture 8">
            <a:extLst>
              <a:ext uri="{FF2B5EF4-FFF2-40B4-BE49-F238E27FC236}">
                <a16:creationId xmlns:a16="http://schemas.microsoft.com/office/drawing/2014/main" id="{9074F2EC-4323-4055-7CC3-A77010C03FFC}"/>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E45014E-A7E8-3CC8-2E51-CE8D695D1FED}"/>
              </a:ext>
            </a:extLst>
          </p:cNvPr>
          <p:cNvPicPr>
            <a:picLocks noChangeAspect="1"/>
          </p:cNvPicPr>
          <p:nvPr/>
        </p:nvPicPr>
        <p:blipFill>
          <a:blip r:embed="rId4"/>
          <a:stretch>
            <a:fillRect/>
          </a:stretch>
        </p:blipFill>
        <p:spPr>
          <a:xfrm>
            <a:off x="0" y="6610277"/>
            <a:ext cx="9144000" cy="254891"/>
          </a:xfrm>
          <a:prstGeom prst="rect">
            <a:avLst/>
          </a:prstGeom>
        </p:spPr>
      </p:pic>
      <p:sp>
        <p:nvSpPr>
          <p:cNvPr id="12" name="TextBox 11">
            <a:extLst>
              <a:ext uri="{FF2B5EF4-FFF2-40B4-BE49-F238E27FC236}">
                <a16:creationId xmlns:a16="http://schemas.microsoft.com/office/drawing/2014/main" id="{5DECEE86-B9F7-171D-AE4F-56F2BBD30C76}"/>
              </a:ext>
            </a:extLst>
          </p:cNvPr>
          <p:cNvSpPr txBox="1"/>
          <p:nvPr/>
        </p:nvSpPr>
        <p:spPr>
          <a:xfrm>
            <a:off x="2386753" y="3894308"/>
            <a:ext cx="469222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7 : Graph showing Queue Length at TL_A</a:t>
            </a:r>
          </a:p>
        </p:txBody>
      </p:sp>
      <p:pic>
        <p:nvPicPr>
          <p:cNvPr id="8" name="Picture 7">
            <a:extLst>
              <a:ext uri="{FF2B5EF4-FFF2-40B4-BE49-F238E27FC236}">
                <a16:creationId xmlns:a16="http://schemas.microsoft.com/office/drawing/2014/main" id="{9190BDC5-2FEB-B494-952B-4663B42AB9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970" y="985945"/>
            <a:ext cx="7082439" cy="2908363"/>
          </a:xfrm>
          <a:prstGeom prst="rect">
            <a:avLst/>
          </a:prstGeom>
        </p:spPr>
      </p:pic>
    </p:spTree>
    <p:extLst>
      <p:ext uri="{BB962C8B-B14F-4D97-AF65-F5344CB8AC3E}">
        <p14:creationId xmlns:p14="http://schemas.microsoft.com/office/powerpoint/2010/main" val="2936091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7E9FB-C54D-682F-28BC-99D83D6A4FF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98F4702-80BC-14F7-3515-2E61669607E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8B0B852C-2753-56A3-3A32-253F185C30AF}"/>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69C5300C-67F9-92BC-3F82-1865BF282656}"/>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2F43BE3A-0D7E-AE84-AF99-D98F5A8E7AE3}"/>
              </a:ext>
            </a:extLst>
          </p:cNvPr>
          <p:cNvSpPr>
            <a:spLocks noGrp="1"/>
          </p:cNvSpPr>
          <p:nvPr>
            <p:ph type="sldNum" sz="quarter" idx="12"/>
          </p:nvPr>
        </p:nvSpPr>
        <p:spPr/>
        <p:txBody>
          <a:bodyPr/>
          <a:lstStyle/>
          <a:p>
            <a:fld id="{21004690-02AB-4EF8-9513-CB283ECF7991}" type="slidenum">
              <a:rPr lang="en-BW" smtClean="0"/>
              <a:t>20</a:t>
            </a:fld>
            <a:endParaRPr lang="en-BW"/>
          </a:p>
        </p:txBody>
      </p:sp>
      <p:pic>
        <p:nvPicPr>
          <p:cNvPr id="9" name="Picture 8">
            <a:extLst>
              <a:ext uri="{FF2B5EF4-FFF2-40B4-BE49-F238E27FC236}">
                <a16:creationId xmlns:a16="http://schemas.microsoft.com/office/drawing/2014/main" id="{5DC75A07-5390-199F-84B0-FC29A51B8BFC}"/>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A6018E0-B2C4-3301-7290-2B3A35F3A370}"/>
              </a:ext>
            </a:extLst>
          </p:cNvPr>
          <p:cNvPicPr>
            <a:picLocks noChangeAspect="1"/>
          </p:cNvPicPr>
          <p:nvPr/>
        </p:nvPicPr>
        <p:blipFill>
          <a:blip r:embed="rId4"/>
          <a:stretch>
            <a:fillRect/>
          </a:stretch>
        </p:blipFill>
        <p:spPr>
          <a:xfrm>
            <a:off x="0" y="6610277"/>
            <a:ext cx="9144000" cy="254891"/>
          </a:xfrm>
          <a:prstGeom prst="rect">
            <a:avLst/>
          </a:prstGeom>
        </p:spPr>
      </p:pic>
      <p:pic>
        <p:nvPicPr>
          <p:cNvPr id="7" name="Picture 6">
            <a:extLst>
              <a:ext uri="{FF2B5EF4-FFF2-40B4-BE49-F238E27FC236}">
                <a16:creationId xmlns:a16="http://schemas.microsoft.com/office/drawing/2014/main" id="{CD8282A4-5B2F-C462-B716-657B461185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794" y="1069307"/>
            <a:ext cx="6942166" cy="2850760"/>
          </a:xfrm>
          <a:prstGeom prst="rect">
            <a:avLst/>
          </a:prstGeom>
        </p:spPr>
      </p:pic>
      <p:sp>
        <p:nvSpPr>
          <p:cNvPr id="12" name="TextBox 11">
            <a:extLst>
              <a:ext uri="{FF2B5EF4-FFF2-40B4-BE49-F238E27FC236}">
                <a16:creationId xmlns:a16="http://schemas.microsoft.com/office/drawing/2014/main" id="{768F286F-97C1-6341-DD77-B5191A0626CF}"/>
              </a:ext>
            </a:extLst>
          </p:cNvPr>
          <p:cNvSpPr txBox="1"/>
          <p:nvPr/>
        </p:nvSpPr>
        <p:spPr>
          <a:xfrm>
            <a:off x="2302086" y="3920067"/>
            <a:ext cx="469222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6 : Graph showing Waiting time at TL_A</a:t>
            </a:r>
          </a:p>
        </p:txBody>
      </p:sp>
    </p:spTree>
    <p:extLst>
      <p:ext uri="{BB962C8B-B14F-4D97-AF65-F5344CB8AC3E}">
        <p14:creationId xmlns:p14="http://schemas.microsoft.com/office/powerpoint/2010/main" val="3545663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ABE8-B5D7-84CE-3D1B-1C71191F6BA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0D969D1-9C73-6697-5427-6A957438D0BD}"/>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B5F0188A-6C69-6658-EE1D-30F5FDB11D2C}"/>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3EA56D37-0827-5861-8CDC-265AA3B7D243}"/>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0E74352B-6F10-AA7E-D7EC-33701022C94B}"/>
              </a:ext>
            </a:extLst>
          </p:cNvPr>
          <p:cNvSpPr>
            <a:spLocks noGrp="1"/>
          </p:cNvSpPr>
          <p:nvPr>
            <p:ph type="sldNum" sz="quarter" idx="12"/>
          </p:nvPr>
        </p:nvSpPr>
        <p:spPr/>
        <p:txBody>
          <a:bodyPr/>
          <a:lstStyle/>
          <a:p>
            <a:fld id="{21004690-02AB-4EF8-9513-CB283ECF7991}" type="slidenum">
              <a:rPr lang="en-BW" smtClean="0"/>
              <a:t>21</a:t>
            </a:fld>
            <a:endParaRPr lang="en-BW"/>
          </a:p>
        </p:txBody>
      </p:sp>
      <p:pic>
        <p:nvPicPr>
          <p:cNvPr id="9" name="Picture 8">
            <a:extLst>
              <a:ext uri="{FF2B5EF4-FFF2-40B4-BE49-F238E27FC236}">
                <a16:creationId xmlns:a16="http://schemas.microsoft.com/office/drawing/2014/main" id="{F45BAEA2-847F-AAFE-DC53-A1548FB29436}"/>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A4EE4A47-0FD3-C8F1-640B-6CB0BC0D280B}"/>
              </a:ext>
            </a:extLst>
          </p:cNvPr>
          <p:cNvPicPr>
            <a:picLocks noChangeAspect="1"/>
          </p:cNvPicPr>
          <p:nvPr/>
        </p:nvPicPr>
        <p:blipFill>
          <a:blip r:embed="rId4"/>
          <a:stretch>
            <a:fillRect/>
          </a:stretch>
        </p:blipFill>
        <p:spPr>
          <a:xfrm>
            <a:off x="0" y="6610277"/>
            <a:ext cx="9144000" cy="254891"/>
          </a:xfrm>
          <a:prstGeom prst="rect">
            <a:avLst/>
          </a:prstGeom>
        </p:spPr>
      </p:pic>
      <p:sp>
        <p:nvSpPr>
          <p:cNvPr id="12" name="TextBox 11">
            <a:extLst>
              <a:ext uri="{FF2B5EF4-FFF2-40B4-BE49-F238E27FC236}">
                <a16:creationId xmlns:a16="http://schemas.microsoft.com/office/drawing/2014/main" id="{E35A8238-6012-7C29-3283-BEC0894832AA}"/>
              </a:ext>
            </a:extLst>
          </p:cNvPr>
          <p:cNvSpPr txBox="1"/>
          <p:nvPr/>
        </p:nvSpPr>
        <p:spPr>
          <a:xfrm>
            <a:off x="2225886" y="3920066"/>
            <a:ext cx="469222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7: Graph showing Throughput at TL_A</a:t>
            </a:r>
          </a:p>
        </p:txBody>
      </p:sp>
      <p:pic>
        <p:nvPicPr>
          <p:cNvPr id="8" name="Picture 7">
            <a:extLst>
              <a:ext uri="{FF2B5EF4-FFF2-40B4-BE49-F238E27FC236}">
                <a16:creationId xmlns:a16="http://schemas.microsoft.com/office/drawing/2014/main" id="{A0838F69-65C5-A34D-0E12-DCAECC5B4C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970" y="989842"/>
            <a:ext cx="6710828" cy="2755763"/>
          </a:xfrm>
          <a:prstGeom prst="rect">
            <a:avLst/>
          </a:prstGeom>
        </p:spPr>
      </p:pic>
    </p:spTree>
    <p:extLst>
      <p:ext uri="{BB962C8B-B14F-4D97-AF65-F5344CB8AC3E}">
        <p14:creationId xmlns:p14="http://schemas.microsoft.com/office/powerpoint/2010/main" val="143894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6E0C-05E4-9FC8-860B-DA4CB2121C8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D49D265-2FE3-F4F2-0B34-53E7A295F3B8}"/>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55DB1F40-EE78-8C44-A77E-B0C3278C9D7C}"/>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671B0980-DC4A-F5CF-0FA6-D66EA6578369}"/>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4C0F6709-C102-82BB-AD28-A56D49EF1FE3}"/>
              </a:ext>
            </a:extLst>
          </p:cNvPr>
          <p:cNvSpPr>
            <a:spLocks noGrp="1"/>
          </p:cNvSpPr>
          <p:nvPr>
            <p:ph type="sldNum" sz="quarter" idx="12"/>
          </p:nvPr>
        </p:nvSpPr>
        <p:spPr/>
        <p:txBody>
          <a:bodyPr/>
          <a:lstStyle/>
          <a:p>
            <a:fld id="{21004690-02AB-4EF8-9513-CB283ECF7991}" type="slidenum">
              <a:rPr lang="en-BW" smtClean="0"/>
              <a:t>22</a:t>
            </a:fld>
            <a:endParaRPr lang="en-BW"/>
          </a:p>
        </p:txBody>
      </p:sp>
      <p:pic>
        <p:nvPicPr>
          <p:cNvPr id="9" name="Picture 8">
            <a:extLst>
              <a:ext uri="{FF2B5EF4-FFF2-40B4-BE49-F238E27FC236}">
                <a16:creationId xmlns:a16="http://schemas.microsoft.com/office/drawing/2014/main" id="{DF525ED2-976D-4E65-D6E3-EBF2BA61B65E}"/>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BACD120-F5EC-1463-4372-A77E68AA4B54}"/>
              </a:ext>
            </a:extLst>
          </p:cNvPr>
          <p:cNvPicPr>
            <a:picLocks noChangeAspect="1"/>
          </p:cNvPicPr>
          <p:nvPr/>
        </p:nvPicPr>
        <p:blipFill>
          <a:blip r:embed="rId4"/>
          <a:stretch>
            <a:fillRect/>
          </a:stretch>
        </p:blipFill>
        <p:spPr>
          <a:xfrm>
            <a:off x="0" y="6610277"/>
            <a:ext cx="9144000" cy="254891"/>
          </a:xfrm>
          <a:prstGeom prst="rect">
            <a:avLst/>
          </a:prstGeom>
        </p:spPr>
      </p:pic>
      <p:pic>
        <p:nvPicPr>
          <p:cNvPr id="7" name="Picture 6">
            <a:extLst>
              <a:ext uri="{FF2B5EF4-FFF2-40B4-BE49-F238E27FC236}">
                <a16:creationId xmlns:a16="http://schemas.microsoft.com/office/drawing/2014/main" id="{4F48C77A-5098-8C27-0DE1-A7A5BD0132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535" y="1187466"/>
            <a:ext cx="7458521" cy="3062799"/>
          </a:xfrm>
          <a:prstGeom prst="rect">
            <a:avLst/>
          </a:prstGeom>
        </p:spPr>
      </p:pic>
      <p:sp>
        <p:nvSpPr>
          <p:cNvPr id="11" name="TextBox 10">
            <a:extLst>
              <a:ext uri="{FF2B5EF4-FFF2-40B4-BE49-F238E27FC236}">
                <a16:creationId xmlns:a16="http://schemas.microsoft.com/office/drawing/2014/main" id="{905CE98F-4219-F316-0E83-0C859AFB4693}"/>
              </a:ext>
            </a:extLst>
          </p:cNvPr>
          <p:cNvSpPr txBox="1"/>
          <p:nvPr/>
        </p:nvSpPr>
        <p:spPr>
          <a:xfrm>
            <a:off x="1769109" y="4331797"/>
            <a:ext cx="5605779"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8: Graph showing Waiting time , MAPPO  vs Fixed-Cycle</a:t>
            </a:r>
          </a:p>
        </p:txBody>
      </p:sp>
    </p:spTree>
    <p:extLst>
      <p:ext uri="{BB962C8B-B14F-4D97-AF65-F5344CB8AC3E}">
        <p14:creationId xmlns:p14="http://schemas.microsoft.com/office/powerpoint/2010/main" val="2823645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BB348-A810-7E45-62EB-4C1BA265AE8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6F44B4C-F976-2975-F233-053837DBD29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72B43A92-264F-3DC7-41EB-D6D12FE45CDB}"/>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RESULTS AND ANALYSIS </a:t>
            </a:r>
          </a:p>
        </p:txBody>
      </p:sp>
      <p:pic>
        <p:nvPicPr>
          <p:cNvPr id="6" name="Content Placeholder 4">
            <a:extLst>
              <a:ext uri="{FF2B5EF4-FFF2-40B4-BE49-F238E27FC236}">
                <a16:creationId xmlns:a16="http://schemas.microsoft.com/office/drawing/2014/main" id="{FF1A94E0-CBE6-84C3-621D-94B75B4FA577}"/>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F5574294-83C5-0AD4-C714-CAC2428AB917}"/>
              </a:ext>
            </a:extLst>
          </p:cNvPr>
          <p:cNvSpPr>
            <a:spLocks noGrp="1"/>
          </p:cNvSpPr>
          <p:nvPr>
            <p:ph type="sldNum" sz="quarter" idx="12"/>
          </p:nvPr>
        </p:nvSpPr>
        <p:spPr/>
        <p:txBody>
          <a:bodyPr/>
          <a:lstStyle/>
          <a:p>
            <a:fld id="{21004690-02AB-4EF8-9513-CB283ECF7991}" type="slidenum">
              <a:rPr lang="en-BW" smtClean="0"/>
              <a:t>23</a:t>
            </a:fld>
            <a:endParaRPr lang="en-BW"/>
          </a:p>
        </p:txBody>
      </p:sp>
      <p:pic>
        <p:nvPicPr>
          <p:cNvPr id="9" name="Picture 8">
            <a:extLst>
              <a:ext uri="{FF2B5EF4-FFF2-40B4-BE49-F238E27FC236}">
                <a16:creationId xmlns:a16="http://schemas.microsoft.com/office/drawing/2014/main" id="{32B412C1-2C80-75F4-A2FA-5A8551AAE5E4}"/>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13CDC593-D552-E7F0-EA5E-AC1AD87CAB90}"/>
              </a:ext>
            </a:extLst>
          </p:cNvPr>
          <p:cNvPicPr>
            <a:picLocks noChangeAspect="1"/>
          </p:cNvPicPr>
          <p:nvPr/>
        </p:nvPicPr>
        <p:blipFill>
          <a:blip r:embed="rId4"/>
          <a:stretch>
            <a:fillRect/>
          </a:stretch>
        </p:blipFill>
        <p:spPr>
          <a:xfrm>
            <a:off x="0" y="6610277"/>
            <a:ext cx="9144000" cy="254891"/>
          </a:xfrm>
          <a:prstGeom prst="rect">
            <a:avLst/>
          </a:prstGeom>
        </p:spPr>
      </p:pic>
      <p:sp>
        <p:nvSpPr>
          <p:cNvPr id="11" name="TextBox 10">
            <a:extLst>
              <a:ext uri="{FF2B5EF4-FFF2-40B4-BE49-F238E27FC236}">
                <a16:creationId xmlns:a16="http://schemas.microsoft.com/office/drawing/2014/main" id="{FB037C86-1417-54DA-033A-CFAA4E1F9A5F}"/>
              </a:ext>
            </a:extLst>
          </p:cNvPr>
          <p:cNvSpPr txBox="1"/>
          <p:nvPr/>
        </p:nvSpPr>
        <p:spPr>
          <a:xfrm>
            <a:off x="1769109" y="4298701"/>
            <a:ext cx="5605779"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Figure 9: Graph showing Queue Length, MAPPO  vs Fixed-Cycle</a:t>
            </a:r>
          </a:p>
        </p:txBody>
      </p:sp>
      <p:pic>
        <p:nvPicPr>
          <p:cNvPr id="8" name="Picture 7">
            <a:extLst>
              <a:ext uri="{FF2B5EF4-FFF2-40B4-BE49-F238E27FC236}">
                <a16:creationId xmlns:a16="http://schemas.microsoft.com/office/drawing/2014/main" id="{0D8EAB3D-B783-692E-E9F3-8FCDC00D47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765" y="1021306"/>
            <a:ext cx="7362745" cy="3023469"/>
          </a:xfrm>
          <a:prstGeom prst="rect">
            <a:avLst/>
          </a:prstGeom>
        </p:spPr>
      </p:pic>
    </p:spTree>
    <p:extLst>
      <p:ext uri="{BB962C8B-B14F-4D97-AF65-F5344CB8AC3E}">
        <p14:creationId xmlns:p14="http://schemas.microsoft.com/office/powerpoint/2010/main" val="1295027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F1CE-7AD0-FAEF-C4E7-240C03C04C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F60A83B-D1D1-1791-3605-40740BDE1AA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a:cs typeface="Trebuchet MS"/>
              </a:rPr>
              <a:t>12</a:t>
            </a:r>
            <a:endParaRPr lang="en-US" sz="1800" b="1">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381E17E5-B67A-FCF1-18DC-254BCEF6654A}"/>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b="1" dirty="0">
                <a:solidFill>
                  <a:prstClr val="white"/>
                </a:solidFill>
                <a:latin typeface="Times New Roman"/>
                <a:ea typeface="Tahoma"/>
                <a:cs typeface="Times New Roman"/>
              </a:rPr>
              <a:t>CONCLUSION </a:t>
            </a:r>
          </a:p>
        </p:txBody>
      </p:sp>
      <p:pic>
        <p:nvPicPr>
          <p:cNvPr id="6" name="Content Placeholder 4">
            <a:extLst>
              <a:ext uri="{FF2B5EF4-FFF2-40B4-BE49-F238E27FC236}">
                <a16:creationId xmlns:a16="http://schemas.microsoft.com/office/drawing/2014/main" id="{7FB7AAA0-AC16-C509-FC79-AAED2E405474}"/>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6663FA7-1EBC-ABCA-30A8-BE5AEE4DD65E}"/>
              </a:ext>
            </a:extLst>
          </p:cNvPr>
          <p:cNvSpPr>
            <a:spLocks noGrp="1"/>
          </p:cNvSpPr>
          <p:nvPr>
            <p:ph type="sldNum" sz="quarter" idx="12"/>
          </p:nvPr>
        </p:nvSpPr>
        <p:spPr/>
        <p:txBody>
          <a:bodyPr/>
          <a:lstStyle/>
          <a:p>
            <a:fld id="{21004690-02AB-4EF8-9513-CB283ECF7991}" type="slidenum">
              <a:rPr lang="en-BW" smtClean="0"/>
              <a:t>24</a:t>
            </a:fld>
            <a:endParaRPr lang="en-BW"/>
          </a:p>
        </p:txBody>
      </p:sp>
      <p:pic>
        <p:nvPicPr>
          <p:cNvPr id="9" name="Picture 8">
            <a:extLst>
              <a:ext uri="{FF2B5EF4-FFF2-40B4-BE49-F238E27FC236}">
                <a16:creationId xmlns:a16="http://schemas.microsoft.com/office/drawing/2014/main" id="{8F59AC28-90CC-7FA6-BE55-C1162FB28039}"/>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53BF235D-1D0B-58E3-30A5-85B28C1F917F}"/>
              </a:ext>
            </a:extLst>
          </p:cNvPr>
          <p:cNvPicPr>
            <a:picLocks noChangeAspect="1"/>
          </p:cNvPicPr>
          <p:nvPr/>
        </p:nvPicPr>
        <p:blipFill>
          <a:blip r:embed="rId4"/>
          <a:stretch>
            <a:fillRect/>
          </a:stretch>
        </p:blipFill>
        <p:spPr>
          <a:xfrm>
            <a:off x="0" y="6610277"/>
            <a:ext cx="9144000" cy="254891"/>
          </a:xfrm>
          <a:prstGeom prst="rect">
            <a:avLst/>
          </a:prstGeom>
        </p:spPr>
      </p:pic>
      <p:sp>
        <p:nvSpPr>
          <p:cNvPr id="21" name="TextBox 20">
            <a:extLst>
              <a:ext uri="{FF2B5EF4-FFF2-40B4-BE49-F238E27FC236}">
                <a16:creationId xmlns:a16="http://schemas.microsoft.com/office/drawing/2014/main" id="{BB87517B-94FA-C462-AD1E-A330E5D97645}"/>
              </a:ext>
            </a:extLst>
          </p:cNvPr>
          <p:cNvSpPr txBox="1"/>
          <p:nvPr/>
        </p:nvSpPr>
        <p:spPr>
          <a:xfrm>
            <a:off x="778668" y="1336176"/>
            <a:ext cx="6680465" cy="2862322"/>
          </a:xfrm>
          <a:prstGeom prst="rect">
            <a:avLst/>
          </a:prstGeom>
          <a:noFill/>
        </p:spPr>
        <p:txBody>
          <a:bodyPr wrap="square">
            <a:spAutoFit/>
          </a:bodyPr>
          <a:lstStyle/>
          <a:p>
            <a:pPr algn="just">
              <a:buFont typeface="Arial" panose="020B0604020202020204" pitchFamily="34" charset="0"/>
              <a:buChar char="•"/>
            </a:pPr>
            <a:r>
              <a:rPr lang="en-GB" b="0" i="0" dirty="0">
                <a:effectLst/>
                <a:latin typeface="-apple-system"/>
              </a:rPr>
              <a:t>Palapye's A1 corridor runs on fixed pre-timed signals that cannot respond to real-time demand</a:t>
            </a:r>
          </a:p>
          <a:p>
            <a:pPr algn="just">
              <a:buFont typeface="Arial" panose="020B0604020202020204" pitchFamily="34" charset="0"/>
              <a:buChar char="•"/>
            </a:pPr>
            <a:r>
              <a:rPr lang="en-GB" b="0" i="0" dirty="0">
                <a:effectLst/>
                <a:latin typeface="-apple-system"/>
              </a:rPr>
              <a:t>A MAPPO controller with CTDE architecture was designed and trained on a SUMO simulation of the A1 geometry.</a:t>
            </a:r>
          </a:p>
          <a:p>
            <a:pPr algn="just">
              <a:buFont typeface="Arial" panose="020B0604020202020204" pitchFamily="34" charset="0"/>
              <a:buChar char="•"/>
            </a:pPr>
            <a:r>
              <a:rPr lang="en-GB" b="0" i="0" dirty="0">
                <a:effectLst/>
                <a:latin typeface="-apple-system"/>
              </a:rPr>
              <a:t>MAPPO reduced network-wide waiting time by over 3x during peak demand compared to fixed-time control</a:t>
            </a:r>
          </a:p>
          <a:p>
            <a:pPr algn="just">
              <a:buFont typeface="Arial" panose="020B0604020202020204" pitchFamily="34" charset="0"/>
              <a:buChar char="•"/>
            </a:pPr>
            <a:r>
              <a:rPr lang="en-GB" b="0" i="0" dirty="0">
                <a:effectLst/>
                <a:latin typeface="-apple-system"/>
              </a:rPr>
              <a:t>YOLOv8 vehicle detection validated on real footage as a future deployment pathway</a:t>
            </a:r>
          </a:p>
          <a:p>
            <a:pPr algn="just">
              <a:buFont typeface="Arial" panose="020B0604020202020204" pitchFamily="34" charset="0"/>
              <a:buChar char="•"/>
            </a:pPr>
            <a:r>
              <a:rPr lang="en-GB" b="0" i="0" dirty="0">
                <a:effectLst/>
                <a:latin typeface="-apple-system"/>
              </a:rPr>
              <a:t>One of th</a:t>
            </a:r>
            <a:r>
              <a:rPr lang="en-GB" dirty="0">
                <a:latin typeface="-apple-system"/>
              </a:rPr>
              <a:t>e</a:t>
            </a:r>
            <a:r>
              <a:rPr lang="en-GB" b="0" i="0" dirty="0">
                <a:effectLst/>
                <a:latin typeface="-apple-system"/>
              </a:rPr>
              <a:t> quantitative benchmark for adaptive vs fixed-time control on a Botswana road network.</a:t>
            </a:r>
          </a:p>
        </p:txBody>
      </p:sp>
    </p:spTree>
    <p:extLst>
      <p:ext uri="{BB962C8B-B14F-4D97-AF65-F5344CB8AC3E}">
        <p14:creationId xmlns:p14="http://schemas.microsoft.com/office/powerpoint/2010/main" val="673714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46E69-311D-F771-247A-5359CE68938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C5819D-829A-AA2B-DD39-A413B6F74306}"/>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a:cs typeface="Trebuchet MS"/>
              </a:rPr>
              <a:t>12</a:t>
            </a:r>
            <a:endParaRPr lang="en-US" sz="1800" b="1">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476F2FC9-437B-F4A8-D1DE-9481DE9915F9}"/>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b="1" dirty="0">
                <a:solidFill>
                  <a:prstClr val="white"/>
                </a:solidFill>
                <a:latin typeface="Times New Roman"/>
                <a:ea typeface="Tahoma"/>
                <a:cs typeface="Times New Roman"/>
              </a:rPr>
              <a:t>REFERENCES </a:t>
            </a:r>
          </a:p>
        </p:txBody>
      </p:sp>
      <p:pic>
        <p:nvPicPr>
          <p:cNvPr id="6" name="Content Placeholder 4">
            <a:extLst>
              <a:ext uri="{FF2B5EF4-FFF2-40B4-BE49-F238E27FC236}">
                <a16:creationId xmlns:a16="http://schemas.microsoft.com/office/drawing/2014/main" id="{1E447F16-E80F-0088-4268-AF779EF70656}"/>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F8E186EE-9B58-73A2-564C-AD36C055C84E}"/>
              </a:ext>
            </a:extLst>
          </p:cNvPr>
          <p:cNvSpPr>
            <a:spLocks noGrp="1"/>
          </p:cNvSpPr>
          <p:nvPr>
            <p:ph type="sldNum" sz="quarter" idx="12"/>
          </p:nvPr>
        </p:nvSpPr>
        <p:spPr/>
        <p:txBody>
          <a:bodyPr/>
          <a:lstStyle/>
          <a:p>
            <a:fld id="{21004690-02AB-4EF8-9513-CB283ECF7991}" type="slidenum">
              <a:rPr lang="en-BW" smtClean="0"/>
              <a:t>25</a:t>
            </a:fld>
            <a:endParaRPr lang="en-BW"/>
          </a:p>
        </p:txBody>
      </p:sp>
      <p:pic>
        <p:nvPicPr>
          <p:cNvPr id="9" name="Picture 8">
            <a:extLst>
              <a:ext uri="{FF2B5EF4-FFF2-40B4-BE49-F238E27FC236}">
                <a16:creationId xmlns:a16="http://schemas.microsoft.com/office/drawing/2014/main" id="{A7CAFE50-8681-7A5A-4A51-3F67B308A94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9578A497-9850-165E-E48E-61AB4DDF307F}"/>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5EEBE749-33E9-2290-9111-755F9BA4E525}"/>
              </a:ext>
            </a:extLst>
          </p:cNvPr>
          <p:cNvSpPr txBox="1"/>
          <p:nvPr/>
        </p:nvSpPr>
        <p:spPr>
          <a:xfrm>
            <a:off x="455083" y="1582340"/>
            <a:ext cx="8060267" cy="3693319"/>
          </a:xfrm>
          <a:prstGeom prst="rect">
            <a:avLst/>
          </a:prstGeom>
          <a:noFill/>
        </p:spPr>
        <p:txBody>
          <a:bodyPr wrap="square">
            <a:spAutoFit/>
          </a:bodyPr>
          <a:lstStyle/>
          <a:p>
            <a:r>
              <a:rPr lang="en-US" dirty="0"/>
              <a:t>[1] P. </a:t>
            </a:r>
            <a:r>
              <a:rPr lang="en-US" dirty="0" err="1"/>
              <a:t>Bothoko</a:t>
            </a:r>
            <a:r>
              <a:rPr lang="en-US" dirty="0"/>
              <a:t>, "Heavy traffic eases along A1 road," </a:t>
            </a:r>
            <a:r>
              <a:rPr lang="en-US" i="1" dirty="0"/>
              <a:t>Mmegi Online</a:t>
            </a:r>
            <a:r>
              <a:rPr lang="en-US" dirty="0"/>
              <a:t>, 2024. [Online]. Available: </a:t>
            </a:r>
            <a:r>
              <a:rPr lang="en-US" dirty="0">
                <a:hlinkClick r:id="rId5"/>
              </a:rPr>
              <a:t>https://www.mmegi.bw</a:t>
            </a:r>
            <a:endParaRPr lang="en-US" dirty="0"/>
          </a:p>
          <a:p>
            <a:r>
              <a:rPr lang="en-US" dirty="0"/>
              <a:t>[2] C. Yu, A. Velu, E. Vinitsky, J. Gao, Y. Wang, A. Bayen, and Y. Wu, "The surprising effectiveness of PPO in cooperative multi-agent games," </a:t>
            </a:r>
            <a:r>
              <a:rPr lang="en-US" i="1" dirty="0"/>
              <a:t>Advances in Neural Information Processing Systems</a:t>
            </a:r>
            <a:r>
              <a:rPr lang="en-US" dirty="0"/>
              <a:t>, vol. 35, pp. 24611–24624, 2022.</a:t>
            </a:r>
          </a:p>
          <a:p>
            <a:r>
              <a:rPr lang="en-US" dirty="0"/>
              <a:t>[3] P. Michailidis, I. Michailidis, C. R. Lazaridis, and E. </a:t>
            </a:r>
            <a:r>
              <a:rPr lang="en-US" dirty="0" err="1"/>
              <a:t>Kosmatopoulos</a:t>
            </a:r>
            <a:r>
              <a:rPr lang="en-US" dirty="0"/>
              <a:t>, "Traffic signal control via reinforcement learning: A review on applications and innovations," </a:t>
            </a:r>
            <a:r>
              <a:rPr lang="en-US" i="1" dirty="0"/>
              <a:t>Infrastructures</a:t>
            </a:r>
            <a:r>
              <a:rPr lang="en-US" dirty="0"/>
              <a:t>, vol. 10, no. 5, p. 114, 2025.</a:t>
            </a:r>
          </a:p>
          <a:p>
            <a:r>
              <a:rPr lang="en-US" dirty="0"/>
              <a:t>[4] S. </a:t>
            </a:r>
            <a:r>
              <a:rPr lang="en-US" dirty="0" err="1"/>
              <a:t>Mansouryar</a:t>
            </a:r>
            <a:r>
              <a:rPr lang="en-US" dirty="0"/>
              <a:t>, C. </a:t>
            </a:r>
            <a:r>
              <a:rPr lang="en-US" dirty="0" err="1"/>
              <a:t>Colombaroni</a:t>
            </a:r>
            <a:r>
              <a:rPr lang="en-US" dirty="0"/>
              <a:t>, N. </a:t>
            </a:r>
            <a:r>
              <a:rPr lang="en-US" dirty="0" err="1"/>
              <a:t>Isaenko</a:t>
            </a:r>
            <a:r>
              <a:rPr lang="en-US" dirty="0"/>
              <a:t>, and G. Fusco, "Deep reinforcement learning approach for traffic light control and transit priority," </a:t>
            </a:r>
            <a:r>
              <a:rPr lang="en-US" i="1" dirty="0"/>
              <a:t>Future Transportation</a:t>
            </a:r>
            <a:r>
              <a:rPr lang="en-US" dirty="0"/>
              <a:t>, vol. 5, no. 4, p. 137, 2025.</a:t>
            </a:r>
          </a:p>
          <a:p>
            <a:r>
              <a:rPr lang="en-US" dirty="0"/>
              <a:t>[5] X. Wang and W. Shao, "Networked sensor-based adaptive traffic signal control for dynamic flow optimization," </a:t>
            </a:r>
            <a:r>
              <a:rPr lang="en-US" i="1" dirty="0"/>
              <a:t>Sensors</a:t>
            </a:r>
            <a:r>
              <a:rPr lang="en-US" dirty="0"/>
              <a:t>, vol. 25, no. 11, p. 3501, 2025.</a:t>
            </a:r>
          </a:p>
        </p:txBody>
      </p:sp>
    </p:spTree>
    <p:extLst>
      <p:ext uri="{BB962C8B-B14F-4D97-AF65-F5344CB8AC3E}">
        <p14:creationId xmlns:p14="http://schemas.microsoft.com/office/powerpoint/2010/main" val="1790734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97246-F9C7-4BA7-89C1-949D16B350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37C39A-71AD-E52E-F23F-15BE693C74EC}"/>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a:cs typeface="Trebuchet MS"/>
              </a:rPr>
              <a:t>12</a:t>
            </a:r>
            <a:endParaRPr lang="en-US" sz="1800" b="1">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4C21069D-2A32-FA07-3E94-4CE26F70F480}"/>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b="1" dirty="0">
                <a:solidFill>
                  <a:prstClr val="white"/>
                </a:solidFill>
                <a:latin typeface="Times New Roman"/>
                <a:ea typeface="Tahoma"/>
                <a:cs typeface="Times New Roman"/>
              </a:rPr>
              <a:t>CONCLUSION </a:t>
            </a:r>
          </a:p>
        </p:txBody>
      </p:sp>
      <p:pic>
        <p:nvPicPr>
          <p:cNvPr id="6" name="Content Placeholder 4">
            <a:extLst>
              <a:ext uri="{FF2B5EF4-FFF2-40B4-BE49-F238E27FC236}">
                <a16:creationId xmlns:a16="http://schemas.microsoft.com/office/drawing/2014/main" id="{B5CC6078-6849-49BE-C851-23A9F34FF355}"/>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4C13C279-1EA3-54D9-2242-F2A3DB745362}"/>
              </a:ext>
            </a:extLst>
          </p:cNvPr>
          <p:cNvSpPr>
            <a:spLocks noGrp="1"/>
          </p:cNvSpPr>
          <p:nvPr>
            <p:ph type="sldNum" sz="quarter" idx="12"/>
          </p:nvPr>
        </p:nvSpPr>
        <p:spPr/>
        <p:txBody>
          <a:bodyPr/>
          <a:lstStyle/>
          <a:p>
            <a:fld id="{21004690-02AB-4EF8-9513-CB283ECF7991}" type="slidenum">
              <a:rPr lang="en-BW" smtClean="0"/>
              <a:t>26</a:t>
            </a:fld>
            <a:endParaRPr lang="en-BW"/>
          </a:p>
        </p:txBody>
      </p:sp>
      <p:pic>
        <p:nvPicPr>
          <p:cNvPr id="9" name="Picture 8">
            <a:extLst>
              <a:ext uri="{FF2B5EF4-FFF2-40B4-BE49-F238E27FC236}">
                <a16:creationId xmlns:a16="http://schemas.microsoft.com/office/drawing/2014/main" id="{D08BD763-3AB8-33D8-006B-96771997C7AD}"/>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59A3349-22EA-C244-D672-A7BF2EF20138}"/>
              </a:ext>
            </a:extLst>
          </p:cNvPr>
          <p:cNvPicPr>
            <a:picLocks noChangeAspect="1"/>
          </p:cNvPicPr>
          <p:nvPr/>
        </p:nvPicPr>
        <p:blipFill>
          <a:blip r:embed="rId4"/>
          <a:stretch>
            <a:fillRect/>
          </a:stretch>
        </p:blipFill>
        <p:spPr>
          <a:xfrm>
            <a:off x="0" y="6610277"/>
            <a:ext cx="9144000" cy="254891"/>
          </a:xfrm>
          <a:prstGeom prst="rect">
            <a:avLst/>
          </a:prstGeom>
        </p:spPr>
      </p:pic>
      <p:sp>
        <p:nvSpPr>
          <p:cNvPr id="11" name="TextBox 10">
            <a:extLst>
              <a:ext uri="{FF2B5EF4-FFF2-40B4-BE49-F238E27FC236}">
                <a16:creationId xmlns:a16="http://schemas.microsoft.com/office/drawing/2014/main" id="{35F94780-4BF8-606A-BA4A-CF9C5C67BE34}"/>
              </a:ext>
            </a:extLst>
          </p:cNvPr>
          <p:cNvSpPr txBox="1"/>
          <p:nvPr/>
        </p:nvSpPr>
        <p:spPr>
          <a:xfrm>
            <a:off x="1369860" y="1596592"/>
            <a:ext cx="6019644"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ea typeface="Calibri" panose="020F0502020204030204"/>
                <a:cs typeface="Calibri" panose="020F0502020204030204"/>
              </a:rPr>
              <a:t>THANK YOU FOR YOUR TIME</a:t>
            </a:r>
            <a:endParaRPr lang="en-US" sz="3600" dirty="0">
              <a:ea typeface="Calibri"/>
              <a:cs typeface="Calibri"/>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r>
              <a:rPr lang="en-US" sz="3600" b="1" dirty="0" err="1">
                <a:ea typeface="Calibri" panose="020F0502020204030204"/>
                <a:cs typeface="Calibri" panose="020F0502020204030204"/>
              </a:rPr>
              <a:t>QnA</a:t>
            </a:r>
            <a:endParaRPr lang="en-US" sz="3600" b="1" dirty="0">
              <a:ea typeface="Calibri" panose="020F0502020204030204"/>
              <a:cs typeface="Calibri" panose="020F0502020204030204"/>
            </a:endParaRPr>
          </a:p>
        </p:txBody>
      </p:sp>
      <p:grpSp>
        <p:nvGrpSpPr>
          <p:cNvPr id="12" name="Google Shape;5822;p79">
            <a:extLst>
              <a:ext uri="{FF2B5EF4-FFF2-40B4-BE49-F238E27FC236}">
                <a16:creationId xmlns:a16="http://schemas.microsoft.com/office/drawing/2014/main" id="{13D1FF38-898A-540D-F4D4-260421438ED4}"/>
              </a:ext>
            </a:extLst>
          </p:cNvPr>
          <p:cNvGrpSpPr/>
          <p:nvPr/>
        </p:nvGrpSpPr>
        <p:grpSpPr>
          <a:xfrm>
            <a:off x="3082353" y="2362436"/>
            <a:ext cx="2594793" cy="2415033"/>
            <a:chOff x="3274578" y="1880626"/>
            <a:chExt cx="481750" cy="481850"/>
          </a:xfrm>
          <a:solidFill>
            <a:schemeClr val="accent2">
              <a:lumMod val="40000"/>
              <a:lumOff val="60000"/>
            </a:schemeClr>
          </a:solidFill>
        </p:grpSpPr>
        <p:sp>
          <p:nvSpPr>
            <p:cNvPr id="13" name="Google Shape;5823;p79">
              <a:extLst>
                <a:ext uri="{FF2B5EF4-FFF2-40B4-BE49-F238E27FC236}">
                  <a16:creationId xmlns:a16="http://schemas.microsoft.com/office/drawing/2014/main" id="{CA9667DE-8C3B-0B2A-954D-F0421CF82958}"/>
                </a:ext>
              </a:extLst>
            </p:cNvPr>
            <p:cNvSpPr/>
            <p:nvPr/>
          </p:nvSpPr>
          <p:spPr>
            <a:xfrm>
              <a:off x="3416628" y="2247651"/>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4" name="Google Shape;5824;p79">
              <a:extLst>
                <a:ext uri="{FF2B5EF4-FFF2-40B4-BE49-F238E27FC236}">
                  <a16:creationId xmlns:a16="http://schemas.microsoft.com/office/drawing/2014/main" id="{C8C8E203-2D27-395D-D817-F6C01FDC4E32}"/>
                </a:ext>
              </a:extLst>
            </p:cNvPr>
            <p:cNvSpPr/>
            <p:nvPr/>
          </p:nvSpPr>
          <p:spPr>
            <a:xfrm>
              <a:off x="3338478" y="1880626"/>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5" name="Google Shape;5825;p79">
              <a:extLst>
                <a:ext uri="{FF2B5EF4-FFF2-40B4-BE49-F238E27FC236}">
                  <a16:creationId xmlns:a16="http://schemas.microsoft.com/office/drawing/2014/main" id="{E15447FC-E910-6BCC-B92A-86C54074E01D}"/>
                </a:ext>
              </a:extLst>
            </p:cNvPr>
            <p:cNvSpPr/>
            <p:nvPr/>
          </p:nvSpPr>
          <p:spPr>
            <a:xfrm>
              <a:off x="3274578" y="2050026"/>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6" name="Google Shape;5826;p79">
              <a:extLst>
                <a:ext uri="{FF2B5EF4-FFF2-40B4-BE49-F238E27FC236}">
                  <a16:creationId xmlns:a16="http://schemas.microsoft.com/office/drawing/2014/main" id="{6991AAD0-01D5-074F-12D1-7A9A9C9E4085}"/>
                </a:ext>
              </a:extLst>
            </p:cNvPr>
            <p:cNvSpPr/>
            <p:nvPr/>
          </p:nvSpPr>
          <p:spPr>
            <a:xfrm>
              <a:off x="3277428" y="1955526"/>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7" name="Google Shape;5827;p79">
              <a:extLst>
                <a:ext uri="{FF2B5EF4-FFF2-40B4-BE49-F238E27FC236}">
                  <a16:creationId xmlns:a16="http://schemas.microsoft.com/office/drawing/2014/main" id="{3B8366D2-19CF-3EDA-B9B4-D4DB6BEA5610}"/>
                </a:ext>
              </a:extLst>
            </p:cNvPr>
            <p:cNvSpPr/>
            <p:nvPr/>
          </p:nvSpPr>
          <p:spPr>
            <a:xfrm>
              <a:off x="3277428" y="2124901"/>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8" name="Google Shape;5828;p79">
              <a:extLst>
                <a:ext uri="{FF2B5EF4-FFF2-40B4-BE49-F238E27FC236}">
                  <a16:creationId xmlns:a16="http://schemas.microsoft.com/office/drawing/2014/main" id="{B8F73105-177E-6270-BA6B-9FEDC1D260D9}"/>
                </a:ext>
              </a:extLst>
            </p:cNvPr>
            <p:cNvSpPr/>
            <p:nvPr/>
          </p:nvSpPr>
          <p:spPr>
            <a:xfrm>
              <a:off x="3699903" y="2050026"/>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9" name="Google Shape;5829;p79">
              <a:extLst>
                <a:ext uri="{FF2B5EF4-FFF2-40B4-BE49-F238E27FC236}">
                  <a16:creationId xmlns:a16="http://schemas.microsoft.com/office/drawing/2014/main" id="{6B23B404-EA83-B413-5436-33921F28B076}"/>
                </a:ext>
              </a:extLst>
            </p:cNvPr>
            <p:cNvSpPr/>
            <p:nvPr/>
          </p:nvSpPr>
          <p:spPr>
            <a:xfrm>
              <a:off x="3702778" y="1955526"/>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20" name="Google Shape;5830;p79">
              <a:extLst>
                <a:ext uri="{FF2B5EF4-FFF2-40B4-BE49-F238E27FC236}">
                  <a16:creationId xmlns:a16="http://schemas.microsoft.com/office/drawing/2014/main" id="{47A2077E-AC51-E22D-A4FA-988531F30D88}"/>
                </a:ext>
              </a:extLst>
            </p:cNvPr>
            <p:cNvSpPr/>
            <p:nvPr/>
          </p:nvSpPr>
          <p:spPr>
            <a:xfrm>
              <a:off x="3702628" y="2124726"/>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188806787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DFE191AF2D144C8CBCA275A0906B01" ma:contentTypeVersion="16" ma:contentTypeDescription="Create a new document." ma:contentTypeScope="" ma:versionID="6f135530753812c06d9a1546942b4a47">
  <xsd:schema xmlns:xsd="http://www.w3.org/2001/XMLSchema" xmlns:xs="http://www.w3.org/2001/XMLSchema" xmlns:p="http://schemas.microsoft.com/office/2006/metadata/properties" xmlns:ns3="f7508928-13aa-496e-92c2-06b222dfd713" xmlns:ns4="79cb7905-fd5d-4fb8-b6ba-3bfa43bb8ac8" targetNamespace="http://schemas.microsoft.com/office/2006/metadata/properties" ma:root="true" ma:fieldsID="88f6a09d0188fdb8f65eb00db31a054b" ns3:_="" ns4:_="">
    <xsd:import namespace="f7508928-13aa-496e-92c2-06b222dfd713"/>
    <xsd:import namespace="79cb7905-fd5d-4fb8-b6ba-3bfa43bb8ac8"/>
    <xsd:element name="properties">
      <xsd:complexType>
        <xsd:sequence>
          <xsd:element name="documentManagement">
            <xsd:complexType>
              <xsd:all>
                <xsd:element ref="ns3:MediaServiceMetadata" minOccurs="0"/>
                <xsd:element ref="ns3:MediaServiceFastMetadata" minOccurs="0"/>
                <xsd:element ref="ns3:_activity"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LengthInSeconds" minOccurs="0"/>
                <xsd:element ref="ns3:MediaServiceOCR" minOccurs="0"/>
                <xsd:element ref="ns3:MediaServiceSearchProperties" minOccurs="0"/>
                <xsd:element ref="ns3:MediaServiceObjectDetectorVersions" minOccurs="0"/>
                <xsd:element ref="ns4:SharedWithUsers" minOccurs="0"/>
                <xsd:element ref="ns4:SharedWithDetails" minOccurs="0"/>
                <xsd:element ref="ns4:SharingHintHash" minOccurs="0"/>
                <xsd:element ref="ns4:MigrationSourc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508928-13aa-496e-92c2-06b222dfd7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cb7905-fd5d-4fb8-b6ba-3bfa43bb8ac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element name="MigrationSourceID" ma:index="23"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7508928-13aa-496e-92c2-06b222dfd713" xsi:nil="true"/>
  </documentManagement>
</p:properties>
</file>

<file path=customXml/itemProps1.xml><?xml version="1.0" encoding="utf-8"?>
<ds:datastoreItem xmlns:ds="http://schemas.openxmlformats.org/officeDocument/2006/customXml" ds:itemID="{8403A09B-36AC-4EA4-9FA8-CBC20ECEEE77}">
  <ds:schemaRefs>
    <ds:schemaRef ds:uri="http://schemas.microsoft.com/sharepoint/v3/contenttype/forms"/>
  </ds:schemaRefs>
</ds:datastoreItem>
</file>

<file path=customXml/itemProps2.xml><?xml version="1.0" encoding="utf-8"?>
<ds:datastoreItem xmlns:ds="http://schemas.openxmlformats.org/officeDocument/2006/customXml" ds:itemID="{CA87858B-EB8B-49A0-AB8A-FE5E6799AB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508928-13aa-496e-92c2-06b222dfd713"/>
    <ds:schemaRef ds:uri="79cb7905-fd5d-4fb8-b6ba-3bfa43bb8a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898F7C-A34A-4FE6-8F4C-62983E46AD0D}">
  <ds:schemaRefs>
    <ds:schemaRef ds:uri="http://purl.org/dc/elements/1.1/"/>
    <ds:schemaRef ds:uri="http://schemas.microsoft.com/office/2006/documentManagement/types"/>
    <ds:schemaRef ds:uri="http://www.w3.org/XML/1998/namespace"/>
    <ds:schemaRef ds:uri="79cb7905-fd5d-4fb8-b6ba-3bfa43bb8ac8"/>
    <ds:schemaRef ds:uri="http://purl.org/dc/dcmitype/"/>
    <ds:schemaRef ds:uri="http://schemas.openxmlformats.org/package/2006/metadata/core-properties"/>
    <ds:schemaRef ds:uri="http://schemas.microsoft.com/office/infopath/2007/PartnerControls"/>
    <ds:schemaRef ds:uri="http://purl.org/dc/terms/"/>
    <ds:schemaRef ds:uri="f7508928-13aa-496e-92c2-06b222dfd713"/>
    <ds:schemaRef ds:uri="http://schemas.microsoft.com/office/2006/metadata/properties"/>
  </ds:schemaRefs>
</ds:datastoreItem>
</file>

<file path=docMetadata/LabelInfo.xml><?xml version="1.0" encoding="utf-8"?>
<clbl:labelList xmlns:clbl="http://schemas.microsoft.com/office/2020/mipLabelMetadata">
  <clbl:label id="{ab414c51-c6f2-4403-8b00-bb190e2191b2}" enabled="0" method="" siteId="{ab414c51-c6f2-4403-8b00-bb190e2191b2}" removed="1"/>
</clbl:labelList>
</file>

<file path=docProps/app.xml><?xml version="1.0" encoding="utf-8"?>
<Properties xmlns="http://schemas.openxmlformats.org/officeDocument/2006/extended-properties" xmlns:vt="http://schemas.openxmlformats.org/officeDocument/2006/docPropsVTypes">
  <Template>Office Theme</Template>
  <TotalTime>3213</TotalTime>
  <Words>1436</Words>
  <Application>Microsoft Office PowerPoint</Application>
  <PresentationFormat>On-screen Show (4:3)</PresentationFormat>
  <Paragraphs>252</Paragraphs>
  <Slides>26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-apple-system</vt:lpstr>
      <vt:lpstr>Arial</vt:lpstr>
      <vt:lpstr>Calibri</vt:lpstr>
      <vt:lpstr>Calibri Light</vt:lpstr>
      <vt:lpstr>Tahoma</vt:lpstr>
      <vt:lpstr>Times New Roman</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Lucia K. Ketshabetswe</dc:creator>
  <cp:lastModifiedBy>TSHOTLHE SEIPHEPI</cp:lastModifiedBy>
  <cp:revision>12</cp:revision>
  <dcterms:created xsi:type="dcterms:W3CDTF">2021-10-07T13:58:06Z</dcterms:created>
  <dcterms:modified xsi:type="dcterms:W3CDTF">2026-05-21T01:58:32Z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0x010100BEDFE191AF2D144C8CBCA275A0906B01</vt:lpwstr>
  </property>
</Properties>
</file>