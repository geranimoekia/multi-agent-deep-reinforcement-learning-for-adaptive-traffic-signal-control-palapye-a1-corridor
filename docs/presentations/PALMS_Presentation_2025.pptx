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88952" cy="3566160"/>
          </a:xfrm>
          <a:prstGeom prst="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64592" cy="3566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8E8"/>
                </a:solidFill>
                <a:latin typeface="Calibri"/>
              </a:rPr>
              <a:t>BOTSWANA INTERNATIONAL UNIVERSITY OF SCIENCE AND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DD"/>
                </a:solidFill>
                <a:latin typeface="Calibri"/>
              </a:rPr>
              <a:t>Department of Electrical, Computer and Telecommunications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Adaptive Multi-Agent Reinforcement Learning
for Traffic Signal Optimisation
along the Palapye A1 Urban Corridor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572000"/>
            <a:ext cx="6675120" cy="254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709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Tsotlhe Nayang Seiphepi  |  Student ID: 21001137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749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CCDD"/>
                </a:solidFill>
                <a:latin typeface="Calibri"/>
              </a:rPr>
              <a:t>Supervisor: Dr Bokamoso Basutli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41324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CC"/>
                </a:solidFill>
                <a:latin typeface="Calibri"/>
              </a:rPr>
              <a:t>EEEN510 Final Year Project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325880"/>
            <a:ext cx="1371600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2252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1. Introduction
&amp;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325880"/>
            <a:ext cx="1371600" cy="14630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1952" y="1554480"/>
            <a:ext cx="12252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2. Research
Objectives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325880"/>
            <a:ext cx="1371600" cy="14630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554480"/>
            <a:ext cx="12252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3. System
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01184" y="1325880"/>
            <a:ext cx="1371600" cy="14630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4336" y="1554480"/>
            <a:ext cx="12252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4. Phase 1
SA-PPO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7376" y="1325880"/>
            <a:ext cx="1371600" cy="14630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554480"/>
            <a:ext cx="12252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5. Phase 2
MAPPO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1325880"/>
            <a:ext cx="1371600" cy="14630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554480"/>
            <a:ext cx="12252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6. MAPPO
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1325880"/>
            <a:ext cx="1371600" cy="14630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2912" y="1554480"/>
            <a:ext cx="12252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7. Evaluation
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45952" y="1325880"/>
            <a:ext cx="1371600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19104" y="1554480"/>
            <a:ext cx="12252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8. Conclusions &amp;
Future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Calibri"/>
              </a:rPr>
              <a:t>A two-phase project — from single-agent PPO at one junction to cooperative MAPPO across the full A1 corridor.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Introduction — Why Palapye?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E8"/>
                </a:solidFill>
                <a:latin typeface="Calibri"/>
              </a:rPr>
              <a:t>The problem that motivates this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 Palapye: key transit hub on the A1 highway between Gaborone and Francistown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 Rapid commercial and population growth — Morupule Coal Mine, BIUST campus activity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 Existing signal infrastructure relies on static, pre-timed fixed cycles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 Fixed-time control is blind to queue lengths and cannot adapt to peak demand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 Consequences: chronic congestion, excessive idling, elevated fuel use and emissions</a:t>
            </a:r>
          </a:p>
          <a:p>
            <a:pPr/>
            <a:r>
              <a:rPr sz="1400">
                <a:solidFill>
                  <a:srgbClr val="1A1A2E"/>
                </a:solidFill>
                <a:latin typeface="Calibri"/>
              </a:rPr>
              <a:t>•  Three closely spaced signalised junctions within ~1 km — decisions at one affect the others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234440"/>
            <a:ext cx="4389120" cy="438912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325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5E"/>
                </a:solidFill>
                <a:latin typeface="Calibri"/>
              </a:rPr>
              <a:t>Problem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719072"/>
            <a:ext cx="4023360" cy="254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783080"/>
            <a:ext cx="4069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Urban intersections in Palapye experience chronic congestion and inefficient traffic flow due to fixed-time controllers that cannot adapt to real-time conditions, coordinate across junctions, or respond to varying demand.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67588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Research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005072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solidFill>
                  <a:srgbClr val="1A1A2E"/>
                </a:solidFill>
                <a:latin typeface="Calibri"/>
              </a:rPr>
              <a:t>•  No adaptive / RL controller has been deployed or evaluated on a Botswana signalised network</a:t>
            </a:r>
          </a:p>
          <a:p>
            <a:pPr/>
            <a:r>
              <a:rPr sz="1100">
                <a:solidFill>
                  <a:srgbClr val="1A1A2E"/>
                </a:solidFill>
                <a:latin typeface="Calibri"/>
              </a:rPr>
              <a:t>•  No publicly available traffic count dataset for Palapye intersections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Research Objectives &amp;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0700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  <a:latin typeface="Calibri"/>
              </a:rPr>
              <a:t>Four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YOLOv8 vehicle detection module validated on Palapye footage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SUMO three-intersection A1 corridor model with 6 demand scenarios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MAPPO with Centralised Training, Decentralised Execution (CTDE) for 3 cooperative agents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Quantitative comparison: MAPPO vs SA-PPO vs Fixed-Time across all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1605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  <a:latin typeface="Calibri"/>
              </a:rPr>
              <a:t>Key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526280"/>
            <a:ext cx="5669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First cooperative MARL controller on a real Botswana road network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Reusable SUMO simulation environment — generates training data for future researchers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First quantitative Fixed vs SA-PPO vs MAPPO comparison at the A1 corridor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YOLOv8 pipeline providing a real-world sensing pathway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07008"/>
            <a:ext cx="5486400" cy="5285232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98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5E"/>
                </a:solidFill>
                <a:latin typeface="Calibri"/>
              </a:rPr>
              <a:t>Two-Phase Progression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874519"/>
            <a:ext cx="5120640" cy="20574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9659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E8"/>
                </a:solidFill>
                <a:latin typeface="Calibri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2402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Single-Agent PPO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651759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1 junction · 1 demand scenario
Stable-Baselines3 · ~5M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90448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8E8"/>
                </a:solidFill>
                <a:latin typeface="Calibri"/>
              </a:rPr>
              <a:t>↓  extends 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4206239"/>
            <a:ext cx="5120640" cy="20574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2976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E8"/>
                </a:solidFill>
                <a:latin typeface="Calibr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57199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MAPPO CTDE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83479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3 junctions · 6 scenarios · curriculum
Custom MAPPO · 1.5M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E8"/>
                </a:solidFill>
                <a:latin typeface="Calibri"/>
              </a:rPr>
              <a:t>From camera sensing to adaptive signal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2148840"/>
            <a:ext cx="1965960" cy="15544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31720"/>
            <a:ext cx="1819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Camera / YOLOv8
Vehicle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824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75E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2148840"/>
            <a:ext cx="1965960" cy="1554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331720"/>
            <a:ext cx="1819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Traffic State
Extraction
(queue, wait, speed)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824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75E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73168" y="2148840"/>
            <a:ext cx="1965960" cy="15544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1819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RL Controller
Policy Decision
(PPO / MAPPO)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824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75E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59168" y="2148840"/>
            <a:ext cx="1965960" cy="1554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331720"/>
            <a:ext cx="1819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SUMO + TraCI
Signal Actuation
(phase command)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824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75E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45168" y="2148840"/>
            <a:ext cx="1965960" cy="15544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331720"/>
            <a:ext cx="1819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Performance
Metrics
(delay, throughput,
pressure)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886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E6DA4"/>
                </a:solidFill>
                <a:latin typeface="Calibri"/>
              </a:rPr>
              <a:t>↺  feedback loop: performance metrics drive next policy update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343400"/>
            <a:ext cx="3520440" cy="201168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41655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SUMO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5488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Real Palapye A1 geometry
3 signalised junctions
6 demand scenarios
Step-length: 3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343400"/>
            <a:ext cx="3520440" cy="201168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41655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MAPPO CTDE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75488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Shared Actor (22-dim obs per agent)
Centralised Critic (66-dim joint state)
Cooperative reward (global waiting time)
3 agents, parameter sharing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4343400"/>
            <a:ext cx="3520440" cy="2011680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9" y="441655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YOLOv8 Module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475488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Anchor-free detection head
Validated on Palapye footage
Queue length estimation
Future: integrate into SUMO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1: Single-Agent PPO vs Fixed-Time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E8"/>
                </a:solidFill>
                <a:latin typeface="Calibri"/>
              </a:rPr>
              <a:t>Single intersection  |  9,000 simulation timesteps  |  5 demand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298448"/>
            <a:ext cx="21945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53312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6184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8A4C"/>
                </a:solidFill>
                <a:latin typeface="Calibri"/>
              </a:rPr>
              <a:t>+48.5%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" y="21214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p &lt; 0.001  |  d = 0.156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8608" y="1298448"/>
            <a:ext cx="21945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353312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Queue Length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6184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8A4C"/>
                </a:solidFill>
                <a:latin typeface="Calibri"/>
              </a:rPr>
              <a:t>−27.8%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4328" y="21214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p &lt; 0.001  |  d = 0.253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1298448"/>
            <a:ext cx="21945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353312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Traffic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16184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8A4C"/>
                </a:solidFill>
                <a:latin typeface="Calibri"/>
              </a:rPr>
              <a:t>−27.3%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21214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p &lt; 0.001  |  d = 0.239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3488" y="1298448"/>
            <a:ext cx="21945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1353312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Delay (aggregate)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16184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B35"/>
                </a:solidFill>
                <a:latin typeface="Calibri"/>
              </a:rPr>
              <a:t>−10.1%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21214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Negligible  |  d = 0.131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10928" y="1298448"/>
            <a:ext cx="21945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353312"/>
            <a:ext cx="2048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Stop Ratio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16184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B35"/>
                </a:solidFill>
                <a:latin typeface="Calibri"/>
              </a:rPr>
              <a:t>−3.6%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648" y="21214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p = 0.017  |  d = 0.042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26974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E6DA4"/>
                </a:solidFill>
                <a:latin typeface="Calibri"/>
              </a:rPr>
              <a:t>PPO achieved statistically significant improvements in the three highest-value metrics.  Delay aggregate is misleading — phase-specific analysis shows 50–68% improvement during heavy and peak demand.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383280"/>
            <a:ext cx="2743200" cy="33832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4107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Demand Phase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383280"/>
            <a:ext cx="2194560" cy="33832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4107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Delay improv.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3383280"/>
            <a:ext cx="2194560" cy="33832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34107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Queue improv.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3383280"/>
            <a:ext cx="2194560" cy="33832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34107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Throughput improv.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721608"/>
            <a:ext cx="2743200" cy="33832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7490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Light (0–60 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721608"/>
            <a:ext cx="2194560" cy="33832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37490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8A4C"/>
                </a:solidFill>
                <a:latin typeface="Calibri"/>
              </a:rPr>
              <a:t>+64.8%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3721608"/>
            <a:ext cx="2194560" cy="33832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37490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Calibri"/>
              </a:rPr>
              <a:t>−1.5%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35240" y="3721608"/>
            <a:ext cx="2194560" cy="33832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37490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+—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059936"/>
            <a:ext cx="2743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0873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Heavy (120–180 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6120" y="4059936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0" y="40873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8A4C"/>
                </a:solidFill>
                <a:latin typeface="Calibri"/>
              </a:rPr>
              <a:t>+68.2%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4059936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40873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8A4C"/>
                </a:solidFill>
                <a:latin typeface="Calibri"/>
              </a:rPr>
              <a:t>+100%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35240" y="4059936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40873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8A4C"/>
                </a:solidFill>
                <a:latin typeface="Calibri"/>
              </a:rPr>
              <a:t>+100%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398264"/>
            <a:ext cx="2743200" cy="33832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42569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Peak (180–240 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6120" y="4398264"/>
            <a:ext cx="2194560" cy="33832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0" y="44256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8A4C"/>
                </a:solidFill>
                <a:latin typeface="Calibri"/>
              </a:rPr>
              <a:t>+50.1%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40680" y="4398264"/>
            <a:ext cx="2194560" cy="33832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0" y="44256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Calibri"/>
              </a:rPr>
              <a:t>−34.4%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35240" y="4398264"/>
            <a:ext cx="2194560" cy="33832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0" y="44256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Calibri"/>
              </a:rPr>
              <a:t>−20.9%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736592"/>
            <a:ext cx="2743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76402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8A4C"/>
                </a:solidFill>
                <a:latin typeface="Calibri"/>
              </a:rPr>
              <a:t>Extended (300 s+)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120" y="4736592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0" y="47640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  <a:latin typeface="Calibri"/>
              </a:rPr>
              <a:t>−11.7%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40680" y="4736592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0" y="47640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8A4C"/>
                </a:solidFill>
                <a:latin typeface="Calibri"/>
              </a:rPr>
              <a:t>+29.9%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35240" y="4736592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80960" y="47640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8A4C"/>
                </a:solidFill>
                <a:latin typeface="Calibri"/>
              </a:rPr>
              <a:t>+39.8%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51206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Training: ~5M steps  |  Stable-Baselines3 PPO  |  Reward converged at −230 around 600k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2: MAPPO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E8"/>
                </a:solidFill>
                <a:latin typeface="Calibri"/>
              </a:rPr>
              <a:t>Centralised Training, Decentralised Execution — 3 cooperative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070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  <a:latin typeface="Calibri"/>
              </a:rPr>
              <a:t>Why MAPPO?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72768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Single-agent PPO has no cross-junction visibility — cannot anticipate spillback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Fixed-time controller cycles blindly regardless of queue state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MAPPO: each agent observes its own 22-dim local state for execution...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...but a centralised critic sees the full 66-dim joint state during training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Global cooperative reward aligns agents toward minimising network-wide waiting time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Green wave pre-computation biases agents toward coordinated platoon release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3-stage curriculum: simple → moderate → all 6 scenarios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983480"/>
            <a:ext cx="5577840" cy="1417320"/>
          </a:xfrm>
          <a:prstGeom prst="rect">
            <a:avLst/>
          </a:prstGeom>
          <a:solidFill>
            <a:srgbClr val="E4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0474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  <a:latin typeface="Calibri"/>
              </a:rPr>
              <a:t>Observation (22 dims per agent):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32180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Queue counts (incoming/outgoing) • Waiting time per lane • Stop ratio • Current phase one-hot • Phase timer • Green-wave offset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  <a:latin typeface="Calibri"/>
              </a:rPr>
              <a:t>Action space: Discrete(3)  —  3 green phase configurations per junction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298448"/>
            <a:ext cx="5669280" cy="74980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0817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Local Obs o₁ (22-dim)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212848"/>
            <a:ext cx="5669280" cy="74980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32257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Local Obs o₂ (22-dim)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127248"/>
            <a:ext cx="5669280" cy="74980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23697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Local Obs o₃ (22-dim)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041648"/>
            <a:ext cx="5669280" cy="7498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15137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Shared Actor πθ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5138928"/>
            <a:ext cx="5669280" cy="74980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524865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Centralised Critic Vϕ
(joint state 66-dim)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6B35"/>
                </a:solidFill>
                <a:latin typeface="Calibri"/>
              </a:rPr>
              <a:t>Training Only 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A8E8"/>
                </a:solidFill>
                <a:latin typeface="Calibri"/>
              </a:rPr>
              <a:t>Execution Only 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MAPPO Training Setup &amp; Demand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070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  <a:latin typeface="Calibri"/>
              </a:rPr>
              <a:t>Training Hyperparameters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2560320" cy="320040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62763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Total timesteps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600200"/>
            <a:ext cx="2743200" cy="320040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5224" y="162763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1,500,000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2560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194767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Parallel environments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1920240"/>
            <a:ext cx="27432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5224" y="194767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40280"/>
            <a:ext cx="2560320" cy="320040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226771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Episode length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240280"/>
            <a:ext cx="2743200" cy="320040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26771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500 steps × 3 s = 25 min sim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60320"/>
            <a:ext cx="2560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" y="258775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PPO clip 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2560320"/>
            <a:ext cx="27432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35224" y="258775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80360"/>
            <a:ext cx="2560320" cy="320040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290779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GAE λ / discount 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2880360"/>
            <a:ext cx="2743200" cy="320040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35224" y="290779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0.95 / 0.99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200400"/>
            <a:ext cx="2560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" y="322783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Learning rate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3200400"/>
            <a:ext cx="27432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35224" y="322783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3×10⁻⁴ (Adam)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520440"/>
            <a:ext cx="2560320" cy="320040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" y="354787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Entropy coefficient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3520440"/>
            <a:ext cx="2743200" cy="320040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35224" y="354787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840480"/>
            <a:ext cx="2560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" y="386791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Training hardware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3840480"/>
            <a:ext cx="27432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35224" y="386791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Intel Core i7 CPU, 16 GB RAM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160520"/>
            <a:ext cx="2560320" cy="320040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" y="4187952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Approx. training 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4160520"/>
            <a:ext cx="2743200" cy="320040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35224" y="418795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3–4 hours (CPU-only)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12070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  <a:latin typeface="Calibri"/>
              </a:rPr>
              <a:t>6 Demand Scenarios (curriculum rotation)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1664208"/>
            <a:ext cx="1719072" cy="822960"/>
          </a:xfrm>
          <a:prstGeom prst="rect">
            <a:avLst/>
          </a:prstGeom>
          <a:solidFill>
            <a:srgbClr val="06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6792" y="170992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792" y="20116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Off-peak, minimal vehicles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1664208"/>
            <a:ext cx="1719072" cy="8229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65592" y="170992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65592" y="20116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Average daily flow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21240" y="1664208"/>
            <a:ext cx="171907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94392" y="170992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rush_hour_am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94392" y="20116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Morning rush inbound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2596896"/>
            <a:ext cx="171907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36792" y="2642616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rush_hour_pm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294436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Evening rush outbound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2596896"/>
            <a:ext cx="1719072" cy="8229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65592" y="2642616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holiday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65592" y="294436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Heavy through-traffic, few turns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21240" y="2596896"/>
            <a:ext cx="1719072" cy="8229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94392" y="2642616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incident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94392" y="294436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Partial closure, asymmetric demand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35661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  <a:latin typeface="Calibri"/>
              </a:rPr>
              <a:t>3-Stage Curriculum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393192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Stage 1 — low + normal (simple demand; establishes queue-clearing behaviour)</a:t>
            </a:r>
          </a:p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Stage 2 — adds rush_hour_am / rush_hour_pm (moderate congestion; learns phase extension)</a:t>
            </a:r>
          </a:p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Stage 3 — all 6 scenarios including holiday + incident (full demand diversity)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54864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6DA4"/>
                </a:solidFill>
                <a:latin typeface="Calibri"/>
              </a:rPr>
              <a:t>Reward: r = −Σ tanh(wait_i / (n_lanes · 60)) across all 3 junctions  (cooperative signal)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MAPPO Training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E8"/>
                </a:solidFill>
                <a:latin typeface="Calibri"/>
              </a:rPr>
              <a:t>1.5 million environment steps — key diagnostic curves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2880360" cy="2057400"/>
          </a:xfrm>
          <a:prstGeom prst="rect">
            <a:avLst/>
          </a:prstGeom>
          <a:solidFill>
            <a:srgbClr val="06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29844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Mean Training Reward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1664208"/>
            <a:ext cx="269748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773936"/>
            <a:ext cx="269748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Starts −15, rises steeply to −11 by 200k steps,
plateaus near −9 from 1M steps onward.
Residual oscillations = multi-agent non-stationarity.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207008"/>
            <a:ext cx="2880360" cy="20574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29844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Evaluation Reward (most important)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664208"/>
            <a:ext cx="269748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773936"/>
            <a:ext cx="269748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Rises from −9 → near −2 by 1.5M steps.
78% reduction in evaluation penalty.
Clean plateau beyond 1M steps confirms
stable, generalisable cooperative policy.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207008"/>
            <a:ext cx="2880360" cy="20574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29844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Critic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1664208"/>
            <a:ext cx="269748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773936"/>
            <a:ext cx="269748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Starts at 4.5 (uninitialised critic).
Drops sharply to ~1.5 as critic fits returns.
Stabilises at 1.4–1.6 — prerequisite for
reliable advantage estimation.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53728" y="1207008"/>
            <a:ext cx="2880360" cy="2057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29844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Policy Entropy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45168" y="1664208"/>
            <a:ext cx="269748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1773936"/>
            <a:ext cx="269748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Begins near 0.95 (near-uniform over phases).
Decreases to ~0.3 at convergence.
Retains residual entropy: confident but
not collapsed — healthy MAPPO profile.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4290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All curves shown with exponential smoothing to reveal trend; raw signals retained as supplementary evidence.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858768"/>
            <a:ext cx="11612880" cy="242316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50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  <a:latin typeface="Calibri"/>
              </a:rPr>
              <a:t>Actor Loss Arc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325112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Actor loss begins near −0.004, rises to −0.002 mid-training (large gradients as policy moves away from random init), then decreases to −0.003 as PPO clipping activates less often and updates become conservative. No sharp spikes or sign changes confirm the clipping prevented any destabilising update.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5262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  <a:latin typeface="Calibri"/>
              </a:rPr>
              <a:t>Overall: clean convergence with cooperative policy emerging around 400k–800k steps.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507492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The evaluation reward plateau at −2 (vs −9 at start) is the key evidence that MAPPO learned a stable, generalisable cooperative policy across all six demand 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MAPPO Evaluation Results — Waiting Time &amp; Queue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E8"/>
                </a:solidFill>
                <a:latin typeface="Calibri"/>
              </a:rPr>
              <a:t>Measured exclusively at TL_A (junction 6073919354) across all 6 scenarios  |  n=3 episodes per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070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  <a:latin typeface="Calibri"/>
              </a:rPr>
              <a:t>Mean Waiting Time per Lane (s) at TL_A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72768"/>
            <a:ext cx="182880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" y="1600200"/>
            <a:ext cx="17556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572768"/>
            <a:ext cx="91440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85416" y="1600200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MAPPO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572768"/>
            <a:ext cx="100584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9816" y="1600200"/>
            <a:ext cx="9326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Fixed-Time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1572768"/>
            <a:ext cx="91440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5656" y="1600200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572768"/>
            <a:ext cx="118872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0056" y="1600200"/>
            <a:ext cx="11155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MAPPO vs Fixed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897380"/>
            <a:ext cx="18288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1924812"/>
            <a:ext cx="17556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1897380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5416" y="1924812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1897380"/>
            <a:ext cx="100584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9816" y="1924812"/>
            <a:ext cx="9326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0.97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1897380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05656" y="1924812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0.92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1897380"/>
            <a:ext cx="118872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0056" y="1924812"/>
            <a:ext cx="11155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−94.3%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221992"/>
            <a:ext cx="18288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" y="2249424"/>
            <a:ext cx="17556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normal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2221992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85416" y="2249424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2221992"/>
            <a:ext cx="100584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9816" y="2249424"/>
            <a:ext cx="9326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2.18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2221992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05656" y="2249424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1.38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2221992"/>
            <a:ext cx="118872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0056" y="2249424"/>
            <a:ext cx="11155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−91.4%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546604"/>
            <a:ext cx="18288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" y="2574036"/>
            <a:ext cx="17556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rush_hour_am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48840" y="2546604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85416" y="2574036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4.02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546604"/>
            <a:ext cx="100584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9816" y="2574036"/>
            <a:ext cx="9326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5.90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2546604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05656" y="2574036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13.71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83480" y="2546604"/>
            <a:ext cx="118872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0056" y="2574036"/>
            <a:ext cx="11155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−31.8%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2871216"/>
            <a:ext cx="18288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" y="2898648"/>
            <a:ext cx="17556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rush_hour_pm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48840" y="2871216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85416" y="2898648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0.07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2871216"/>
            <a:ext cx="100584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99816" y="2898648"/>
            <a:ext cx="9326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2.49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69080" y="2871216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05656" y="2898648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1.76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83480" y="2871216"/>
            <a:ext cx="118872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0056" y="2898648"/>
            <a:ext cx="11155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−97.3%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195828"/>
            <a:ext cx="18288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6616" y="3223260"/>
            <a:ext cx="17556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holiday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48840" y="3195828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85416" y="3223260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0.35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63240" y="3195828"/>
            <a:ext cx="100584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99816" y="3223260"/>
            <a:ext cx="9326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5.73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69080" y="3195828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05656" y="3223260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3.39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3195828"/>
            <a:ext cx="118872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0056" y="3223260"/>
            <a:ext cx="11155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−93.9%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3520440"/>
            <a:ext cx="18288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6616" y="3547872"/>
            <a:ext cx="17556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incident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48840" y="3520440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185416" y="3547872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3520440"/>
            <a:ext cx="100584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99816" y="3547872"/>
            <a:ext cx="9326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1.34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69080" y="3520440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05656" y="3547872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2.49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83480" y="3520440"/>
            <a:ext cx="118872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0056" y="3547872"/>
            <a:ext cx="11155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−93.5%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0" y="120700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  <a:latin typeface="Calibri"/>
              </a:rPr>
              <a:t>Mean Queue Length (halting vehicles / lane) at TL_A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2200" y="1572768"/>
            <a:ext cx="169164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08776" y="1600200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863840" y="1572768"/>
            <a:ext cx="91440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00416" y="1600200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MAPPO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78240" y="1572768"/>
            <a:ext cx="91440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14816" y="1600200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Fixed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692640" y="1572768"/>
            <a:ext cx="141732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29216" y="1600200"/>
            <a:ext cx="1344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MAPPO vs Fixed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2200" y="1897380"/>
            <a:ext cx="169164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1924812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low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863840" y="1897380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00416" y="1924812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778240" y="1897380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814816" y="1924812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0.04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92640" y="1897380"/>
            <a:ext cx="141732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729216" y="1924812"/>
            <a:ext cx="1344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−69.5%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72200" y="2221992"/>
            <a:ext cx="169164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08776" y="2249424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normal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63840" y="2221992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00416" y="2249424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0.02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2221992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814816" y="2249424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92640" y="2221992"/>
            <a:ext cx="141732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729216" y="2249424"/>
            <a:ext cx="1344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−75.3%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72200" y="2546604"/>
            <a:ext cx="169164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08776" y="2574036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rush_hour_am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863840" y="2546604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00416" y="2574036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0.29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778240" y="2546604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814816" y="2574036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0.29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692640" y="2546604"/>
            <a:ext cx="141732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729216" y="2574036"/>
            <a:ext cx="1344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+2.1% ≈ same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72200" y="2871216"/>
            <a:ext cx="169164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08776" y="2898648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rush_hour_pm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863840" y="2871216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900416" y="2898648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0.02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778240" y="2871216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814816" y="2898648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0.10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692640" y="2871216"/>
            <a:ext cx="141732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729216" y="2898648"/>
            <a:ext cx="1344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−84.1%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72200" y="3195828"/>
            <a:ext cx="169164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208776" y="3223260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holiday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863840" y="3195828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900416" y="3223260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0.06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778240" y="3195828"/>
            <a:ext cx="91440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814816" y="3223260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0.24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692640" y="3195828"/>
            <a:ext cx="141732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729216" y="3223260"/>
            <a:ext cx="1344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−75.9%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172200" y="3520440"/>
            <a:ext cx="169164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208776" y="3547872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incident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863840" y="3520440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900416" y="3547872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0.02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778240" y="3520440"/>
            <a:ext cx="91440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814816" y="3547872"/>
            <a:ext cx="84124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0.06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692640" y="3520440"/>
            <a:ext cx="141732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729216" y="3547872"/>
            <a:ext cx="1344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−70.5%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0040" y="4315968"/>
            <a:ext cx="11521440" cy="196596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  <a:latin typeface="Calibri"/>
              </a:rPr>
              <a:t>Key Insights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" y="4754880"/>
            <a:ext cx="11247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Waiting time: MAPPO reduces wait by 31.8% to 97.3% across ALL six scenarios</a:t>
            </a:r>
          </a:p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rush_hour_am: queue is demand-bound (both controllers equal at 0.29) — but MAPPO still cuts wait by 31.8% and boosts throughput +20.9%</a:t>
            </a:r>
          </a:p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holiday + incident: largest absolute wait reductions — MAPPO learns to hold empty phases and extend congested ones</a:t>
            </a:r>
          </a:p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Two scenarios (normal, incident): MAPPO accepts ~10% less throughput to achieve 91–94% wait reduction — expected reward trade-off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Evaluation Results — Throughput &amp; Controller Comparison at TL_A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E8"/>
                </a:solidFill>
                <a:latin typeface="Calibri"/>
              </a:rPr>
              <a:t>All metrics at TL_A; MAPPO on triple-intersection network, SPPO &amp; Fixed on single-intersection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070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  <a:latin typeface="Calibri"/>
              </a:rPr>
              <a:t>Total Throughput (vehicles crossing TL_A per episode)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72768"/>
            <a:ext cx="169164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" y="1600200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572768"/>
            <a:ext cx="86868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48256" y="1600200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MAPPO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1572768"/>
            <a:ext cx="86868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1600200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1572768"/>
            <a:ext cx="242316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6" y="1600200"/>
            <a:ext cx="23500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MAPPO vs Fixed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897380"/>
            <a:ext cx="169164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" y="1924812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897380"/>
            <a:ext cx="86868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48256" y="1924812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13.67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1897380"/>
            <a:ext cx="86868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6936" y="1924812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13.67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1897380"/>
            <a:ext cx="242316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5616" y="1924812"/>
            <a:ext cx="23500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0.0% (demand-limited)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221992"/>
            <a:ext cx="169164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2249424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normal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221992"/>
            <a:ext cx="86868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48256" y="2249424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20.33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2221992"/>
            <a:ext cx="86868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16936" y="2249424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22.33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0" y="2221992"/>
            <a:ext cx="242316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85616" y="2249424"/>
            <a:ext cx="23500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−9.0% (wait traded)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546604"/>
            <a:ext cx="169164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2574036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rush_hour_am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2546604"/>
            <a:ext cx="86868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48256" y="2574036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90.67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360" y="2546604"/>
            <a:ext cx="86868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16936" y="2574036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75.00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40" y="2546604"/>
            <a:ext cx="242316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85616" y="2574036"/>
            <a:ext cx="23500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+20.9%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871216"/>
            <a:ext cx="169164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" y="2898648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rush_hour_pm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0" y="2871216"/>
            <a:ext cx="86868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48256" y="2898648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13.67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0360" y="2871216"/>
            <a:ext cx="86868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16936" y="2898648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12.33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40" y="2871216"/>
            <a:ext cx="242316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85616" y="2898648"/>
            <a:ext cx="23500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+10.8%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195828"/>
            <a:ext cx="169164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" y="3223260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holiday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0" y="3195828"/>
            <a:ext cx="86868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48256" y="3223260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81.67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80360" y="3195828"/>
            <a:ext cx="86868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16936" y="3223260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64.33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49040" y="3195828"/>
            <a:ext cx="242316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85616" y="3223260"/>
            <a:ext cx="23500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+26.9%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3520440"/>
            <a:ext cx="169164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6616" y="3547872"/>
            <a:ext cx="16184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incident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11680" y="3520440"/>
            <a:ext cx="86868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48256" y="3547872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18.00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80360" y="3520440"/>
            <a:ext cx="86868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16936" y="3547872"/>
            <a:ext cx="795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20.00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49040" y="3520440"/>
            <a:ext cx="242316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85616" y="3547872"/>
            <a:ext cx="23500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8A4C"/>
                </a:solidFill>
                <a:latin typeface="Calibri"/>
              </a:rPr>
              <a:t>−10.0% (wait traded)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12070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  <a:latin typeface="Calibri"/>
              </a:rPr>
              <a:t>3-Controller Comparison at TL_A (per-step time-series)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1600200"/>
            <a:ext cx="1691640" cy="28346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16916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Fixed-Time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212848"/>
            <a:ext cx="150876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2331720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Cycles A→B→C→D every 15 steps
No queue awareness
Baseline — worst overall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0" y="41605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8110728" y="1600200"/>
            <a:ext cx="1691640" cy="2834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02168" y="16916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SPPO
(SA-PPO)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02168" y="2212848"/>
            <a:ext cx="150876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02168" y="2331720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PPO on single-intersection
Local observation only
Better than Fixed;
cannot coordinate corridor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19288" y="41605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  <a:latin typeface="Calibri"/>
              </a:rPr>
              <a:t>← Worse          Better →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03536" y="1600200"/>
            <a:ext cx="1691640" cy="2834640"/>
          </a:xfrm>
          <a:prstGeom prst="rect">
            <a:avLst/>
          </a:prstGeom>
          <a:solidFill>
            <a:srgbClr val="06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94976" y="16916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MAPPO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94976" y="2212848"/>
            <a:ext cx="150876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94976" y="2331720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 cooperative agents
CTDE — global reward
Best on all metrics
except demand-limited cases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12096" y="41605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4617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  <a:latin typeface="Calibri"/>
              </a:rPr>
              <a:t>Performance hierarchy: MAPPO &gt; SPPO &gt; Fixed-Time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502920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Per-step time-series at TL_A confirm consistently lower waiting times, queue lengths, stop ratios and pressures under MAPPO throughout the full 1800-second simulation.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4663440"/>
            <a:ext cx="5577840" cy="150876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4754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Cross-Junction Behaviour (MAPPO only)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51206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Green-wave coordination: TL_A releases platoon → TL_B/C widen receiving phase in step.
Holiday: agents hold main-road phase longer (fewer phase switches).
Incident: consolidates green on congested approach, drops empty-phase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YOLOv8 Vehicle Detection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E8"/>
                </a:solidFill>
                <a:latin typeface="Calibri"/>
              </a:rPr>
              <a:t>Camera-based sensing pipeline — validated on Palapye footage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070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  <a:latin typeface="Calibri"/>
              </a:rPr>
              <a:t>Why YOLOv8?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72768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Anchor-free detection head — better small-object recall, fewer hyperparameters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Single-stage (one forward pass) — &gt;100 FPS on mid-range GPU, suitable for real-time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Instance-level bounding boxes — separate overlapping vehicles that fool blob detectors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Trained on diverse lighting and weather conditions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Outperforms classical OpenCV MOG2 on all criteria for outdoor intersection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  <a:latin typeface="Calibri"/>
              </a:rPr>
              <a:t>OpenCV MOG2 vs YOLOv8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97680"/>
            <a:ext cx="201168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" y="4325112"/>
            <a:ext cx="1938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Criterion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4297680"/>
            <a:ext cx="150876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68296" y="4325112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OpenCV MOG2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4297680"/>
            <a:ext cx="1508760" cy="3246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7056" y="4325112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YOLOv8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622292"/>
            <a:ext cx="201168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" y="4649724"/>
            <a:ext cx="1938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Lighting robustness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4622292"/>
            <a:ext cx="150876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8296" y="4649724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Poor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4622292"/>
            <a:ext cx="150876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77056" y="4649724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Good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946904"/>
            <a:ext cx="201168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4974336"/>
            <a:ext cx="1938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Occlusion handling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4946904"/>
            <a:ext cx="150876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68296" y="4974336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Poor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946904"/>
            <a:ext cx="150876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77056" y="4974336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Good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271516"/>
            <a:ext cx="201168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" y="5298948"/>
            <a:ext cx="1938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Detection accuracy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5271516"/>
            <a:ext cx="150876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68296" y="5298948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~90% (cars)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5271516"/>
            <a:ext cx="150876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77056" y="5298948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&gt;90% (all classes)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596128"/>
            <a:ext cx="201168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" y="5623560"/>
            <a:ext cx="1938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Queue estimation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31720" y="5596128"/>
            <a:ext cx="150876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68296" y="5623560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Indirect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5596128"/>
            <a:ext cx="1508760" cy="3246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77056" y="5623560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Direct (stationary bbox count)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920740"/>
            <a:ext cx="201168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" y="5948172"/>
            <a:ext cx="19385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Selected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31720" y="5920740"/>
            <a:ext cx="150876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68296" y="5948172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5920740"/>
            <a:ext cx="1508760" cy="324612"/>
          </a:xfrm>
          <a:prstGeom prst="rect">
            <a:avLst/>
          </a:prstGeom>
          <a:solidFill>
            <a:srgbClr val="F0F5FB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77056" y="5948172"/>
            <a:ext cx="143560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1207008"/>
            <a:ext cx="6035040" cy="516636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1298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  <a:latin typeface="Calibri"/>
              </a:rPr>
              <a:t>Current 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1664208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Module implemented and validated on sample Palapye traffic footage</a:t>
            </a:r>
          </a:p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Queue length estimation: stationary bounding box count per approach arm</a:t>
            </a:r>
          </a:p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Vehicle classes detected: car, truck, motorcycle, bus</a:t>
            </a:r>
          </a:p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Independent validation only — not yet integrated into SUMO training loop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34015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Future Integration Pathway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3767328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Deploy calibrated camera at one A1 junction</a:t>
            </a:r>
          </a:p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Validate queue estimates against manual counts (detection accuracy table)</a:t>
            </a:r>
          </a:p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Replace SUMO TraCI observation with live YOLO estimates in MAPPO obs pipeline</a:t>
            </a:r>
          </a:p>
          <a:p>
            <a:pPr/>
            <a:r>
              <a:rPr sz="1200">
                <a:solidFill>
                  <a:srgbClr val="1A1A2E"/>
                </a:solidFill>
                <a:latin typeface="Calibri"/>
              </a:rPr>
              <a:t>•  Closed-loop adaptive control: real camera → YOLO → MAPPO policy → signal actuation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548640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1A375E"/>
                </a:solidFill>
                <a:latin typeface="Calibri"/>
              </a:rPr>
              <a:t>Vision: real-world deployment replaces SUMO TraCI with live YOLOv8 observations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070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  <a:latin typeface="Calibri"/>
              </a:rPr>
              <a:t>Phase 1: Single-Agent PPO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27632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Trained on one isolated SUMO junction; 9,000 timesteps, 5 demand phases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48.5% throughput improvement, 27.8% queue reduction, 27.3% pressure reduction vs Fixed (p &lt; 0.001)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Phase-specific: 50–68% delay improvement during peak/heavy demand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Established quantitative benchmark for Phase 2 to surpass at network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90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  <a:latin typeface="Calibri"/>
              </a:rPr>
              <a:t>Phase 2: MAPPO Multi-Intersection 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93008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All three A1 junctions controlled cooperatively; 1.5M steps; 6 demand scenarios; 3-stage curriculum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Evaluation reward: 78% reduction in penalty over training; clean plateau at −2 confirms convergence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At TL_A vs Fixed-Time: waiting time reduced 31.8–97.3% across all 6 scenarios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Throughput: +10.8% to +26.9% in high-demand scenarios; small wait-vs-throughput trade-off under light demand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Emergent cross-junction coordination: green wave progression, incident-adaptive phase consolidation</a:t>
            </a:r>
          </a:p>
          <a:p>
            <a:pPr/>
            <a:r>
              <a:rPr sz="1300">
                <a:solidFill>
                  <a:srgbClr val="1A1A2E"/>
                </a:solidFill>
                <a:latin typeface="Calibri"/>
              </a:rPr>
              <a:t>•  First reported cooperative MARL evaluation on a Botswana signalised corridor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458968"/>
            <a:ext cx="11521440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55040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 proved RL can learn adaptive signal control at a single junction.  Phase 2 demonstrated cooperative MARL extends that capability to the full A1 corridor — delivering measurably stronger performance where single-agent and fixed-time approaches fail.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Recommendations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EEEN510 FYP  |  Tsotlhe Nayang Seiphepi  |  21001137  |  BIUST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07008"/>
            <a:ext cx="5120640" cy="7498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52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Field Traffic Count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Obtain real turning movement counts from the Botswana Department of Roads to calibrate the SUMO model against actual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1207008"/>
            <a:ext cx="5120640" cy="7498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252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Camera Calibration + YOLO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5544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Deploy calibrated camera at one A1 junction; validate queue estimates; integrate into the MAPPO observation pipeline for closed-loop control.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048256"/>
            <a:ext cx="5120640" cy="7498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093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Actuated Baseline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3957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Add a gap-based or Webster-optimised actuated controller as a more technically rigorous comparator beyond fixed-time.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2048256"/>
            <a:ext cx="5120640" cy="7498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2093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Safety: Pedestrian Phases &amp; Emergency Pre-emption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3957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Add pedestrian crossing phases, minimum green guarantees, and emergency vehicle pre-emption to meet Botswana road safety standards.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889504"/>
            <a:ext cx="5120640" cy="749808"/>
          </a:xfrm>
          <a:prstGeom prst="rect">
            <a:avLst/>
          </a:prstGeom>
          <a:solidFill>
            <a:srgbClr val="06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9352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Extended Training + Multi-Seed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2369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Scale to 5–10M steps with GPU acceleration; run multiple random seeds to quantify result variance and statistical robustness.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2889504"/>
            <a:ext cx="5120640" cy="749808"/>
          </a:xfrm>
          <a:prstGeom prst="rect">
            <a:avLst/>
          </a:prstGeom>
          <a:solidFill>
            <a:srgbClr val="06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Emissions-Aware Reward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2369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Incorporate fuel-consumption / idle-time penalty to align the control objective with Palapye air quality goals.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730752"/>
            <a:ext cx="5120640" cy="74980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776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Hardware Deployment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0782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Define signal controller API, camera mounting specs, processing unit requirements, latency budget, and failsafe fallback to fixed-time.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3730752"/>
            <a:ext cx="5120640" cy="74980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3776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Continual Learning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0782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Every live run generates timestep-level data; build a dataset pipeline that enables periodic fine-tuning from real-world observations.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7373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651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434840"/>
            <a:ext cx="5760720" cy="254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5720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A8E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2578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CCDD"/>
                </a:solidFill>
                <a:latin typeface="Calibri"/>
              </a:rPr>
              <a:t>Tsotlhe Nayang Seiphepi  |  21001137  |  tsotlhenayangseiphepi@gmail.com
Supervisor: Dr Bokamoso Basutli  |  BIUST  |  EEEN510 FYP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