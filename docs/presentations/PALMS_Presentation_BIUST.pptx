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20"/>
  </p:notesMasterIdLst>
  <p:sldIdLst>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1557B4-8982-46E4-A58D-D437394E3B18}" v="2" dt="2025-09-19T10:47:40.0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FYP</a:t>
            </a:r>
            <a:r>
              <a:rPr lang="en-US" baseline="0"/>
              <a:t> PROJECT TIMELINE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strRef>
              <c:f>Sheet1!$B$1</c:f>
              <c:strCache>
                <c:ptCount val="1"/>
                <c:pt idx="0">
                  <c:v>Start Week</c:v>
                </c:pt>
              </c:strCache>
            </c:strRef>
          </c:tx>
          <c:spPr>
            <a:solidFill>
              <a:schemeClr val="accent1"/>
            </a:solidFill>
            <a:ln>
              <a:noFill/>
            </a:ln>
            <a:effectLst/>
          </c:spPr>
          <c:invertIfNegative val="0"/>
          <c:dPt>
            <c:idx val="0"/>
            <c:invertIfNegative val="0"/>
            <c:bubble3D val="0"/>
            <c:spPr>
              <a:noFill/>
              <a:ln>
                <a:noFill/>
              </a:ln>
              <a:effectLst/>
            </c:spPr>
            <c:extLst>
              <c:ext xmlns:c16="http://schemas.microsoft.com/office/drawing/2014/chart" uri="{C3380CC4-5D6E-409C-BE32-E72D297353CC}">
                <c16:uniqueId val="{00000001-AD53-46E9-BE64-4E5953C3EA30}"/>
              </c:ext>
            </c:extLst>
          </c:dPt>
          <c:dPt>
            <c:idx val="1"/>
            <c:invertIfNegative val="0"/>
            <c:bubble3D val="0"/>
            <c:spPr>
              <a:noFill/>
              <a:ln>
                <a:noFill/>
              </a:ln>
              <a:effectLst/>
            </c:spPr>
            <c:extLst>
              <c:ext xmlns:c16="http://schemas.microsoft.com/office/drawing/2014/chart" uri="{C3380CC4-5D6E-409C-BE32-E72D297353CC}">
                <c16:uniqueId val="{00000003-AD53-46E9-BE64-4E5953C3EA30}"/>
              </c:ext>
            </c:extLst>
          </c:dPt>
          <c:dPt>
            <c:idx val="2"/>
            <c:invertIfNegative val="0"/>
            <c:bubble3D val="0"/>
            <c:spPr>
              <a:noFill/>
              <a:ln>
                <a:noFill/>
              </a:ln>
              <a:effectLst/>
            </c:spPr>
            <c:extLst>
              <c:ext xmlns:c16="http://schemas.microsoft.com/office/drawing/2014/chart" uri="{C3380CC4-5D6E-409C-BE32-E72D297353CC}">
                <c16:uniqueId val="{00000005-AD53-46E9-BE64-4E5953C3EA30}"/>
              </c:ext>
            </c:extLst>
          </c:dPt>
          <c:dPt>
            <c:idx val="3"/>
            <c:invertIfNegative val="0"/>
            <c:bubble3D val="0"/>
            <c:spPr>
              <a:noFill/>
              <a:ln>
                <a:noFill/>
              </a:ln>
              <a:effectLst/>
            </c:spPr>
            <c:extLst>
              <c:ext xmlns:c16="http://schemas.microsoft.com/office/drawing/2014/chart" uri="{C3380CC4-5D6E-409C-BE32-E72D297353CC}">
                <c16:uniqueId val="{00000007-AD53-46E9-BE64-4E5953C3EA30}"/>
              </c:ext>
            </c:extLst>
          </c:dPt>
          <c:cat>
            <c:strRef>
              <c:f>Sheet1!$A$2:$A$5</c:f>
              <c:strCache>
                <c:ptCount val="4"/>
                <c:pt idx="0">
                  <c:v>Project Idea &amp; Documentation</c:v>
                </c:pt>
                <c:pt idx="1">
                  <c:v>System Requirements &amp; Components</c:v>
                </c:pt>
                <c:pt idx="2">
                  <c:v>Project Proposal Presentation</c:v>
                </c:pt>
                <c:pt idx="3">
                  <c:v>Circuit Design &amp; Simulations</c:v>
                </c:pt>
              </c:strCache>
            </c:strRef>
          </c:cat>
          <c:val>
            <c:numRef>
              <c:f>Sheet1!$B$2:$B$5</c:f>
              <c:numCache>
                <c:formatCode>General</c:formatCode>
                <c:ptCount val="4"/>
                <c:pt idx="0">
                  <c:v>1</c:v>
                </c:pt>
                <c:pt idx="1">
                  <c:v>4</c:v>
                </c:pt>
                <c:pt idx="2">
                  <c:v>5</c:v>
                </c:pt>
                <c:pt idx="3">
                  <c:v>6</c:v>
                </c:pt>
              </c:numCache>
            </c:numRef>
          </c:val>
          <c:extLst>
            <c:ext xmlns:c16="http://schemas.microsoft.com/office/drawing/2014/chart" uri="{C3380CC4-5D6E-409C-BE32-E72D297353CC}">
              <c16:uniqueId val="{00000008-AD53-46E9-BE64-4E5953C3EA30}"/>
            </c:ext>
          </c:extLst>
        </c:ser>
        <c:ser>
          <c:idx val="1"/>
          <c:order val="1"/>
          <c:tx>
            <c:strRef>
              <c:f>Sheet1!$E$1</c:f>
              <c:strCache>
                <c:ptCount val="1"/>
                <c:pt idx="0">
                  <c:v>Duration</c:v>
                </c:pt>
              </c:strCache>
            </c:strRef>
          </c:tx>
          <c:spPr>
            <a:solidFill>
              <a:srgbClr val="00B050"/>
            </a:solidFill>
            <a:ln>
              <a:noFill/>
            </a:ln>
            <a:effectLst/>
          </c:spPr>
          <c:invertIfNegative val="0"/>
          <c:cat>
            <c:strRef>
              <c:f>Sheet1!$A$2:$A$5</c:f>
              <c:strCache>
                <c:ptCount val="4"/>
                <c:pt idx="0">
                  <c:v>Project Idea &amp; Documentation</c:v>
                </c:pt>
                <c:pt idx="1">
                  <c:v>System Requirements &amp; Components</c:v>
                </c:pt>
                <c:pt idx="2">
                  <c:v>Project Proposal Presentation</c:v>
                </c:pt>
                <c:pt idx="3">
                  <c:v>Circuit Design &amp; Simulations</c:v>
                </c:pt>
              </c:strCache>
            </c:strRef>
          </c:cat>
          <c:val>
            <c:numRef>
              <c:f>Sheet1!$E$2:$E$5</c:f>
              <c:numCache>
                <c:formatCode>General</c:formatCode>
                <c:ptCount val="4"/>
                <c:pt idx="0">
                  <c:v>4</c:v>
                </c:pt>
                <c:pt idx="1">
                  <c:v>1</c:v>
                </c:pt>
                <c:pt idx="2">
                  <c:v>1</c:v>
                </c:pt>
                <c:pt idx="3">
                  <c:v>6</c:v>
                </c:pt>
              </c:numCache>
            </c:numRef>
          </c:val>
          <c:extLst>
            <c:ext xmlns:c16="http://schemas.microsoft.com/office/drawing/2014/chart" uri="{C3380CC4-5D6E-409C-BE32-E72D297353CC}">
              <c16:uniqueId val="{00000009-AD53-46E9-BE64-4E5953C3EA30}"/>
            </c:ext>
          </c:extLst>
        </c:ser>
        <c:dLbls>
          <c:showLegendKey val="0"/>
          <c:showVal val="0"/>
          <c:showCatName val="0"/>
          <c:showSerName val="0"/>
          <c:showPercent val="0"/>
          <c:showBubbleSize val="0"/>
        </c:dLbls>
        <c:gapWidth val="150"/>
        <c:overlap val="100"/>
        <c:axId val="338282496"/>
        <c:axId val="551841104"/>
      </c:barChart>
      <c:catAx>
        <c:axId val="338282496"/>
        <c:scaling>
          <c:orientation val="maxMin"/>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Activies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1841104"/>
        <c:crosses val="autoZero"/>
        <c:auto val="1"/>
        <c:lblAlgn val="ctr"/>
        <c:lblOffset val="100"/>
        <c:noMultiLvlLbl val="0"/>
      </c:catAx>
      <c:valAx>
        <c:axId val="551841104"/>
        <c:scaling>
          <c:orientation val="minMax"/>
        </c:scaling>
        <c:delete val="0"/>
        <c:axPos val="t"/>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Weeks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382824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W"/>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E3742E-659B-4C84-AB38-1914BEEA2BA1}" type="datetimeFigureOut">
              <a:rPr lang="en-BW" smtClean="0"/>
              <a:t>05/20/2026</a:t>
            </a:fld>
            <a:endParaRPr lang="en-BW"/>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BW"/>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W"/>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W"/>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9FAE7D-D556-4059-9699-0D4C10290972}" type="slidenum">
              <a:rPr lang="en-BW" smtClean="0"/>
              <a:t>‹#›</a:t>
            </a:fld>
            <a:endParaRPr lang="en-BW"/>
          </a:p>
        </p:txBody>
      </p:sp>
    </p:spTree>
    <p:extLst>
      <p:ext uri="{BB962C8B-B14F-4D97-AF65-F5344CB8AC3E}">
        <p14:creationId xmlns:p14="http://schemas.microsoft.com/office/powerpoint/2010/main" val="350393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a:t>
            </a:r>
          </a:p>
          <a:p>
            <a:endParaRPr lang="en-US" dirty="0"/>
          </a:p>
        </p:txBody>
      </p:sp>
      <p:sp>
        <p:nvSpPr>
          <p:cNvPr id="4" name="Slide Number Placeholder 3"/>
          <p:cNvSpPr>
            <a:spLocks noGrp="1"/>
          </p:cNvSpPr>
          <p:nvPr>
            <p:ph type="sldNum" sz="quarter" idx="5"/>
          </p:nvPr>
        </p:nvSpPr>
        <p:spPr/>
        <p:txBody>
          <a:bodyPr/>
          <a:lstStyle/>
          <a:p>
            <a:fld id="{689FAE7D-D556-4059-9699-0D4C10290972}" type="slidenum">
              <a:rPr lang="en-BW" smtClean="0"/>
              <a:t>1</a:t>
            </a:fld>
            <a:endParaRPr lang="en-BW"/>
          </a:p>
        </p:txBody>
      </p:sp>
    </p:spTree>
    <p:extLst>
      <p:ext uri="{BB962C8B-B14F-4D97-AF65-F5344CB8AC3E}">
        <p14:creationId xmlns:p14="http://schemas.microsoft.com/office/powerpoint/2010/main" val="4268049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9FAE7D-D556-4059-9699-0D4C10290972}" type="slidenum">
              <a:rPr lang="en-BW" smtClean="0"/>
              <a:t>5</a:t>
            </a:fld>
            <a:endParaRPr lang="en-BW"/>
          </a:p>
        </p:txBody>
      </p:sp>
    </p:spTree>
    <p:extLst>
      <p:ext uri="{BB962C8B-B14F-4D97-AF65-F5344CB8AC3E}">
        <p14:creationId xmlns:p14="http://schemas.microsoft.com/office/powerpoint/2010/main" val="1934844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FF9187E-FFA9-40B4-BCB1-100FF485DB19}" type="datetime8">
              <a:rPr lang="en-BW" smtClean="0"/>
              <a:t>05/20/2026 02:56</a:t>
            </a:fld>
            <a:endParaRPr lang="en-BW"/>
          </a:p>
        </p:txBody>
      </p:sp>
      <p:sp>
        <p:nvSpPr>
          <p:cNvPr id="5" name="Footer Placeholder 4"/>
          <p:cNvSpPr>
            <a:spLocks noGrp="1"/>
          </p:cNvSpPr>
          <p:nvPr>
            <p:ph type="ftr" sz="quarter" idx="11"/>
          </p:nvPr>
        </p:nvSpPr>
        <p:spPr/>
        <p:txBody>
          <a:bodyPr/>
          <a:lstStyle/>
          <a:p>
            <a:endParaRPr lang="en-BW"/>
          </a:p>
        </p:txBody>
      </p:sp>
      <p:sp>
        <p:nvSpPr>
          <p:cNvPr id="6" name="Slide Number Placeholder 5"/>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3399913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C6AC79-5773-42C3-8913-2775B5654BDC}" type="datetime8">
              <a:rPr lang="en-BW" smtClean="0"/>
              <a:t>05/20/2026 02:56</a:t>
            </a:fld>
            <a:endParaRPr lang="en-BW"/>
          </a:p>
        </p:txBody>
      </p:sp>
      <p:sp>
        <p:nvSpPr>
          <p:cNvPr id="5" name="Footer Placeholder 4"/>
          <p:cNvSpPr>
            <a:spLocks noGrp="1"/>
          </p:cNvSpPr>
          <p:nvPr>
            <p:ph type="ftr" sz="quarter" idx="11"/>
          </p:nvPr>
        </p:nvSpPr>
        <p:spPr/>
        <p:txBody>
          <a:bodyPr/>
          <a:lstStyle/>
          <a:p>
            <a:endParaRPr lang="en-BW"/>
          </a:p>
        </p:txBody>
      </p:sp>
      <p:sp>
        <p:nvSpPr>
          <p:cNvPr id="6" name="Slide Number Placeholder 5"/>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52159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B294FD5-E321-45AF-98F4-34B4412A6B22}" type="datetime8">
              <a:rPr lang="en-BW" smtClean="0"/>
              <a:t>05/20/2026 02:56</a:t>
            </a:fld>
            <a:endParaRPr lang="en-BW"/>
          </a:p>
        </p:txBody>
      </p:sp>
      <p:sp>
        <p:nvSpPr>
          <p:cNvPr id="5" name="Footer Placeholder 4"/>
          <p:cNvSpPr>
            <a:spLocks noGrp="1"/>
          </p:cNvSpPr>
          <p:nvPr>
            <p:ph type="ftr" sz="quarter" idx="11"/>
          </p:nvPr>
        </p:nvSpPr>
        <p:spPr/>
        <p:txBody>
          <a:bodyPr/>
          <a:lstStyle/>
          <a:p>
            <a:endParaRPr lang="en-BW"/>
          </a:p>
        </p:txBody>
      </p:sp>
      <p:sp>
        <p:nvSpPr>
          <p:cNvPr id="6" name="Slide Number Placeholder 5"/>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636728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CB494EC-EE40-448D-B857-59DBAEDEBE40}" type="datetime8">
              <a:rPr lang="en-BW" smtClean="0"/>
              <a:t>05/20/2026 02:56</a:t>
            </a:fld>
            <a:endParaRPr lang="en-BW"/>
          </a:p>
        </p:txBody>
      </p:sp>
      <p:sp>
        <p:nvSpPr>
          <p:cNvPr id="6" name="Footer Placeholder 5"/>
          <p:cNvSpPr>
            <a:spLocks noGrp="1"/>
          </p:cNvSpPr>
          <p:nvPr>
            <p:ph type="ftr" sz="quarter" idx="11"/>
          </p:nvPr>
        </p:nvSpPr>
        <p:spPr/>
        <p:txBody>
          <a:bodyPr/>
          <a:lstStyle/>
          <a:p>
            <a:endParaRPr lang="en-BW"/>
          </a:p>
        </p:txBody>
      </p:sp>
      <p:sp>
        <p:nvSpPr>
          <p:cNvPr id="7" name="Slide Number Placeholder 6"/>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2477581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94FD51-E875-4995-97B8-7EEFEB9FB353}" type="datetime8">
              <a:rPr lang="en-BW" smtClean="0"/>
              <a:t>05/20/2026 02:56</a:t>
            </a:fld>
            <a:endParaRPr lang="en-BW"/>
          </a:p>
        </p:txBody>
      </p:sp>
      <p:sp>
        <p:nvSpPr>
          <p:cNvPr id="8" name="Footer Placeholder 7"/>
          <p:cNvSpPr>
            <a:spLocks noGrp="1"/>
          </p:cNvSpPr>
          <p:nvPr>
            <p:ph type="ftr" sz="quarter" idx="11"/>
          </p:nvPr>
        </p:nvSpPr>
        <p:spPr/>
        <p:txBody>
          <a:bodyPr/>
          <a:lstStyle/>
          <a:p>
            <a:endParaRPr lang="en-BW"/>
          </a:p>
        </p:txBody>
      </p:sp>
      <p:sp>
        <p:nvSpPr>
          <p:cNvPr id="9" name="Slide Number Placeholder 8"/>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2089448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44A7EDF-EB88-4E55-8427-2C7D95901739}" type="datetime8">
              <a:rPr lang="en-BW" smtClean="0"/>
              <a:t>05/20/2026 02:56</a:t>
            </a:fld>
            <a:endParaRPr lang="en-BW"/>
          </a:p>
        </p:txBody>
      </p:sp>
      <p:sp>
        <p:nvSpPr>
          <p:cNvPr id="4" name="Footer Placeholder 3"/>
          <p:cNvSpPr>
            <a:spLocks noGrp="1"/>
          </p:cNvSpPr>
          <p:nvPr>
            <p:ph type="ftr" sz="quarter" idx="11"/>
          </p:nvPr>
        </p:nvSpPr>
        <p:spPr/>
        <p:txBody>
          <a:bodyPr/>
          <a:lstStyle/>
          <a:p>
            <a:endParaRPr lang="en-BW"/>
          </a:p>
        </p:txBody>
      </p:sp>
      <p:sp>
        <p:nvSpPr>
          <p:cNvPr id="5" name="Slide Number Placeholder 4"/>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1020792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3B499-A31D-41BD-B6E4-69815B193A01}" type="datetime8">
              <a:rPr lang="en-BW" smtClean="0"/>
              <a:t>05/20/2026 02:56</a:t>
            </a:fld>
            <a:endParaRPr lang="en-BW"/>
          </a:p>
        </p:txBody>
      </p:sp>
      <p:sp>
        <p:nvSpPr>
          <p:cNvPr id="3" name="Footer Placeholder 2"/>
          <p:cNvSpPr>
            <a:spLocks noGrp="1"/>
          </p:cNvSpPr>
          <p:nvPr>
            <p:ph type="ftr" sz="quarter" idx="11"/>
          </p:nvPr>
        </p:nvSpPr>
        <p:spPr/>
        <p:txBody>
          <a:bodyPr/>
          <a:lstStyle/>
          <a:p>
            <a:endParaRPr lang="en-BW"/>
          </a:p>
        </p:txBody>
      </p:sp>
      <p:sp>
        <p:nvSpPr>
          <p:cNvPr id="4" name="Slide Number Placeholder 3"/>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3469658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01D611A-B717-4F13-A163-42428EA6ACFD}" type="datetime8">
              <a:rPr lang="en-BW" smtClean="0"/>
              <a:t>05/20/2026 02:56</a:t>
            </a:fld>
            <a:endParaRPr lang="en-BW"/>
          </a:p>
        </p:txBody>
      </p:sp>
      <p:sp>
        <p:nvSpPr>
          <p:cNvPr id="6" name="Footer Placeholder 5"/>
          <p:cNvSpPr>
            <a:spLocks noGrp="1"/>
          </p:cNvSpPr>
          <p:nvPr>
            <p:ph type="ftr" sz="quarter" idx="11"/>
          </p:nvPr>
        </p:nvSpPr>
        <p:spPr/>
        <p:txBody>
          <a:bodyPr/>
          <a:lstStyle/>
          <a:p>
            <a:endParaRPr lang="en-BW"/>
          </a:p>
        </p:txBody>
      </p:sp>
      <p:sp>
        <p:nvSpPr>
          <p:cNvPr id="7" name="Slide Number Placeholder 6"/>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4154418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3A46EF0-A025-4B05-B375-2F927B249A57}" type="datetime8">
              <a:rPr lang="en-BW" smtClean="0"/>
              <a:t>05/20/2026 02:56</a:t>
            </a:fld>
            <a:endParaRPr lang="en-BW"/>
          </a:p>
        </p:txBody>
      </p:sp>
      <p:sp>
        <p:nvSpPr>
          <p:cNvPr id="6" name="Footer Placeholder 5"/>
          <p:cNvSpPr>
            <a:spLocks noGrp="1"/>
          </p:cNvSpPr>
          <p:nvPr>
            <p:ph type="ftr" sz="quarter" idx="11"/>
          </p:nvPr>
        </p:nvSpPr>
        <p:spPr/>
        <p:txBody>
          <a:bodyPr/>
          <a:lstStyle/>
          <a:p>
            <a:endParaRPr lang="en-BW"/>
          </a:p>
        </p:txBody>
      </p:sp>
      <p:sp>
        <p:nvSpPr>
          <p:cNvPr id="7" name="Slide Number Placeholder 6"/>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682627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14886C-BD01-49B2-A8E1-27AB7E94EC54}" type="datetime8">
              <a:rPr lang="en-BW" smtClean="0"/>
              <a:t>05/20/2026 02:56</a:t>
            </a:fld>
            <a:endParaRPr lang="en-BW"/>
          </a:p>
        </p:txBody>
      </p:sp>
      <p:sp>
        <p:nvSpPr>
          <p:cNvPr id="5" name="Footer Placeholder 4"/>
          <p:cNvSpPr>
            <a:spLocks noGrp="1"/>
          </p:cNvSpPr>
          <p:nvPr>
            <p:ph type="ftr" sz="quarter" idx="11"/>
          </p:nvPr>
        </p:nvSpPr>
        <p:spPr/>
        <p:txBody>
          <a:bodyPr/>
          <a:lstStyle/>
          <a:p>
            <a:endParaRPr lang="en-BW"/>
          </a:p>
        </p:txBody>
      </p:sp>
      <p:sp>
        <p:nvSpPr>
          <p:cNvPr id="6" name="Slide Number Placeholder 5"/>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1607945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8EBF9C-9856-4B73-9F9D-488FEB29050D}" type="datetime8">
              <a:rPr lang="en-BW" smtClean="0"/>
              <a:t>05/20/2026 02:56</a:t>
            </a:fld>
            <a:endParaRPr lang="en-BW"/>
          </a:p>
        </p:txBody>
      </p:sp>
      <p:sp>
        <p:nvSpPr>
          <p:cNvPr id="5" name="Footer Placeholder 4"/>
          <p:cNvSpPr>
            <a:spLocks noGrp="1"/>
          </p:cNvSpPr>
          <p:nvPr>
            <p:ph type="ftr" sz="quarter" idx="11"/>
          </p:nvPr>
        </p:nvSpPr>
        <p:spPr/>
        <p:txBody>
          <a:bodyPr/>
          <a:lstStyle/>
          <a:p>
            <a:endParaRPr lang="en-BW"/>
          </a:p>
        </p:txBody>
      </p:sp>
      <p:sp>
        <p:nvSpPr>
          <p:cNvPr id="6" name="Slide Number Placeholder 5"/>
          <p:cNvSpPr>
            <a:spLocks noGrp="1"/>
          </p:cNvSpPr>
          <p:nvPr>
            <p:ph type="sldNum" sz="quarter" idx="12"/>
          </p:nvPr>
        </p:nvSpPr>
        <p:spPr/>
        <p:txBody>
          <a:bodyPr/>
          <a:lstStyle/>
          <a:p>
            <a:fld id="{21004690-02AB-4EF8-9513-CB283ECF7991}" type="slidenum">
              <a:rPr lang="en-BW" smtClean="0"/>
              <a:t>‹#›</a:t>
            </a:fld>
            <a:endParaRPr lang="en-BW"/>
          </a:p>
        </p:txBody>
      </p:sp>
    </p:spTree>
    <p:extLst>
      <p:ext uri="{BB962C8B-B14F-4D97-AF65-F5344CB8AC3E}">
        <p14:creationId xmlns:p14="http://schemas.microsoft.com/office/powerpoint/2010/main" val="351557220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C18F4C-3B4F-475A-B134-0F78DE8B6A93}" type="datetime8">
              <a:rPr lang="en-BW" smtClean="0"/>
              <a:t>05/20/2026 02:56</a:t>
            </a:fld>
            <a:endParaRPr lang="en-BW"/>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W"/>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004690-02AB-4EF8-9513-CB283ECF7991}" type="slidenum">
              <a:rPr lang="en-BW" smtClean="0"/>
              <a:t>‹#›</a:t>
            </a:fld>
            <a:endParaRPr lang="en-BW"/>
          </a:p>
        </p:txBody>
      </p:sp>
    </p:spTree>
    <p:extLst>
      <p:ext uri="{BB962C8B-B14F-4D97-AF65-F5344CB8AC3E}">
        <p14:creationId xmlns:p14="http://schemas.microsoft.com/office/powerpoint/2010/main" val="186815669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emf"/><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 Id="rId3" Type="http://schemas.openxmlformats.org/officeDocument/2006/relationships/image" Target="../media/image2.png"/><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 Id="rId3" Type="http://schemas.openxmlformats.org/officeDocument/2006/relationships/image" Target="../media/image2.png"/><Relationship Id="rId4" Type="http://schemas.openxmlformats.org/officeDocument/2006/relationships/image" Target="../media/image1.emf"/><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 Id="rId3" Type="http://schemas.openxmlformats.org/officeDocument/2006/relationships/image" Target="../media/image2.png"/><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emf"/><Relationship Id="rId4" Type="http://schemas.openxmlformats.org/officeDocument/2006/relationships/image" Target="../media/image2.png"/><Relationship Id="rId5" Type="http://schemas.openxmlformats.org/officeDocument/2006/relationships/image" Target="../media/image1.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 Id="rId3" Type="http://schemas.openxmlformats.org/officeDocument/2006/relationships/image" Target="../media/image2.png"/><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 Id="rId3" Type="http://schemas.openxmlformats.org/officeDocument/2006/relationships/image" Target="../media/image2.png"/><Relationship Id="rId4" Type="http://schemas.openxmlformats.org/officeDocument/2006/relationships/image" Target="../media/image1.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 Id="rId3" Type="http://schemas.openxmlformats.org/officeDocument/2006/relationships/image" Target="../media/image2.png"/><Relationship Id="rId4" Type="http://schemas.openxmlformats.org/officeDocument/2006/relationships/image" Target="../media/image1.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 Id="rId3" Type="http://schemas.openxmlformats.org/officeDocument/2006/relationships/image" Target="../media/image2.png"/><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 Id="rId3" Type="http://schemas.openxmlformats.org/officeDocument/2006/relationships/image" Target="../media/image2.png"/><Relationship Id="rId4" Type="http://schemas.openxmlformats.org/officeDocument/2006/relationships/image" Target="../media/image1.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 Id="rId3" Type="http://schemas.openxmlformats.org/officeDocument/2006/relationships/image" Target="../media/image2.png"/><Relationship Id="rId4" Type="http://schemas.openxmlformats.org/officeDocument/2006/relationships/image" Target="../media/image1.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 Id="rId3" Type="http://schemas.openxmlformats.org/officeDocument/2006/relationships/image" Target="../media/image2.png"/><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 Id="rId3" Type="http://schemas.openxmlformats.org/officeDocument/2006/relationships/image" Target="../media/image2.png"/><Relationship Id="rId4" Type="http://schemas.openxmlformats.org/officeDocument/2006/relationships/image" Target="../media/image1.emf"/><Relationship Id="rId5"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 Id="rId3" Type="http://schemas.openxmlformats.org/officeDocument/2006/relationships/image" Target="../media/image2.png"/><Relationship Id="rId4" Type="http://schemas.openxmlformats.org/officeDocument/2006/relationships/image" Target="../media/image1.emf"/><Relationship Id="rId5" Type="http://schemas.openxmlformats.org/officeDocument/2006/relationships/hyperlink" Target="https://ops.fhwa.dot.gov/publications/fhwahop08024/chapter1.ht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 Id="rId3" Type="http://schemas.openxmlformats.org/officeDocument/2006/relationships/image" Target="../media/image2.png"/><Relationship Id="rId4" Type="http://schemas.openxmlformats.org/officeDocument/2006/relationships/image" Target="../media/image1.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emf"/><Relationship Id="rId3"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emf"/><Relationship Id="rId4" Type="http://schemas.openxmlformats.org/officeDocument/2006/relationships/image" Target="../media/image1.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emf"/><Relationship Id="rId4" Type="http://schemas.openxmlformats.org/officeDocument/2006/relationships/image" Target="../media/image1.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emf"/><Relationship Id="rId4" Type="http://schemas.openxmlformats.org/officeDocument/2006/relationships/image" Target="../media/image1.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emf"/><Relationship Id="rId4" Type="http://schemas.openxmlformats.org/officeDocument/2006/relationships/image" Target="../media/image1.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emf"/><Relationship Id="rId4" Type="http://schemas.openxmlformats.org/officeDocument/2006/relationships/image" Target="../media/image1.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emf"/><Relationship Id="rId4" Type="http://schemas.openxmlformats.org/officeDocument/2006/relationships/image" Target="../media/image1.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emf"/><Relationship Id="rId4" Type="http://schemas.openxmlformats.org/officeDocument/2006/relationships/image" Target="../media/image1.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emf"/><Relationship Id="rId4" Type="http://schemas.openxmlformats.org/officeDocument/2006/relationships/image" Target="../media/image1.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emf"/><Relationship Id="rId4" Type="http://schemas.openxmlformats.org/officeDocument/2006/relationships/image" Target="../media/image1.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emf"/><Relationship Id="rId4" Type="http://schemas.openxmlformats.org/officeDocument/2006/relationships/image" Target="../media/image1.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emf"/><Relationship Id="rId4" Type="http://schemas.openxmlformats.org/officeDocument/2006/relationships/image" Target="../media/image1.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emf"/><Relationship Id="rId4" Type="http://schemas.openxmlformats.org/officeDocument/2006/relationships/image" Target="../media/image1.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emf"/><Relationship Id="rId4" Type="http://schemas.openxmlformats.org/officeDocument/2006/relationships/image" Target="../media/image1.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emf"/><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2382EE1-E91E-4A2A-B9C3-CAAF9C673CF0}"/>
              </a:ext>
            </a:extLst>
          </p:cNvPr>
          <p:cNvSpPr txBox="1">
            <a:spLocks/>
          </p:cNvSpPr>
          <p:nvPr/>
        </p:nvSpPr>
        <p:spPr>
          <a:xfrm>
            <a:off x="27857" y="35807"/>
            <a:ext cx="632777" cy="819821"/>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a:t>
            </a:r>
          </a:p>
        </p:txBody>
      </p:sp>
      <p:sp>
        <p:nvSpPr>
          <p:cNvPr id="5" name="Title 1">
            <a:extLst>
              <a:ext uri="{FF2B5EF4-FFF2-40B4-BE49-F238E27FC236}">
                <a16:creationId xmlns:a16="http://schemas.microsoft.com/office/drawing/2014/main" id="{14310272-04F5-454A-8972-5C74287C0CF8}"/>
              </a:ext>
            </a:extLst>
          </p:cNvPr>
          <p:cNvSpPr txBox="1">
            <a:spLocks/>
          </p:cNvSpPr>
          <p:nvPr/>
        </p:nvSpPr>
        <p:spPr>
          <a:xfrm>
            <a:off x="914400" y="39461"/>
            <a:ext cx="8058150" cy="465364"/>
          </a:xfrm>
          <a:prstGeom prst="rect">
            <a:avLst/>
          </a:prstGeom>
          <a:solidFill>
            <a:srgbClr val="FB823F"/>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800" dirty="0">
                <a:solidFill>
                  <a:schemeClr val="bg1"/>
                </a:solidFill>
                <a:latin typeface="Tahoma" panose="020B0604030504040204" pitchFamily="34" charset="0"/>
                <a:ea typeface="Tahoma" panose="020B0604030504040204" pitchFamily="34" charset="0"/>
                <a:cs typeface="Tahoma" panose="020B0604030504040204" pitchFamily="34" charset="0"/>
              </a:rPr>
              <a:t>PROJECT PROPOSAL </a:t>
            </a:r>
          </a:p>
        </p:txBody>
      </p:sp>
      <p:pic>
        <p:nvPicPr>
          <p:cNvPr id="9" name="Picture 8">
            <a:extLst>
              <a:ext uri="{FF2B5EF4-FFF2-40B4-BE49-F238E27FC236}">
                <a16:creationId xmlns:a16="http://schemas.microsoft.com/office/drawing/2014/main" id="{253AEFA3-9403-4DDC-B77B-9C58A689BBA1}"/>
              </a:ext>
            </a:extLst>
          </p:cNvPr>
          <p:cNvPicPr>
            <a:picLocks noChangeAspect="1"/>
          </p:cNvPicPr>
          <p:nvPr/>
        </p:nvPicPr>
        <p:blipFill>
          <a:blip r:embed="rId3"/>
          <a:stretch>
            <a:fillRect/>
          </a:stretch>
        </p:blipFill>
        <p:spPr>
          <a:xfrm>
            <a:off x="0" y="6603109"/>
            <a:ext cx="9144000" cy="254891"/>
          </a:xfrm>
          <a:prstGeom prst="rect">
            <a:avLst/>
          </a:prstGeom>
        </p:spPr>
      </p:pic>
      <p:pic>
        <p:nvPicPr>
          <p:cNvPr id="10" name="Picture 9">
            <a:extLst>
              <a:ext uri="{FF2B5EF4-FFF2-40B4-BE49-F238E27FC236}">
                <a16:creationId xmlns:a16="http://schemas.microsoft.com/office/drawing/2014/main" id="{8F313493-882D-4291-9453-EC81D9BB9EE4}"/>
              </a:ext>
            </a:extLst>
          </p:cNvPr>
          <p:cNvPicPr>
            <a:picLocks noChangeAspect="1"/>
          </p:cNvPicPr>
          <p:nvPr/>
        </p:nvPicPr>
        <p:blipFill>
          <a:blip r:embed="rId4"/>
          <a:stretch>
            <a:fillRect/>
          </a:stretch>
        </p:blipFill>
        <p:spPr>
          <a:xfrm>
            <a:off x="4098367" y="6377285"/>
            <a:ext cx="1113605" cy="451648"/>
          </a:xfrm>
          <a:prstGeom prst="rect">
            <a:avLst/>
          </a:prstGeom>
        </p:spPr>
      </p:pic>
      <p:pic>
        <p:nvPicPr>
          <p:cNvPr id="7" name="Picture 6" descr="A logo with text and a clock&#10;&#10;AI-generated content may be incorrect.">
            <a:extLst>
              <a:ext uri="{FF2B5EF4-FFF2-40B4-BE49-F238E27FC236}">
                <a16:creationId xmlns:a16="http://schemas.microsoft.com/office/drawing/2014/main" id="{720CB2E7-EE0F-4826-AA64-F66EE325B9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03021" y="557923"/>
            <a:ext cx="2537958" cy="1189943"/>
          </a:xfrm>
          <a:prstGeom prst="rect">
            <a:avLst/>
          </a:prstGeom>
        </p:spPr>
      </p:pic>
      <p:sp>
        <p:nvSpPr>
          <p:cNvPr id="15" name="Content Placeholder 2">
            <a:extLst>
              <a:ext uri="{FF2B5EF4-FFF2-40B4-BE49-F238E27FC236}">
                <a16:creationId xmlns:a16="http://schemas.microsoft.com/office/drawing/2014/main" id="{BF4CD33E-9FE2-0C3C-1AD9-3A43422C6F55}"/>
              </a:ext>
            </a:extLst>
          </p:cNvPr>
          <p:cNvSpPr>
            <a:spLocks noGrp="1"/>
          </p:cNvSpPr>
          <p:nvPr/>
        </p:nvSpPr>
        <p:spPr>
          <a:xfrm>
            <a:off x="114300" y="2013381"/>
            <a:ext cx="8915400" cy="432421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dirty="0">
                <a:latin typeface="Times New Roman" panose="02020603050405020304" pitchFamily="18" charset="0"/>
                <a:cs typeface="Times New Roman" panose="02020603050405020304" pitchFamily="18" charset="0"/>
              </a:rPr>
              <a:t>SCHOOL OF ELECTRICAL AND MECHANICAL</a:t>
            </a:r>
          </a:p>
          <a:p>
            <a:pPr marL="0" indent="0" algn="ctr">
              <a:buNone/>
            </a:pPr>
            <a:r>
              <a:rPr lang="en-GB" sz="2200" dirty="0">
                <a:latin typeface="Times New Roman" panose="02020603050405020304" pitchFamily="18" charset="0"/>
                <a:cs typeface="Times New Roman" panose="02020603050405020304" pitchFamily="18" charset="0"/>
              </a:rPr>
              <a:t>DEPARTMENT OF ELECTRICAL,COMPUTER AND TELECOMMUNICATIONS</a:t>
            </a:r>
          </a:p>
          <a:p>
            <a:pPr marL="0" indent="0" algn="ctr">
              <a:buNone/>
            </a:pPr>
            <a:endParaRPr lang="en-GB" sz="2400" dirty="0">
              <a:latin typeface="Times New Roman" panose="02020603050405020304" pitchFamily="18" charset="0"/>
              <a:cs typeface="Times New Roman" panose="02020603050405020304" pitchFamily="18" charset="0"/>
            </a:endParaRPr>
          </a:p>
          <a:p>
            <a:pPr marL="0" indent="0" algn="ctr">
              <a:buNone/>
            </a:pPr>
            <a:r>
              <a:rPr lang="en-GB" sz="2400" b="1" dirty="0">
                <a:latin typeface="Times New Roman" panose="02020603050405020304" pitchFamily="18" charset="0"/>
                <a:cs typeface="Times New Roman" panose="02020603050405020304" pitchFamily="18" charset="0"/>
              </a:rPr>
              <a:t>OPTIMZATION OF TRAFFIC LIGHT CONTROL SYSTEMS IN URBAN INTERSECTIONS: PALAPYE</a:t>
            </a:r>
          </a:p>
          <a:p>
            <a:pPr marL="0" indent="0" algn="ctr">
              <a:buNone/>
            </a:pPr>
            <a:endParaRPr lang="en-GB" sz="2400" dirty="0">
              <a:latin typeface="Times New Roman" panose="02020603050405020304" pitchFamily="18" charset="0"/>
              <a:cs typeface="Times New Roman" panose="02020603050405020304" pitchFamily="18" charset="0"/>
            </a:endParaRPr>
          </a:p>
          <a:p>
            <a:pPr marL="0" indent="0" algn="ctr">
              <a:buNone/>
            </a:pPr>
            <a:r>
              <a:rPr lang="en-GB" sz="2400" dirty="0">
                <a:latin typeface="Times New Roman" panose="02020603050405020304" pitchFamily="18" charset="0"/>
                <a:cs typeface="Times New Roman" panose="02020603050405020304" pitchFamily="18" charset="0"/>
              </a:rPr>
              <a:t>EEEN 510 Final Year Project</a:t>
            </a:r>
          </a:p>
          <a:p>
            <a:pPr marL="0" indent="0" algn="just">
              <a:buNone/>
            </a:pPr>
            <a:r>
              <a:rPr lang="en-GB" sz="2400" dirty="0">
                <a:latin typeface="Times New Roman" panose="02020603050405020304" pitchFamily="18" charset="0"/>
                <a:cs typeface="Times New Roman" panose="02020603050405020304" pitchFamily="18" charset="0"/>
              </a:rPr>
              <a:t>TSOTLHE NAYANG SEIPHEPI</a:t>
            </a:r>
          </a:p>
          <a:p>
            <a:pPr marL="0" indent="0" algn="just">
              <a:buNone/>
            </a:pPr>
            <a:r>
              <a:rPr lang="en-GB" sz="2400" dirty="0">
                <a:latin typeface="Times New Roman" panose="02020603050405020304" pitchFamily="18" charset="0"/>
                <a:cs typeface="Times New Roman" panose="02020603050405020304" pitchFamily="18" charset="0"/>
              </a:rPr>
              <a:t>21001137</a:t>
            </a:r>
          </a:p>
          <a:p>
            <a:pPr marL="0" indent="0" algn="just">
              <a:buNone/>
            </a:pPr>
            <a:r>
              <a:rPr lang="en-GB" sz="2400" dirty="0">
                <a:latin typeface="Times New Roman" panose="02020603050405020304" pitchFamily="18" charset="0"/>
                <a:cs typeface="Times New Roman" panose="02020603050405020304" pitchFamily="18" charset="0"/>
              </a:rPr>
              <a:t>Supervisor: Dr Bokamoso </a:t>
            </a:r>
            <a:r>
              <a:rPr lang="en-GB" sz="2400" dirty="0" err="1">
                <a:latin typeface="Times New Roman" panose="02020603050405020304" pitchFamily="18" charset="0"/>
                <a:cs typeface="Times New Roman" panose="02020603050405020304" pitchFamily="18" charset="0"/>
              </a:rPr>
              <a:t>Basutli</a:t>
            </a:r>
            <a:endParaRPr lang="en-GB" sz="2400" dirty="0">
              <a:latin typeface="Times New Roman" panose="02020603050405020304" pitchFamily="18" charset="0"/>
              <a:cs typeface="Times New Roman" panose="02020603050405020304" pitchFamily="18" charset="0"/>
            </a:endParaRPr>
          </a:p>
          <a:p>
            <a:pPr marL="0" indent="0" algn="just">
              <a:buNone/>
            </a:pPr>
            <a:r>
              <a:rPr lang="en-GB" sz="2400" dirty="0">
                <a:latin typeface="Times New Roman" panose="02020603050405020304" pitchFamily="18" charset="0"/>
                <a:cs typeface="Times New Roman" panose="02020603050405020304" pitchFamily="18" charset="0"/>
              </a:rPr>
              <a:t>Date: 22/05/26      </a:t>
            </a:r>
          </a:p>
        </p:txBody>
      </p:sp>
    </p:spTree>
    <p:extLst>
      <p:ext uri="{BB962C8B-B14F-4D97-AF65-F5344CB8AC3E}">
        <p14:creationId xmlns:p14="http://schemas.microsoft.com/office/powerpoint/2010/main" val="157968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43BC9-0A36-D103-DFD4-306B575710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26B2C97-FB7C-79E1-420B-896F537AB6E1}"/>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3</a:t>
            </a:r>
          </a:p>
        </p:txBody>
      </p:sp>
      <p:sp>
        <p:nvSpPr>
          <p:cNvPr id="5" name="Title 1">
            <a:extLst>
              <a:ext uri="{FF2B5EF4-FFF2-40B4-BE49-F238E27FC236}">
                <a16:creationId xmlns:a16="http://schemas.microsoft.com/office/drawing/2014/main" id="{28D268CF-EE2B-BFAD-1990-E839782D14C1}"/>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OUTLINE</a:t>
            </a:r>
          </a:p>
        </p:txBody>
      </p:sp>
      <p:pic>
        <p:nvPicPr>
          <p:cNvPr id="6" name="Content Placeholder 4">
            <a:extLst>
              <a:ext uri="{FF2B5EF4-FFF2-40B4-BE49-F238E27FC236}">
                <a16:creationId xmlns:a16="http://schemas.microsoft.com/office/drawing/2014/main" id="{A98033F3-9D23-2E4B-5173-10B144B3F820}"/>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9FE04023-D31B-790E-00C7-F44B62D856DD}"/>
              </a:ext>
            </a:extLst>
          </p:cNvPr>
          <p:cNvSpPr>
            <a:spLocks noGrp="1"/>
          </p:cNvSpPr>
          <p:nvPr>
            <p:ph type="sldNum" sz="quarter" idx="12"/>
          </p:nvPr>
        </p:nvSpPr>
        <p:spPr/>
        <p:txBody>
          <a:bodyPr/>
          <a:lstStyle/>
          <a:p>
            <a:fld id="{21004690-02AB-4EF8-9513-CB283ECF7991}" type="slidenum">
              <a:rPr lang="en-BW" smtClean="0"/>
              <a:t>2</a:t>
            </a:fld>
            <a:endParaRPr lang="en-BW"/>
          </a:p>
        </p:txBody>
      </p:sp>
      <p:pic>
        <p:nvPicPr>
          <p:cNvPr id="9" name="Picture 8">
            <a:extLst>
              <a:ext uri="{FF2B5EF4-FFF2-40B4-BE49-F238E27FC236}">
                <a16:creationId xmlns:a16="http://schemas.microsoft.com/office/drawing/2014/main" id="{AE7B97A8-40E2-366C-963C-E078DED597C8}"/>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C9F311F-2556-2CCF-E041-21C75B441D44}"/>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43D21A0A-29EE-FFA8-3B33-06CC5056E226}"/>
              </a:ext>
            </a:extLst>
          </p:cNvPr>
          <p:cNvSpPr txBox="1"/>
          <p:nvPr/>
        </p:nvSpPr>
        <p:spPr>
          <a:xfrm>
            <a:off x="947970" y="1768388"/>
            <a:ext cx="5846022" cy="2241960"/>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DEFINITION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PROJECT OBJECTIVES</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METHODOLOGY</a:t>
            </a:r>
          </a:p>
        </p:txBody>
      </p:sp>
    </p:spTree>
    <p:extLst>
      <p:ext uri="{BB962C8B-B14F-4D97-AF65-F5344CB8AC3E}">
        <p14:creationId xmlns:p14="http://schemas.microsoft.com/office/powerpoint/2010/main" val="2329888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F6A6E-0C6F-0024-A124-1FC9FCB5CFA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6662A58-ADB5-E5A2-F771-FD6344285B4A}"/>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4</a:t>
            </a:r>
          </a:p>
        </p:txBody>
      </p:sp>
      <p:sp>
        <p:nvSpPr>
          <p:cNvPr id="5" name="Title 1">
            <a:extLst>
              <a:ext uri="{FF2B5EF4-FFF2-40B4-BE49-F238E27FC236}">
                <a16:creationId xmlns:a16="http://schemas.microsoft.com/office/drawing/2014/main" id="{8846F30D-A409-20CA-256D-C12469DF4F1D}"/>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INTRODUCTION</a:t>
            </a:r>
          </a:p>
        </p:txBody>
      </p:sp>
      <p:pic>
        <p:nvPicPr>
          <p:cNvPr id="6" name="Content Placeholder 4">
            <a:extLst>
              <a:ext uri="{FF2B5EF4-FFF2-40B4-BE49-F238E27FC236}">
                <a16:creationId xmlns:a16="http://schemas.microsoft.com/office/drawing/2014/main" id="{E3045083-640D-0D13-3939-3F10DFF029E8}"/>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6FBE00D5-8113-E107-59DB-F8DCB603F153}"/>
              </a:ext>
            </a:extLst>
          </p:cNvPr>
          <p:cNvSpPr>
            <a:spLocks noGrp="1"/>
          </p:cNvSpPr>
          <p:nvPr>
            <p:ph type="sldNum" sz="quarter" idx="12"/>
          </p:nvPr>
        </p:nvSpPr>
        <p:spPr/>
        <p:txBody>
          <a:bodyPr/>
          <a:lstStyle/>
          <a:p>
            <a:fld id="{21004690-02AB-4EF8-9513-CB283ECF7991}" type="slidenum">
              <a:rPr lang="en-BW" smtClean="0"/>
              <a:t>3</a:t>
            </a:fld>
            <a:endParaRPr lang="en-BW"/>
          </a:p>
        </p:txBody>
      </p:sp>
      <p:pic>
        <p:nvPicPr>
          <p:cNvPr id="9" name="Picture 8">
            <a:extLst>
              <a:ext uri="{FF2B5EF4-FFF2-40B4-BE49-F238E27FC236}">
                <a16:creationId xmlns:a16="http://schemas.microsoft.com/office/drawing/2014/main" id="{0D9DAD64-B5B8-7ADD-4491-DA98CD207295}"/>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B818614D-4DD2-0F41-373C-F8C671A35623}"/>
              </a:ext>
            </a:extLst>
          </p:cNvPr>
          <p:cNvPicPr>
            <a:picLocks noChangeAspect="1"/>
          </p:cNvPicPr>
          <p:nvPr/>
        </p:nvPicPr>
        <p:blipFill>
          <a:blip r:embed="rId4"/>
          <a:stretch>
            <a:fillRect/>
          </a:stretch>
        </p:blipFill>
        <p:spPr>
          <a:xfrm>
            <a:off x="0" y="6610277"/>
            <a:ext cx="9144000" cy="254891"/>
          </a:xfrm>
          <a:prstGeom prst="rect">
            <a:avLst/>
          </a:prstGeom>
        </p:spPr>
      </p:pic>
      <p:sp>
        <p:nvSpPr>
          <p:cNvPr id="15" name="TextBox 14">
            <a:extLst>
              <a:ext uri="{FF2B5EF4-FFF2-40B4-BE49-F238E27FC236}">
                <a16:creationId xmlns:a16="http://schemas.microsoft.com/office/drawing/2014/main" id="{D799878B-F1A4-14A1-9C93-7B04E4CD9536}"/>
              </a:ext>
            </a:extLst>
          </p:cNvPr>
          <p:cNvSpPr txBox="1"/>
          <p:nvPr/>
        </p:nvSpPr>
        <p:spPr>
          <a:xfrm>
            <a:off x="947970" y="1426671"/>
            <a:ext cx="7811982" cy="4585871"/>
          </a:xfrm>
          <a:prstGeom prst="rect">
            <a:avLst/>
          </a:prstGeom>
          <a:noFill/>
        </p:spPr>
        <p:txBody>
          <a:bodyPr wrap="square">
            <a:spAutoFit/>
          </a:bodyPr>
          <a:lstStyle/>
          <a:p>
            <a:pPr marL="285750" indent="-285750" algn="just">
              <a:buFont typeface="Arial" panose="020B0604020202020204" pitchFamily="34" charset="0"/>
              <a:buChar char="•"/>
            </a:pPr>
            <a:r>
              <a:rPr lang="en-GB" sz="1400" dirty="0">
                <a:latin typeface="Times New Roman" panose="02020603050405020304" pitchFamily="18" charset="0"/>
                <a:cs typeface="Times New Roman" panose="02020603050405020304" pitchFamily="18" charset="0"/>
              </a:rPr>
              <a:t>Urban traffic congestion and road safety remain significant challenges worldwide. Traditional traffic control systems, from manual operation to early automated actuator-based systems, struggled to efficiently manage increasing vehicle volumes due to limitations like human error, rigid timing, and limited coordination.</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Figure 1.0 : Traffic congestion in Botswana</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sz="1400" dirty="0">
                <a:latin typeface="Times New Roman" panose="02020603050405020304" pitchFamily="18" charset="0"/>
                <a:cs typeface="Times New Roman" panose="02020603050405020304" pitchFamily="18" charset="0"/>
              </a:rPr>
              <a:t>Modern traffic management increasingly relies on adaptive and coordinated control systems that use real-time traffic data, sensors, and computational techniques to optimize signal timings. Optimization methods, including evolutionary algorithms and predictive control strategies, have shown promise in improving traffic flow, reducing congestion, and enhancing urban mobility.</a:t>
            </a:r>
            <a:endParaRPr lang="en-US" sz="14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8301D033-897C-AE20-7AC0-66F76DB814A0}"/>
              </a:ext>
            </a:extLst>
          </p:cNvPr>
          <p:cNvPicPr>
            <a:picLocks noChangeAspect="1"/>
          </p:cNvPicPr>
          <p:nvPr/>
        </p:nvPicPr>
        <p:blipFill>
          <a:blip r:embed="rId5"/>
          <a:stretch>
            <a:fillRect/>
          </a:stretch>
        </p:blipFill>
        <p:spPr>
          <a:xfrm>
            <a:off x="3384729" y="2473337"/>
            <a:ext cx="2938463" cy="1911325"/>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3384337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D1A92-EEE5-F836-A68D-3387E53211F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44A0232-3110-D0D9-84CE-7CFB69627515}"/>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4</a:t>
            </a:r>
          </a:p>
        </p:txBody>
      </p:sp>
      <p:sp>
        <p:nvSpPr>
          <p:cNvPr id="5" name="Title 1">
            <a:extLst>
              <a:ext uri="{FF2B5EF4-FFF2-40B4-BE49-F238E27FC236}">
                <a16:creationId xmlns:a16="http://schemas.microsoft.com/office/drawing/2014/main" id="{E49FE3B5-2794-F07F-BC71-661397F13023}"/>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INTRODUCTION</a:t>
            </a:r>
          </a:p>
        </p:txBody>
      </p:sp>
      <p:pic>
        <p:nvPicPr>
          <p:cNvPr id="6" name="Content Placeholder 4">
            <a:extLst>
              <a:ext uri="{FF2B5EF4-FFF2-40B4-BE49-F238E27FC236}">
                <a16:creationId xmlns:a16="http://schemas.microsoft.com/office/drawing/2014/main" id="{57F40E70-F410-25A6-B669-42A66818CA67}"/>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638FA720-FEB0-70DC-EEF5-A6BF2B1C4E31}"/>
              </a:ext>
            </a:extLst>
          </p:cNvPr>
          <p:cNvSpPr>
            <a:spLocks noGrp="1"/>
          </p:cNvSpPr>
          <p:nvPr>
            <p:ph type="sldNum" sz="quarter" idx="12"/>
          </p:nvPr>
        </p:nvSpPr>
        <p:spPr/>
        <p:txBody>
          <a:bodyPr/>
          <a:lstStyle/>
          <a:p>
            <a:fld id="{21004690-02AB-4EF8-9513-CB283ECF7991}" type="slidenum">
              <a:rPr lang="en-BW" smtClean="0"/>
              <a:t>4</a:t>
            </a:fld>
            <a:endParaRPr lang="en-BW"/>
          </a:p>
        </p:txBody>
      </p:sp>
      <p:pic>
        <p:nvPicPr>
          <p:cNvPr id="9" name="Picture 8">
            <a:extLst>
              <a:ext uri="{FF2B5EF4-FFF2-40B4-BE49-F238E27FC236}">
                <a16:creationId xmlns:a16="http://schemas.microsoft.com/office/drawing/2014/main" id="{A9264A18-174B-2B78-D686-6B9E5E487553}"/>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45D6A1B0-5361-6E5D-01D3-992F81F3C85D}"/>
              </a:ext>
            </a:extLst>
          </p:cNvPr>
          <p:cNvPicPr>
            <a:picLocks noChangeAspect="1"/>
          </p:cNvPicPr>
          <p:nvPr/>
        </p:nvPicPr>
        <p:blipFill>
          <a:blip r:embed="rId4"/>
          <a:stretch>
            <a:fillRect/>
          </a:stretch>
        </p:blipFill>
        <p:spPr>
          <a:xfrm>
            <a:off x="0" y="6610277"/>
            <a:ext cx="9144000" cy="254891"/>
          </a:xfrm>
          <a:prstGeom prst="rect">
            <a:avLst/>
          </a:prstGeom>
        </p:spPr>
      </p:pic>
      <p:sp>
        <p:nvSpPr>
          <p:cNvPr id="15" name="TextBox 14">
            <a:extLst>
              <a:ext uri="{FF2B5EF4-FFF2-40B4-BE49-F238E27FC236}">
                <a16:creationId xmlns:a16="http://schemas.microsoft.com/office/drawing/2014/main" id="{50F5E209-CC5F-4DF1-98D0-1E138640EFBE}"/>
              </a:ext>
            </a:extLst>
          </p:cNvPr>
          <p:cNvSpPr txBox="1"/>
          <p:nvPr/>
        </p:nvSpPr>
        <p:spPr>
          <a:xfrm>
            <a:off x="947970" y="1426671"/>
            <a:ext cx="7811982" cy="3416320"/>
          </a:xfrm>
          <a:prstGeom prst="rect">
            <a:avLst/>
          </a:prstGeom>
          <a:noFill/>
        </p:spPr>
        <p:txBody>
          <a:bodyPr wrap="square">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Palapye, a fast-growing town and a key transit hub linking major cities has experienced a rapid increase in traffic volume , due to commercial expansion, population growth and its strategic location along the A1 highway. The towns existing light control system relies of static, pre-timed cycles that cannot adapt to fluctuating traffic conditions, especially during peak hours and holidays. This situation has led to frequent congestion at major intersections causing economic and safety concerns for commuters.</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This research aims to explore and develop an optimization-based traffic signal control approach tailored for Palapye’s unique traffic dynamics. The goal is to enhance traffic efficiency and safety while leveraging modern algorithms that can adapt to real-time, dynamic urban traffic conditions.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6459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818BE-618F-83F6-D342-C2C13332A2C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A645C70-851C-4BF1-C29D-3E690DF93857}"/>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5</a:t>
            </a:r>
          </a:p>
        </p:txBody>
      </p:sp>
      <p:sp>
        <p:nvSpPr>
          <p:cNvPr id="5" name="Title 1">
            <a:extLst>
              <a:ext uri="{FF2B5EF4-FFF2-40B4-BE49-F238E27FC236}">
                <a16:creationId xmlns:a16="http://schemas.microsoft.com/office/drawing/2014/main" id="{F02C089E-5C0E-4ADA-7E49-AAEFD5D5B21F}"/>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Times New Roman"/>
              </a:rPr>
              <a:t>LITERATURE REVIEW</a:t>
            </a:r>
            <a:endPar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6" name="Content Placeholder 4">
            <a:extLst>
              <a:ext uri="{FF2B5EF4-FFF2-40B4-BE49-F238E27FC236}">
                <a16:creationId xmlns:a16="http://schemas.microsoft.com/office/drawing/2014/main" id="{6A2918F7-8E43-0FAD-F6D3-8BBC93E4ED44}"/>
              </a:ext>
            </a:extLst>
          </p:cNvPr>
          <p:cNvPicPr>
            <a:picLocks noGrp="1" noChangeAspect="1"/>
          </p:cNvPicPr>
          <p:nvPr>
            <p:ph idx="1"/>
          </p:nvPr>
        </p:nvPicPr>
        <p:blipFill>
          <a:blip r:embed="rId3"/>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57C7C480-BF77-4C10-6D10-96BD1D8F44B9}"/>
              </a:ext>
            </a:extLst>
          </p:cNvPr>
          <p:cNvSpPr>
            <a:spLocks noGrp="1"/>
          </p:cNvSpPr>
          <p:nvPr>
            <p:ph type="sldNum" sz="quarter" idx="12"/>
          </p:nvPr>
        </p:nvSpPr>
        <p:spPr/>
        <p:txBody>
          <a:bodyPr/>
          <a:lstStyle/>
          <a:p>
            <a:fld id="{21004690-02AB-4EF8-9513-CB283ECF7991}" type="slidenum">
              <a:rPr lang="en-BW" smtClean="0"/>
              <a:t>5</a:t>
            </a:fld>
            <a:endParaRPr lang="en-BW"/>
          </a:p>
        </p:txBody>
      </p:sp>
      <p:pic>
        <p:nvPicPr>
          <p:cNvPr id="9" name="Picture 8">
            <a:extLst>
              <a:ext uri="{FF2B5EF4-FFF2-40B4-BE49-F238E27FC236}">
                <a16:creationId xmlns:a16="http://schemas.microsoft.com/office/drawing/2014/main" id="{710CAF18-A490-4CCA-B8DF-B4BA6F026438}"/>
              </a:ext>
            </a:extLst>
          </p:cNvPr>
          <p:cNvPicPr>
            <a:picLocks noChangeAspect="1"/>
          </p:cNvPicPr>
          <p:nvPr/>
        </p:nvPicPr>
        <p:blipFill>
          <a:blip r:embed="rId4"/>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43F71D9E-E032-9100-2B26-C3B42708B598}"/>
              </a:ext>
            </a:extLst>
          </p:cNvPr>
          <p:cNvPicPr>
            <a:picLocks noChangeAspect="1"/>
          </p:cNvPicPr>
          <p:nvPr/>
        </p:nvPicPr>
        <p:blipFill>
          <a:blip r:embed="rId5"/>
          <a:stretch>
            <a:fillRect/>
          </a:stretch>
        </p:blipFill>
        <p:spPr>
          <a:xfrm>
            <a:off x="0" y="6610277"/>
            <a:ext cx="9144000" cy="254891"/>
          </a:xfrm>
          <a:prstGeom prst="rect">
            <a:avLst/>
          </a:prstGeom>
        </p:spPr>
      </p:pic>
      <p:graphicFrame>
        <p:nvGraphicFramePr>
          <p:cNvPr id="15" name="Table 14">
            <a:extLst>
              <a:ext uri="{FF2B5EF4-FFF2-40B4-BE49-F238E27FC236}">
                <a16:creationId xmlns:a16="http://schemas.microsoft.com/office/drawing/2014/main" id="{3A6AD9EC-C7AE-EDBF-765E-CDE6764DC6DD}"/>
              </a:ext>
            </a:extLst>
          </p:cNvPr>
          <p:cNvGraphicFramePr>
            <a:graphicFrameLocks noGrp="1"/>
          </p:cNvGraphicFramePr>
          <p:nvPr>
            <p:extLst>
              <p:ext uri="{D42A27DB-BD31-4B8C-83A1-F6EECF244321}">
                <p14:modId xmlns:p14="http://schemas.microsoft.com/office/powerpoint/2010/main" val="1499157414"/>
              </p:ext>
            </p:extLst>
          </p:nvPr>
        </p:nvGraphicFramePr>
        <p:xfrm>
          <a:off x="628650" y="918135"/>
          <a:ext cx="6858000" cy="5699527"/>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163507817"/>
                    </a:ext>
                  </a:extLst>
                </a:gridCol>
                <a:gridCol w="1714500">
                  <a:extLst>
                    <a:ext uri="{9D8B030D-6E8A-4147-A177-3AD203B41FA5}">
                      <a16:colId xmlns:a16="http://schemas.microsoft.com/office/drawing/2014/main" val="1247354760"/>
                    </a:ext>
                  </a:extLst>
                </a:gridCol>
                <a:gridCol w="1714500">
                  <a:extLst>
                    <a:ext uri="{9D8B030D-6E8A-4147-A177-3AD203B41FA5}">
                      <a16:colId xmlns:a16="http://schemas.microsoft.com/office/drawing/2014/main" val="4217087862"/>
                    </a:ext>
                  </a:extLst>
                </a:gridCol>
                <a:gridCol w="1714500">
                  <a:extLst>
                    <a:ext uri="{9D8B030D-6E8A-4147-A177-3AD203B41FA5}">
                      <a16:colId xmlns:a16="http://schemas.microsoft.com/office/drawing/2014/main" val="2738274051"/>
                    </a:ext>
                  </a:extLst>
                </a:gridCol>
              </a:tblGrid>
              <a:tr h="716430">
                <a:tc>
                  <a:txBody>
                    <a:bodyPr/>
                    <a:lstStyle/>
                    <a:p>
                      <a:r>
                        <a:rPr lang="en-US" dirty="0"/>
                        <a:t>Author and Year of Publication</a:t>
                      </a:r>
                    </a:p>
                  </a:txBody>
                  <a:tcPr/>
                </a:tc>
                <a:tc>
                  <a:txBody>
                    <a:bodyPr/>
                    <a:lstStyle/>
                    <a:p>
                      <a:r>
                        <a:rPr lang="en-US" dirty="0"/>
                        <a:t>Title of study</a:t>
                      </a:r>
                    </a:p>
                  </a:txBody>
                  <a:tcPr/>
                </a:tc>
                <a:tc>
                  <a:txBody>
                    <a:bodyPr/>
                    <a:lstStyle/>
                    <a:p>
                      <a:r>
                        <a:rPr lang="en-US" dirty="0"/>
                        <a:t>Findings</a:t>
                      </a:r>
                    </a:p>
                  </a:txBody>
                  <a:tcPr/>
                </a:tc>
                <a:tc>
                  <a:txBody>
                    <a:bodyPr/>
                    <a:lstStyle/>
                    <a:p>
                      <a:r>
                        <a:rPr lang="en-US" dirty="0"/>
                        <a:t>Gaps In The Findings</a:t>
                      </a:r>
                    </a:p>
                  </a:txBody>
                  <a:tcPr/>
                </a:tc>
                <a:extLst>
                  <a:ext uri="{0D108BD9-81ED-4DB2-BD59-A6C34878D82A}">
                    <a16:rowId xmlns:a16="http://schemas.microsoft.com/office/drawing/2014/main" val="2198967316"/>
                  </a:ext>
                </a:extLst>
              </a:tr>
              <a:tr h="414304">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871830691"/>
                  </a:ext>
                </a:extLst>
              </a:tr>
              <a:tr h="236745">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21171395"/>
                  </a:ext>
                </a:extLst>
              </a:tr>
              <a:tr h="16276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effectLst/>
                        </a:rPr>
                        <a:t>Mojtaba Salehi, Iman </a:t>
                      </a:r>
                      <a:r>
                        <a:rPr lang="en-US" sz="1050" dirty="0" err="1">
                          <a:effectLst/>
                        </a:rPr>
                        <a:t>Sepahvand</a:t>
                      </a:r>
                      <a:r>
                        <a:rPr lang="en-US" sz="1050" dirty="0">
                          <a:effectLst/>
                        </a:rPr>
                        <a:t>, and Mohammad Yarahmadi, 2014</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dirty="0">
                          <a:effectLst/>
                        </a:rPr>
                        <a:t>A Traffic Lights Control System Based on Fuzzy Logic</a:t>
                      </a:r>
                    </a:p>
                    <a:p>
                      <a:endParaRPr lang="en-US" dirty="0"/>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50" dirty="0">
                          <a:effectLst/>
                        </a:rPr>
                        <a:t>Simulation-based (MATLAB) on two junctions (J1, J2) shows reduced delays, fuel consumption, and pollution</a:t>
                      </a:r>
                    </a:p>
                    <a:p>
                      <a:endParaRPr lang="en-US" dirty="0"/>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50" dirty="0">
                          <a:effectLst/>
                        </a:rPr>
                        <a:t>Focuses heavily on emergencies, neglecting mixed traffic (e.g., motorcycles) and pedestrian flows.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50" dirty="0">
                          <a:effectLst/>
                        </a:rPr>
                        <a:t>Static fuzzy rules and membership functions lack optimization</a:t>
                      </a:r>
                    </a:p>
                    <a:p>
                      <a:endParaRPr lang="en-US" sz="1200" dirty="0"/>
                    </a:p>
                  </a:txBody>
                  <a:tcPr/>
                </a:tc>
                <a:extLst>
                  <a:ext uri="{0D108BD9-81ED-4DB2-BD59-A6C34878D82A}">
                    <a16:rowId xmlns:a16="http://schemas.microsoft.com/office/drawing/2014/main" val="252981432"/>
                  </a:ext>
                </a:extLst>
              </a:tr>
              <a:tr h="13760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effectLst/>
                        </a:rPr>
                        <a:t>Leena Singh, Sudhanshu Tripathi, and Himakshi Arora, 2009</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050" dirty="0">
                          <a:effectLst/>
                        </a:rPr>
                        <a:t>Time Optimization for Traffic Signal Control Using Genetic Algorithm</a:t>
                      </a: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50" dirty="0">
                          <a:effectLst/>
                        </a:rPr>
                        <a:t>Simulation shows 21.9% more vehicles exiting (662 vs. 573 in 5 min) vs. fixed-time control at 200ms car speed/generation</a:t>
                      </a:r>
                    </a:p>
                    <a:p>
                      <a:endParaRPr lang="en-US" dirty="0"/>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50" dirty="0">
                          <a:effectLst/>
                        </a:rPr>
                        <a:t>Basic GA lacks multi-objective optimization (e.g., NSGA-II) or integrations like memory-assisted or cloud-based adaptive methods in recent works.</a:t>
                      </a:r>
                    </a:p>
                    <a:p>
                      <a:endParaRPr lang="en-US" dirty="0"/>
                    </a:p>
                  </a:txBody>
                  <a:tcPr/>
                </a:tc>
                <a:extLst>
                  <a:ext uri="{0D108BD9-81ED-4DB2-BD59-A6C34878D82A}">
                    <a16:rowId xmlns:a16="http://schemas.microsoft.com/office/drawing/2014/main" val="813083333"/>
                  </a:ext>
                </a:extLst>
              </a:tr>
              <a:tr h="236745">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77176515"/>
                  </a:ext>
                </a:extLst>
              </a:tr>
              <a:tr h="236745">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01588064"/>
                  </a:ext>
                </a:extLst>
              </a:tr>
            </a:tbl>
          </a:graphicData>
        </a:graphic>
      </p:graphicFrame>
    </p:spTree>
    <p:extLst>
      <p:ext uri="{BB962C8B-B14F-4D97-AF65-F5344CB8AC3E}">
        <p14:creationId xmlns:p14="http://schemas.microsoft.com/office/powerpoint/2010/main" val="998366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05FE41-45BA-42E3-AA3A-A249960B4A7A}"/>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6</a:t>
            </a:r>
          </a:p>
        </p:txBody>
      </p:sp>
      <p:sp>
        <p:nvSpPr>
          <p:cNvPr id="5" name="Title 1">
            <a:extLst>
              <a:ext uri="{FF2B5EF4-FFF2-40B4-BE49-F238E27FC236}">
                <a16:creationId xmlns:a16="http://schemas.microsoft.com/office/drawing/2014/main" id="{17F7E505-0100-4345-9331-71947F51E078}"/>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Times New Roman"/>
              </a:rPr>
              <a:t>PROBLEM STATEMENT</a:t>
            </a:r>
            <a:endPar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6" name="Content Placeholder 4">
            <a:extLst>
              <a:ext uri="{FF2B5EF4-FFF2-40B4-BE49-F238E27FC236}">
                <a16:creationId xmlns:a16="http://schemas.microsoft.com/office/drawing/2014/main" id="{667E52B0-43C0-47F9-A182-2FDFC0DF032F}"/>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1CFFEBC9-B6BC-44C2-9745-2FB41E7BD734}"/>
              </a:ext>
            </a:extLst>
          </p:cNvPr>
          <p:cNvSpPr>
            <a:spLocks noGrp="1"/>
          </p:cNvSpPr>
          <p:nvPr>
            <p:ph type="sldNum" sz="quarter" idx="12"/>
          </p:nvPr>
        </p:nvSpPr>
        <p:spPr/>
        <p:txBody>
          <a:bodyPr/>
          <a:lstStyle/>
          <a:p>
            <a:fld id="{21004690-02AB-4EF8-9513-CB283ECF7991}" type="slidenum">
              <a:rPr lang="en-BW" smtClean="0"/>
              <a:t>6</a:t>
            </a:fld>
            <a:endParaRPr lang="en-BW"/>
          </a:p>
        </p:txBody>
      </p:sp>
      <p:pic>
        <p:nvPicPr>
          <p:cNvPr id="9" name="Picture 8">
            <a:extLst>
              <a:ext uri="{FF2B5EF4-FFF2-40B4-BE49-F238E27FC236}">
                <a16:creationId xmlns:a16="http://schemas.microsoft.com/office/drawing/2014/main" id="{947B2903-AAB5-414C-B9C8-B572D18C4C6F}"/>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EF622AFB-0189-4829-89E4-6A72EA93778B}"/>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62EF4368-4A3F-AEA3-692F-0BA799603CB8}"/>
              </a:ext>
            </a:extLst>
          </p:cNvPr>
          <p:cNvSpPr txBox="1"/>
          <p:nvPr/>
        </p:nvSpPr>
        <p:spPr>
          <a:xfrm>
            <a:off x="517778" y="1553807"/>
            <a:ext cx="7925562" cy="128907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Urban intersections in Palapye experience increased traffic congestion, delays, and inefficient traffic flow due to conventional fixed-time traffic light control systems that do not adapt to real-time traffic conditions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7093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05FE41-45BA-42E3-AA3A-A249960B4A7A}"/>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7</a:t>
            </a:r>
          </a:p>
        </p:txBody>
      </p:sp>
      <p:sp>
        <p:nvSpPr>
          <p:cNvPr id="5" name="Title 1">
            <a:extLst>
              <a:ext uri="{FF2B5EF4-FFF2-40B4-BE49-F238E27FC236}">
                <a16:creationId xmlns:a16="http://schemas.microsoft.com/office/drawing/2014/main" id="{17F7E505-0100-4345-9331-71947F51E078}"/>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Times New Roman"/>
              </a:rPr>
              <a:t>OBJECTIVES </a:t>
            </a:r>
            <a:endPar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6" name="Content Placeholder 4">
            <a:extLst>
              <a:ext uri="{FF2B5EF4-FFF2-40B4-BE49-F238E27FC236}">
                <a16:creationId xmlns:a16="http://schemas.microsoft.com/office/drawing/2014/main" id="{667E52B0-43C0-47F9-A182-2FDFC0DF032F}"/>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1CFFEBC9-B6BC-44C2-9745-2FB41E7BD734}"/>
              </a:ext>
            </a:extLst>
          </p:cNvPr>
          <p:cNvSpPr>
            <a:spLocks noGrp="1"/>
          </p:cNvSpPr>
          <p:nvPr>
            <p:ph type="sldNum" sz="quarter" idx="12"/>
          </p:nvPr>
        </p:nvSpPr>
        <p:spPr/>
        <p:txBody>
          <a:bodyPr/>
          <a:lstStyle/>
          <a:p>
            <a:fld id="{21004690-02AB-4EF8-9513-CB283ECF7991}" type="slidenum">
              <a:rPr lang="en-BW" smtClean="0"/>
              <a:t>7</a:t>
            </a:fld>
            <a:endParaRPr lang="en-BW"/>
          </a:p>
        </p:txBody>
      </p:sp>
      <p:pic>
        <p:nvPicPr>
          <p:cNvPr id="9" name="Picture 8">
            <a:extLst>
              <a:ext uri="{FF2B5EF4-FFF2-40B4-BE49-F238E27FC236}">
                <a16:creationId xmlns:a16="http://schemas.microsoft.com/office/drawing/2014/main" id="{947B2903-AAB5-414C-B9C8-B572D18C4C6F}"/>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EF622AFB-0189-4829-89E4-6A72EA93778B}"/>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D315CFAE-3CFD-3CED-9D49-5FEB4A7DB567}"/>
              </a:ext>
            </a:extLst>
          </p:cNvPr>
          <p:cNvSpPr txBox="1"/>
          <p:nvPr/>
        </p:nvSpPr>
        <p:spPr>
          <a:xfrm>
            <a:off x="603504" y="1321354"/>
            <a:ext cx="7911846" cy="4300152"/>
          </a:xfrm>
          <a:prstGeom prst="rect">
            <a:avLst/>
          </a:prstGeom>
          <a:noFill/>
        </p:spPr>
        <p:txBody>
          <a:bodyPr wrap="square">
            <a:spAutoFit/>
          </a:bodyPr>
          <a:lstStyle/>
          <a:p>
            <a:pPr marL="285750" marR="0" indent="-285750" algn="just">
              <a:lnSpc>
                <a:spcPct val="150000"/>
              </a:lnSpc>
              <a:spcAft>
                <a:spcPts val="800"/>
              </a:spcAft>
              <a:buFont typeface="Wingdings" panose="05000000000000000000" pitchFamily="2" charset="2"/>
              <a:buChar char="Ø"/>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gn="just">
              <a:lnSpc>
                <a:spcPct val="150000"/>
              </a:lnSpc>
              <a:buFont typeface="Wingdings" panose="05000000000000000000" pitchFamily="2" charset="2"/>
              <a:buChar char="Ø"/>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To design and implement an optimized traffic light control system that minimizes vehicle delays, reduces congestion, and improves traffic flow efficiency at urban intersections.</a:t>
            </a:r>
          </a:p>
          <a:p>
            <a:pPr marL="342900" marR="0" lvl="0" indent="-342900" algn="just">
              <a:lnSpc>
                <a:spcPct val="150000"/>
              </a:lnSpc>
              <a:buFont typeface="Wingdings" panose="05000000000000000000" pitchFamily="2" charset="2"/>
              <a:buChar char="Ø"/>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Develop adaptive signal timing algorithms that respond to real-time traffic conditions.</a:t>
            </a:r>
          </a:p>
          <a:p>
            <a:pPr marL="342900" marR="0" lvl="0" indent="-342900" algn="just">
              <a:lnSpc>
                <a:spcPct val="150000"/>
              </a:lnSpc>
              <a:buFont typeface="Wingdings" panose="05000000000000000000" pitchFamily="2" charset="2"/>
              <a:buChar char="Ø"/>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Implement coordinated control across multiple intersections to reduce stop-and-go traffic.</a:t>
            </a:r>
          </a:p>
          <a:p>
            <a:pPr marL="342900" marR="0" lvl="0" indent="-342900" algn="just">
              <a:lnSpc>
                <a:spcPct val="150000"/>
              </a:lnSpc>
              <a:buFont typeface="Wingdings" panose="05000000000000000000" pitchFamily="2" charset="2"/>
              <a:buChar char="Ø"/>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Coordinate multiple intersections to reduce delay.</a:t>
            </a:r>
          </a:p>
          <a:p>
            <a:pPr marL="342900" marR="0" lvl="0" indent="-342900" algn="just">
              <a:lnSpc>
                <a:spcPct val="150000"/>
              </a:lnSpc>
              <a:spcAft>
                <a:spcPts val="800"/>
              </a:spcAft>
              <a:buFont typeface="Wingdings" panose="05000000000000000000" pitchFamily="2" charset="2"/>
              <a:buChar char="Ø"/>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Evaluate system performance using average delay and queue length.</a:t>
            </a:r>
          </a:p>
        </p:txBody>
      </p:sp>
    </p:spTree>
    <p:extLst>
      <p:ext uri="{BB962C8B-B14F-4D97-AF65-F5344CB8AC3E}">
        <p14:creationId xmlns:p14="http://schemas.microsoft.com/office/powerpoint/2010/main" val="3614242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05FE41-45BA-42E3-AA3A-A249960B4A7A}"/>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8</a:t>
            </a:r>
          </a:p>
        </p:txBody>
      </p:sp>
      <p:sp>
        <p:nvSpPr>
          <p:cNvPr id="5" name="Title 1">
            <a:extLst>
              <a:ext uri="{FF2B5EF4-FFF2-40B4-BE49-F238E27FC236}">
                <a16:creationId xmlns:a16="http://schemas.microsoft.com/office/drawing/2014/main" id="{17F7E505-0100-4345-9331-71947F51E078}"/>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AIM</a:t>
            </a:r>
          </a:p>
        </p:txBody>
      </p:sp>
      <p:pic>
        <p:nvPicPr>
          <p:cNvPr id="6" name="Content Placeholder 4">
            <a:extLst>
              <a:ext uri="{FF2B5EF4-FFF2-40B4-BE49-F238E27FC236}">
                <a16:creationId xmlns:a16="http://schemas.microsoft.com/office/drawing/2014/main" id="{667E52B0-43C0-47F9-A182-2FDFC0DF032F}"/>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1CFFEBC9-B6BC-44C2-9745-2FB41E7BD734}"/>
              </a:ext>
            </a:extLst>
          </p:cNvPr>
          <p:cNvSpPr>
            <a:spLocks noGrp="1"/>
          </p:cNvSpPr>
          <p:nvPr>
            <p:ph type="sldNum" sz="quarter" idx="12"/>
          </p:nvPr>
        </p:nvSpPr>
        <p:spPr/>
        <p:txBody>
          <a:bodyPr/>
          <a:lstStyle/>
          <a:p>
            <a:fld id="{21004690-02AB-4EF8-9513-CB283ECF7991}" type="slidenum">
              <a:rPr lang="en-BW" smtClean="0"/>
              <a:t>8</a:t>
            </a:fld>
            <a:endParaRPr lang="en-BW"/>
          </a:p>
        </p:txBody>
      </p:sp>
      <p:pic>
        <p:nvPicPr>
          <p:cNvPr id="9" name="Picture 8">
            <a:extLst>
              <a:ext uri="{FF2B5EF4-FFF2-40B4-BE49-F238E27FC236}">
                <a16:creationId xmlns:a16="http://schemas.microsoft.com/office/drawing/2014/main" id="{947B2903-AAB5-414C-B9C8-B572D18C4C6F}"/>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EF622AFB-0189-4829-89E4-6A72EA93778B}"/>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AF740BFE-7EA1-7015-7E13-A5263F786A11}"/>
              </a:ext>
            </a:extLst>
          </p:cNvPr>
          <p:cNvSpPr txBox="1"/>
          <p:nvPr/>
        </p:nvSpPr>
        <p:spPr>
          <a:xfrm>
            <a:off x="947970" y="1863009"/>
            <a:ext cx="6620108" cy="1295868"/>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To investigate and develop an optimization-based traffic signal control strategy that improves urban traffic flow, reduces congestion, and enhances road safety in Palapye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5230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DAC82-2A5A-EBB2-DC7A-74CE73C8EB4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E4EA471-1EAE-0E2D-9CD4-D416FB227940}"/>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9</a:t>
            </a:r>
          </a:p>
        </p:txBody>
      </p:sp>
      <p:sp>
        <p:nvSpPr>
          <p:cNvPr id="5" name="Title 1">
            <a:extLst>
              <a:ext uri="{FF2B5EF4-FFF2-40B4-BE49-F238E27FC236}">
                <a16:creationId xmlns:a16="http://schemas.microsoft.com/office/drawing/2014/main" id="{162B9D93-19DA-1391-778A-53AC336723EE}"/>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PROPOSED RESEARCH METHODOLOGY</a:t>
            </a:r>
          </a:p>
        </p:txBody>
      </p:sp>
      <p:pic>
        <p:nvPicPr>
          <p:cNvPr id="6" name="Content Placeholder 4">
            <a:extLst>
              <a:ext uri="{FF2B5EF4-FFF2-40B4-BE49-F238E27FC236}">
                <a16:creationId xmlns:a16="http://schemas.microsoft.com/office/drawing/2014/main" id="{320D0213-73B3-F703-0736-24287A4679FD}"/>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F7E02541-466B-8346-DFE6-ED6B0A7E70FA}"/>
              </a:ext>
            </a:extLst>
          </p:cNvPr>
          <p:cNvSpPr>
            <a:spLocks noGrp="1"/>
          </p:cNvSpPr>
          <p:nvPr>
            <p:ph type="sldNum" sz="quarter" idx="12"/>
          </p:nvPr>
        </p:nvSpPr>
        <p:spPr/>
        <p:txBody>
          <a:bodyPr/>
          <a:lstStyle/>
          <a:p>
            <a:fld id="{21004690-02AB-4EF8-9513-CB283ECF7991}" type="slidenum">
              <a:rPr lang="en-BW" smtClean="0"/>
              <a:t>9</a:t>
            </a:fld>
            <a:endParaRPr lang="en-BW"/>
          </a:p>
        </p:txBody>
      </p:sp>
      <p:pic>
        <p:nvPicPr>
          <p:cNvPr id="9" name="Picture 8">
            <a:extLst>
              <a:ext uri="{FF2B5EF4-FFF2-40B4-BE49-F238E27FC236}">
                <a16:creationId xmlns:a16="http://schemas.microsoft.com/office/drawing/2014/main" id="{D8A826C0-8AC4-86A3-0CF2-0FE68C74F119}"/>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4DA48593-5C9C-22E2-47C1-10D04D58B8DD}"/>
              </a:ext>
            </a:extLst>
          </p:cNvPr>
          <p:cNvPicPr>
            <a:picLocks noChangeAspect="1"/>
          </p:cNvPicPr>
          <p:nvPr/>
        </p:nvPicPr>
        <p:blipFill>
          <a:blip r:embed="rId4"/>
          <a:stretch>
            <a:fillRect/>
          </a:stretch>
        </p:blipFill>
        <p:spPr>
          <a:xfrm>
            <a:off x="0" y="6610277"/>
            <a:ext cx="9144000" cy="254891"/>
          </a:xfrm>
          <a:prstGeom prst="rect">
            <a:avLst/>
          </a:prstGeom>
        </p:spPr>
      </p:pic>
    </p:spTree>
    <p:extLst>
      <p:ext uri="{BB962C8B-B14F-4D97-AF65-F5344CB8AC3E}">
        <p14:creationId xmlns:p14="http://schemas.microsoft.com/office/powerpoint/2010/main" val="665911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A2F41-9241-D8F6-9A02-0A611E4F392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5E99825-0F07-3D1B-1511-311E9AC93C75}"/>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9</a:t>
            </a:r>
          </a:p>
        </p:txBody>
      </p:sp>
      <p:sp>
        <p:nvSpPr>
          <p:cNvPr id="5" name="Title 1">
            <a:extLst>
              <a:ext uri="{FF2B5EF4-FFF2-40B4-BE49-F238E27FC236}">
                <a16:creationId xmlns:a16="http://schemas.microsoft.com/office/drawing/2014/main" id="{224299BA-CC32-1F96-744D-B17A88C8DBAB}"/>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LIST OF MATERIALS</a:t>
            </a:r>
          </a:p>
        </p:txBody>
      </p:sp>
      <p:pic>
        <p:nvPicPr>
          <p:cNvPr id="6" name="Content Placeholder 4">
            <a:extLst>
              <a:ext uri="{FF2B5EF4-FFF2-40B4-BE49-F238E27FC236}">
                <a16:creationId xmlns:a16="http://schemas.microsoft.com/office/drawing/2014/main" id="{7AEF10E0-E6C3-3233-D6FE-C14A38124A3E}"/>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C79A5991-750A-9D73-6F49-26BF369EB771}"/>
              </a:ext>
            </a:extLst>
          </p:cNvPr>
          <p:cNvSpPr>
            <a:spLocks noGrp="1"/>
          </p:cNvSpPr>
          <p:nvPr>
            <p:ph type="sldNum" sz="quarter" idx="12"/>
          </p:nvPr>
        </p:nvSpPr>
        <p:spPr/>
        <p:txBody>
          <a:bodyPr/>
          <a:lstStyle/>
          <a:p>
            <a:fld id="{21004690-02AB-4EF8-9513-CB283ECF7991}" type="slidenum">
              <a:rPr lang="en-BW" smtClean="0"/>
              <a:t>10</a:t>
            </a:fld>
            <a:endParaRPr lang="en-BW"/>
          </a:p>
        </p:txBody>
      </p:sp>
      <p:pic>
        <p:nvPicPr>
          <p:cNvPr id="9" name="Picture 8">
            <a:extLst>
              <a:ext uri="{FF2B5EF4-FFF2-40B4-BE49-F238E27FC236}">
                <a16:creationId xmlns:a16="http://schemas.microsoft.com/office/drawing/2014/main" id="{F6C3A3C3-1C79-216F-E099-3ED5E41D5780}"/>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B1DFC862-456A-6755-D0D9-A2228F9B3AC7}"/>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A1E473DD-3E5A-86AE-A040-CCB5B0AD357C}"/>
              </a:ext>
            </a:extLst>
          </p:cNvPr>
          <p:cNvSpPr txBox="1"/>
          <p:nvPr/>
        </p:nvSpPr>
        <p:spPr>
          <a:xfrm>
            <a:off x="850106" y="1710809"/>
            <a:ext cx="4595812" cy="646331"/>
          </a:xfrm>
          <a:prstGeom prst="rect">
            <a:avLst/>
          </a:prstGeom>
          <a:noFill/>
        </p:spPr>
        <p:txBody>
          <a:bodyPr wrap="square">
            <a:spAutoFit/>
          </a:bodyPr>
          <a:lstStyle/>
          <a:p>
            <a:r>
              <a:rPr lang="en-US" dirty="0"/>
              <a:t>Software</a:t>
            </a:r>
            <a:br>
              <a:rPr lang="en-US" dirty="0"/>
            </a:br>
            <a:r>
              <a:rPr lang="en-US" dirty="0" err="1"/>
              <a:t>Matlab,Python</a:t>
            </a:r>
            <a:r>
              <a:rPr lang="en-US" dirty="0"/>
              <a:t>, VSSIM</a:t>
            </a:r>
          </a:p>
        </p:txBody>
      </p:sp>
      <p:sp>
        <p:nvSpPr>
          <p:cNvPr id="8" name="TextBox 7">
            <a:extLst>
              <a:ext uri="{FF2B5EF4-FFF2-40B4-BE49-F238E27FC236}">
                <a16:creationId xmlns:a16="http://schemas.microsoft.com/office/drawing/2014/main" id="{7C84C139-8E54-0B49-C904-83AA9AD3957B}"/>
              </a:ext>
            </a:extLst>
          </p:cNvPr>
          <p:cNvSpPr txBox="1"/>
          <p:nvPr/>
        </p:nvSpPr>
        <p:spPr>
          <a:xfrm>
            <a:off x="778668" y="4120260"/>
            <a:ext cx="4595812" cy="646331"/>
          </a:xfrm>
          <a:prstGeom prst="rect">
            <a:avLst/>
          </a:prstGeom>
          <a:noFill/>
        </p:spPr>
        <p:txBody>
          <a:bodyPr wrap="square">
            <a:spAutoFit/>
          </a:bodyPr>
          <a:lstStyle/>
          <a:p>
            <a:r>
              <a:rPr lang="en-US" dirty="0"/>
              <a:t>Hardware</a:t>
            </a:r>
            <a:br>
              <a:rPr lang="en-US" dirty="0"/>
            </a:br>
            <a:endParaRPr lang="en-US" dirty="0"/>
          </a:p>
        </p:txBody>
      </p:sp>
    </p:spTree>
    <p:extLst>
      <p:ext uri="{BB962C8B-B14F-4D97-AF65-F5344CB8AC3E}">
        <p14:creationId xmlns:p14="http://schemas.microsoft.com/office/powerpoint/2010/main" val="3710294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794F0-D310-33BC-3C29-433CAF8D8CC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6F45FD1-F983-55D5-AF8A-24234D279812}"/>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10</a:t>
            </a:r>
          </a:p>
        </p:txBody>
      </p:sp>
      <p:sp>
        <p:nvSpPr>
          <p:cNvPr id="5" name="Title 1">
            <a:extLst>
              <a:ext uri="{FF2B5EF4-FFF2-40B4-BE49-F238E27FC236}">
                <a16:creationId xmlns:a16="http://schemas.microsoft.com/office/drawing/2014/main" id="{AD7984CD-E8FE-8CA2-E79C-FB68A8F9D56B}"/>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PROJECT PLAN AND SCHEDULE</a:t>
            </a:r>
          </a:p>
        </p:txBody>
      </p:sp>
      <p:pic>
        <p:nvPicPr>
          <p:cNvPr id="6" name="Content Placeholder 4">
            <a:extLst>
              <a:ext uri="{FF2B5EF4-FFF2-40B4-BE49-F238E27FC236}">
                <a16:creationId xmlns:a16="http://schemas.microsoft.com/office/drawing/2014/main" id="{E15D8980-B7E9-8C33-5541-7FF0D269C92A}"/>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DFD17D38-1E05-2DE2-2C9E-8DD3066DF54F}"/>
              </a:ext>
            </a:extLst>
          </p:cNvPr>
          <p:cNvSpPr>
            <a:spLocks noGrp="1"/>
          </p:cNvSpPr>
          <p:nvPr>
            <p:ph type="sldNum" sz="quarter" idx="12"/>
          </p:nvPr>
        </p:nvSpPr>
        <p:spPr/>
        <p:txBody>
          <a:bodyPr/>
          <a:lstStyle/>
          <a:p>
            <a:fld id="{21004690-02AB-4EF8-9513-CB283ECF7991}" type="slidenum">
              <a:rPr lang="en-BW" smtClean="0"/>
              <a:t>11</a:t>
            </a:fld>
            <a:endParaRPr lang="en-BW"/>
          </a:p>
        </p:txBody>
      </p:sp>
      <p:pic>
        <p:nvPicPr>
          <p:cNvPr id="9" name="Picture 8">
            <a:extLst>
              <a:ext uri="{FF2B5EF4-FFF2-40B4-BE49-F238E27FC236}">
                <a16:creationId xmlns:a16="http://schemas.microsoft.com/office/drawing/2014/main" id="{B228C5B9-F414-A733-7FBE-9F308D4FE5E6}"/>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E37A2BF3-0AB6-F720-4448-B42393259525}"/>
              </a:ext>
            </a:extLst>
          </p:cNvPr>
          <p:cNvPicPr>
            <a:picLocks noChangeAspect="1"/>
          </p:cNvPicPr>
          <p:nvPr/>
        </p:nvPicPr>
        <p:blipFill>
          <a:blip r:embed="rId4"/>
          <a:stretch>
            <a:fillRect/>
          </a:stretch>
        </p:blipFill>
        <p:spPr>
          <a:xfrm>
            <a:off x="0" y="6610277"/>
            <a:ext cx="9144000" cy="254891"/>
          </a:xfrm>
          <a:prstGeom prst="rect">
            <a:avLst/>
          </a:prstGeom>
        </p:spPr>
      </p:pic>
      <p:graphicFrame>
        <p:nvGraphicFramePr>
          <p:cNvPr id="3" name="Table 2">
            <a:extLst>
              <a:ext uri="{FF2B5EF4-FFF2-40B4-BE49-F238E27FC236}">
                <a16:creationId xmlns:a16="http://schemas.microsoft.com/office/drawing/2014/main" id="{6407C0DB-DE97-22E8-5AD5-7576BB348672}"/>
              </a:ext>
            </a:extLst>
          </p:cNvPr>
          <p:cNvGraphicFramePr>
            <a:graphicFrameLocks noGrp="1"/>
          </p:cNvGraphicFramePr>
          <p:nvPr>
            <p:extLst>
              <p:ext uri="{D42A27DB-BD31-4B8C-83A1-F6EECF244321}">
                <p14:modId xmlns:p14="http://schemas.microsoft.com/office/powerpoint/2010/main" val="863151097"/>
              </p:ext>
            </p:extLst>
          </p:nvPr>
        </p:nvGraphicFramePr>
        <p:xfrm>
          <a:off x="947970" y="1582478"/>
          <a:ext cx="6410325" cy="1714500"/>
        </p:xfrm>
        <a:graphic>
          <a:graphicData uri="http://schemas.openxmlformats.org/drawingml/2006/table">
            <a:tbl>
              <a:tblPr/>
              <a:tblGrid>
                <a:gridCol w="3752850">
                  <a:extLst>
                    <a:ext uri="{9D8B030D-6E8A-4147-A177-3AD203B41FA5}">
                      <a16:colId xmlns:a16="http://schemas.microsoft.com/office/drawing/2014/main" val="3551827124"/>
                    </a:ext>
                  </a:extLst>
                </a:gridCol>
                <a:gridCol w="2657475">
                  <a:extLst>
                    <a:ext uri="{9D8B030D-6E8A-4147-A177-3AD203B41FA5}">
                      <a16:colId xmlns:a16="http://schemas.microsoft.com/office/drawing/2014/main" val="629765336"/>
                    </a:ext>
                  </a:extLst>
                </a:gridCol>
              </a:tblGrid>
              <a:tr h="457200">
                <a:tc>
                  <a:txBody>
                    <a:bodyPr/>
                    <a:lstStyle/>
                    <a:p>
                      <a:pPr algn="l" fontAlgn="base">
                        <a:lnSpc>
                          <a:spcPts val="2175"/>
                        </a:lnSpc>
                        <a:buNone/>
                      </a:pPr>
                      <a:r>
                        <a:rPr lang="en-GB" sz="1800" b="1" i="0" dirty="0">
                          <a:solidFill>
                            <a:srgbClr val="FFFFFF"/>
                          </a:solidFill>
                          <a:effectLst/>
                          <a:latin typeface="Times New Roman" panose="02020603050405020304" pitchFamily="18" charset="0"/>
                        </a:rPr>
                        <a:t>Expenses​</a:t>
                      </a:r>
                      <a:endParaRPr lang="en-GB" b="1" i="0" dirty="0">
                        <a:solidFill>
                          <a:srgbClr val="FFFFFF"/>
                        </a:solidFill>
                        <a:effectLst/>
                      </a:endParaRPr>
                    </a:p>
                  </a:txBody>
                  <a:tcPr>
                    <a:lnL w="11059" cap="flat" cmpd="sng" algn="ctr">
                      <a:solidFill>
                        <a:srgbClr val="FFFFFF"/>
                      </a:solidFill>
                      <a:prstDash val="solid"/>
                      <a:round/>
                      <a:headEnd type="none" w="med" len="med"/>
                      <a:tailEnd type="none" w="med" len="med"/>
                    </a:lnL>
                    <a:lnR w="11059" cap="flat" cmpd="sng" algn="ctr">
                      <a:solidFill>
                        <a:srgbClr val="FFFFFF"/>
                      </a:solidFill>
                      <a:prstDash val="solid"/>
                      <a:round/>
                      <a:headEnd type="none" w="med" len="med"/>
                      <a:tailEnd type="none" w="med" len="med"/>
                    </a:lnR>
                    <a:lnT w="11059" cap="flat" cmpd="sng" algn="ctr">
                      <a:solidFill>
                        <a:srgbClr val="FFFFFF"/>
                      </a:solidFill>
                      <a:prstDash val="solid"/>
                      <a:round/>
                      <a:headEnd type="none" w="med" len="med"/>
                      <a:tailEnd type="none" w="med" len="med"/>
                    </a:lnT>
                    <a:lnB w="33176" cap="flat" cmpd="sng" algn="ctr">
                      <a:solidFill>
                        <a:srgbClr val="FFFFFF"/>
                      </a:solidFill>
                      <a:prstDash val="solid"/>
                      <a:round/>
                      <a:headEnd type="none" w="med" len="med"/>
                      <a:tailEnd type="none" w="med" len="med"/>
                    </a:lnB>
                    <a:solidFill>
                      <a:srgbClr val="ED7D31"/>
                    </a:solidFill>
                  </a:tcPr>
                </a:tc>
                <a:tc>
                  <a:txBody>
                    <a:bodyPr/>
                    <a:lstStyle/>
                    <a:p>
                      <a:pPr algn="l" fontAlgn="base">
                        <a:lnSpc>
                          <a:spcPts val="2175"/>
                        </a:lnSpc>
                        <a:buNone/>
                      </a:pPr>
                      <a:r>
                        <a:rPr lang="en-GB" sz="1800" b="1" i="0" dirty="0">
                          <a:solidFill>
                            <a:srgbClr val="FFFFFF"/>
                          </a:solidFill>
                          <a:effectLst/>
                          <a:latin typeface="Times New Roman" panose="02020603050405020304" pitchFamily="18" charset="0"/>
                        </a:rPr>
                        <a:t>Expected Cost (BWP)​</a:t>
                      </a:r>
                      <a:endParaRPr lang="en-GB" b="1" i="0" dirty="0">
                        <a:solidFill>
                          <a:srgbClr val="FFFFFF"/>
                        </a:solidFill>
                        <a:effectLst/>
                      </a:endParaRPr>
                    </a:p>
                  </a:txBody>
                  <a:tcPr>
                    <a:lnL w="11059" cap="flat" cmpd="sng" algn="ctr">
                      <a:solidFill>
                        <a:srgbClr val="FFFFFF"/>
                      </a:solidFill>
                      <a:prstDash val="solid"/>
                      <a:round/>
                      <a:headEnd type="none" w="med" len="med"/>
                      <a:tailEnd type="none" w="med" len="med"/>
                    </a:lnL>
                    <a:lnR w="11059" cap="flat" cmpd="sng" algn="ctr">
                      <a:solidFill>
                        <a:srgbClr val="FFFFFF"/>
                      </a:solidFill>
                      <a:prstDash val="solid"/>
                      <a:round/>
                      <a:headEnd type="none" w="med" len="med"/>
                      <a:tailEnd type="none" w="med" len="med"/>
                    </a:lnR>
                    <a:lnT w="11059" cap="flat" cmpd="sng" algn="ctr">
                      <a:solidFill>
                        <a:srgbClr val="FFFFFF"/>
                      </a:solidFill>
                      <a:prstDash val="solid"/>
                      <a:round/>
                      <a:headEnd type="none" w="med" len="med"/>
                      <a:tailEnd type="none" w="med" len="med"/>
                    </a:lnT>
                    <a:lnB w="33176" cap="flat" cmpd="sng" algn="ctr">
                      <a:solidFill>
                        <a:srgbClr val="FFFFFF"/>
                      </a:solidFill>
                      <a:prstDash val="solid"/>
                      <a:round/>
                      <a:headEnd type="none" w="med" len="med"/>
                      <a:tailEnd type="none" w="med" len="med"/>
                    </a:lnB>
                    <a:solidFill>
                      <a:srgbClr val="ED7D31"/>
                    </a:solidFill>
                  </a:tcPr>
                </a:tc>
                <a:extLst>
                  <a:ext uri="{0D108BD9-81ED-4DB2-BD59-A6C34878D82A}">
                    <a16:rowId xmlns:a16="http://schemas.microsoft.com/office/drawing/2014/main" val="4193034705"/>
                  </a:ext>
                </a:extLst>
              </a:tr>
              <a:tr h="419100">
                <a:tc>
                  <a:txBody>
                    <a:bodyPr/>
                    <a:lstStyle/>
                    <a:p>
                      <a:pPr algn="l" fontAlgn="base">
                        <a:lnSpc>
                          <a:spcPts val="2175"/>
                        </a:lnSpc>
                        <a:buNone/>
                      </a:pPr>
                      <a:r>
                        <a:rPr lang="en-GB" sz="1800" b="0" i="0" dirty="0">
                          <a:solidFill>
                            <a:srgbClr val="000000"/>
                          </a:solidFill>
                          <a:effectLst/>
                          <a:latin typeface="Times New Roman" panose="02020603050405020304" pitchFamily="18" charset="0"/>
                        </a:rPr>
                        <a:t>Software Licences​</a:t>
                      </a:r>
                      <a:endParaRPr lang="en-GB" b="0" i="0" dirty="0">
                        <a:solidFill>
                          <a:srgbClr val="000000"/>
                        </a:solidFill>
                        <a:effectLst/>
                      </a:endParaRPr>
                    </a:p>
                  </a:txBody>
                  <a:tcPr>
                    <a:lnL w="11059" cap="flat" cmpd="sng" algn="ctr">
                      <a:solidFill>
                        <a:srgbClr val="FFFFFF"/>
                      </a:solidFill>
                      <a:prstDash val="solid"/>
                      <a:round/>
                      <a:headEnd type="none" w="med" len="med"/>
                      <a:tailEnd type="none" w="med" len="med"/>
                    </a:lnL>
                    <a:lnR w="11059" cap="flat" cmpd="sng" algn="ctr">
                      <a:solidFill>
                        <a:srgbClr val="FFFFFF"/>
                      </a:solidFill>
                      <a:prstDash val="solid"/>
                      <a:round/>
                      <a:headEnd type="none" w="med" len="med"/>
                      <a:tailEnd type="none" w="med" len="med"/>
                    </a:lnR>
                    <a:lnT w="33176" cap="flat" cmpd="sng" algn="ctr">
                      <a:solidFill>
                        <a:srgbClr val="FFFFFF"/>
                      </a:solidFill>
                      <a:prstDash val="solid"/>
                      <a:round/>
                      <a:headEnd type="none" w="med" len="med"/>
                      <a:tailEnd type="none" w="med" len="med"/>
                    </a:lnT>
                    <a:lnB w="11059" cap="flat" cmpd="sng" algn="ctr">
                      <a:solidFill>
                        <a:srgbClr val="FFFFFF"/>
                      </a:solidFill>
                      <a:prstDash val="solid"/>
                      <a:round/>
                      <a:headEnd type="none" w="med" len="med"/>
                      <a:tailEnd type="none" w="med" len="med"/>
                    </a:lnB>
                    <a:solidFill>
                      <a:srgbClr val="F8D7CD"/>
                    </a:solidFill>
                  </a:tcPr>
                </a:tc>
                <a:tc>
                  <a:txBody>
                    <a:bodyPr/>
                    <a:lstStyle/>
                    <a:p>
                      <a:pPr algn="l" fontAlgn="base">
                        <a:lnSpc>
                          <a:spcPts val="2175"/>
                        </a:lnSpc>
                        <a:buNone/>
                      </a:pPr>
                      <a:r>
                        <a:rPr lang="en-GB" sz="1800" b="0" i="0" dirty="0">
                          <a:solidFill>
                            <a:srgbClr val="000000"/>
                          </a:solidFill>
                          <a:effectLst/>
                          <a:latin typeface="Times New Roman" panose="02020603050405020304" pitchFamily="18" charset="0"/>
                        </a:rPr>
                        <a:t>1400​</a:t>
                      </a:r>
                      <a:endParaRPr lang="en-GB" b="0" i="0" dirty="0">
                        <a:solidFill>
                          <a:srgbClr val="000000"/>
                        </a:solidFill>
                        <a:effectLst/>
                      </a:endParaRPr>
                    </a:p>
                  </a:txBody>
                  <a:tcPr>
                    <a:lnL w="11059" cap="flat" cmpd="sng" algn="ctr">
                      <a:solidFill>
                        <a:srgbClr val="FFFFFF"/>
                      </a:solidFill>
                      <a:prstDash val="solid"/>
                      <a:round/>
                      <a:headEnd type="none" w="med" len="med"/>
                      <a:tailEnd type="none" w="med" len="med"/>
                    </a:lnL>
                    <a:lnR w="11059" cap="flat" cmpd="sng" algn="ctr">
                      <a:solidFill>
                        <a:srgbClr val="FFFFFF"/>
                      </a:solidFill>
                      <a:prstDash val="solid"/>
                      <a:round/>
                      <a:headEnd type="none" w="med" len="med"/>
                      <a:tailEnd type="none" w="med" len="med"/>
                    </a:lnR>
                    <a:lnT w="33176" cap="flat" cmpd="sng" algn="ctr">
                      <a:solidFill>
                        <a:srgbClr val="FFFFFF"/>
                      </a:solidFill>
                      <a:prstDash val="solid"/>
                      <a:round/>
                      <a:headEnd type="none" w="med" len="med"/>
                      <a:tailEnd type="none" w="med" len="med"/>
                    </a:lnT>
                    <a:lnB w="11059" cap="flat" cmpd="sng" algn="ctr">
                      <a:solidFill>
                        <a:srgbClr val="FFFFFF"/>
                      </a:solidFill>
                      <a:prstDash val="solid"/>
                      <a:round/>
                      <a:headEnd type="none" w="med" len="med"/>
                      <a:tailEnd type="none" w="med" len="med"/>
                    </a:lnB>
                    <a:solidFill>
                      <a:srgbClr val="F8D7CD"/>
                    </a:solidFill>
                  </a:tcPr>
                </a:tc>
                <a:extLst>
                  <a:ext uri="{0D108BD9-81ED-4DB2-BD59-A6C34878D82A}">
                    <a16:rowId xmlns:a16="http://schemas.microsoft.com/office/drawing/2014/main" val="2932542136"/>
                  </a:ext>
                </a:extLst>
              </a:tr>
              <a:tr h="419100">
                <a:tc>
                  <a:txBody>
                    <a:bodyPr/>
                    <a:lstStyle/>
                    <a:p>
                      <a:pPr algn="l" fontAlgn="base">
                        <a:lnSpc>
                          <a:spcPts val="2175"/>
                        </a:lnSpc>
                        <a:buNone/>
                      </a:pPr>
                      <a:r>
                        <a:rPr lang="en-GB" sz="1800" b="0" i="0">
                          <a:solidFill>
                            <a:srgbClr val="000000"/>
                          </a:solidFill>
                          <a:effectLst/>
                          <a:latin typeface="Times New Roman" panose="02020603050405020304" pitchFamily="18" charset="0"/>
                        </a:rPr>
                        <a:t>Unexpected Costs​</a:t>
                      </a:r>
                      <a:endParaRPr lang="en-GB" b="0" i="0">
                        <a:solidFill>
                          <a:srgbClr val="000000"/>
                        </a:solidFill>
                        <a:effectLst/>
                      </a:endParaRPr>
                    </a:p>
                  </a:txBody>
                  <a:tcPr>
                    <a:lnL w="11059" cap="flat" cmpd="sng" algn="ctr">
                      <a:solidFill>
                        <a:srgbClr val="FFFFFF"/>
                      </a:solidFill>
                      <a:prstDash val="solid"/>
                      <a:round/>
                      <a:headEnd type="none" w="med" len="med"/>
                      <a:tailEnd type="none" w="med" len="med"/>
                    </a:lnL>
                    <a:lnR w="11059" cap="flat" cmpd="sng" algn="ctr">
                      <a:solidFill>
                        <a:srgbClr val="FFFFFF"/>
                      </a:solidFill>
                      <a:prstDash val="solid"/>
                      <a:round/>
                      <a:headEnd type="none" w="med" len="med"/>
                      <a:tailEnd type="none" w="med" len="med"/>
                    </a:lnR>
                    <a:lnT w="11059" cap="flat" cmpd="sng" algn="ctr">
                      <a:solidFill>
                        <a:srgbClr val="FFFFFF"/>
                      </a:solidFill>
                      <a:prstDash val="solid"/>
                      <a:round/>
                      <a:headEnd type="none" w="med" len="med"/>
                      <a:tailEnd type="none" w="med" len="med"/>
                    </a:lnT>
                    <a:lnB w="11059" cap="flat" cmpd="sng" algn="ctr">
                      <a:solidFill>
                        <a:srgbClr val="FFFFFF"/>
                      </a:solidFill>
                      <a:prstDash val="solid"/>
                      <a:round/>
                      <a:headEnd type="none" w="med" len="med"/>
                      <a:tailEnd type="none" w="med" len="med"/>
                    </a:lnB>
                    <a:solidFill>
                      <a:srgbClr val="FCECE8"/>
                    </a:solidFill>
                  </a:tcPr>
                </a:tc>
                <a:tc>
                  <a:txBody>
                    <a:bodyPr/>
                    <a:lstStyle/>
                    <a:p>
                      <a:pPr algn="l" fontAlgn="base">
                        <a:lnSpc>
                          <a:spcPts val="2175"/>
                        </a:lnSpc>
                        <a:buNone/>
                      </a:pPr>
                      <a:r>
                        <a:rPr lang="en-GB" sz="1800" b="0" i="0">
                          <a:solidFill>
                            <a:srgbClr val="000000"/>
                          </a:solidFill>
                          <a:effectLst/>
                          <a:latin typeface="Times New Roman" panose="02020603050405020304" pitchFamily="18" charset="0"/>
                        </a:rPr>
                        <a:t>500​</a:t>
                      </a:r>
                      <a:endParaRPr lang="en-GB" b="0" i="0">
                        <a:solidFill>
                          <a:srgbClr val="000000"/>
                        </a:solidFill>
                        <a:effectLst/>
                      </a:endParaRPr>
                    </a:p>
                  </a:txBody>
                  <a:tcPr>
                    <a:lnL w="11059" cap="flat" cmpd="sng" algn="ctr">
                      <a:solidFill>
                        <a:srgbClr val="FFFFFF"/>
                      </a:solidFill>
                      <a:prstDash val="solid"/>
                      <a:round/>
                      <a:headEnd type="none" w="med" len="med"/>
                      <a:tailEnd type="none" w="med" len="med"/>
                    </a:lnL>
                    <a:lnR w="11059" cap="flat" cmpd="sng" algn="ctr">
                      <a:solidFill>
                        <a:srgbClr val="FFFFFF"/>
                      </a:solidFill>
                      <a:prstDash val="solid"/>
                      <a:round/>
                      <a:headEnd type="none" w="med" len="med"/>
                      <a:tailEnd type="none" w="med" len="med"/>
                    </a:lnR>
                    <a:lnT w="11059" cap="flat" cmpd="sng" algn="ctr">
                      <a:solidFill>
                        <a:srgbClr val="FFFFFF"/>
                      </a:solidFill>
                      <a:prstDash val="solid"/>
                      <a:round/>
                      <a:headEnd type="none" w="med" len="med"/>
                      <a:tailEnd type="none" w="med" len="med"/>
                    </a:lnT>
                    <a:lnB w="11059" cap="flat" cmpd="sng" algn="ctr">
                      <a:solidFill>
                        <a:srgbClr val="FFFFFF"/>
                      </a:solidFill>
                      <a:prstDash val="solid"/>
                      <a:round/>
                      <a:headEnd type="none" w="med" len="med"/>
                      <a:tailEnd type="none" w="med" len="med"/>
                    </a:lnB>
                    <a:solidFill>
                      <a:srgbClr val="FCECE8"/>
                    </a:solidFill>
                  </a:tcPr>
                </a:tc>
                <a:extLst>
                  <a:ext uri="{0D108BD9-81ED-4DB2-BD59-A6C34878D82A}">
                    <a16:rowId xmlns:a16="http://schemas.microsoft.com/office/drawing/2014/main" val="912089629"/>
                  </a:ext>
                </a:extLst>
              </a:tr>
              <a:tr h="419100">
                <a:tc>
                  <a:txBody>
                    <a:bodyPr/>
                    <a:lstStyle/>
                    <a:p>
                      <a:pPr algn="l" fontAlgn="base">
                        <a:lnSpc>
                          <a:spcPts val="2175"/>
                        </a:lnSpc>
                        <a:buNone/>
                      </a:pPr>
                      <a:r>
                        <a:rPr lang="en-GB" sz="1800" b="0" i="0">
                          <a:solidFill>
                            <a:srgbClr val="000000"/>
                          </a:solidFill>
                          <a:effectLst/>
                          <a:latin typeface="Times New Roman" panose="02020603050405020304" pitchFamily="18" charset="0"/>
                        </a:rPr>
                        <a:t>Total​</a:t>
                      </a:r>
                      <a:endParaRPr lang="en-GB" b="0" i="0">
                        <a:solidFill>
                          <a:srgbClr val="000000"/>
                        </a:solidFill>
                        <a:effectLst/>
                      </a:endParaRPr>
                    </a:p>
                  </a:txBody>
                  <a:tcPr>
                    <a:lnL w="11059" cap="flat" cmpd="sng" algn="ctr">
                      <a:solidFill>
                        <a:srgbClr val="FFFFFF"/>
                      </a:solidFill>
                      <a:prstDash val="solid"/>
                      <a:round/>
                      <a:headEnd type="none" w="med" len="med"/>
                      <a:tailEnd type="none" w="med" len="med"/>
                    </a:lnL>
                    <a:lnR w="11059" cap="flat" cmpd="sng" algn="ctr">
                      <a:solidFill>
                        <a:srgbClr val="FFFFFF"/>
                      </a:solidFill>
                      <a:prstDash val="solid"/>
                      <a:round/>
                      <a:headEnd type="none" w="med" len="med"/>
                      <a:tailEnd type="none" w="med" len="med"/>
                    </a:lnR>
                    <a:lnT w="11059" cap="flat" cmpd="sng" algn="ctr">
                      <a:solidFill>
                        <a:srgbClr val="FFFFFF"/>
                      </a:solidFill>
                      <a:prstDash val="solid"/>
                      <a:round/>
                      <a:headEnd type="none" w="med" len="med"/>
                      <a:tailEnd type="none" w="med" len="med"/>
                    </a:lnT>
                    <a:lnB w="11059" cap="flat" cmpd="sng" algn="ctr">
                      <a:solidFill>
                        <a:srgbClr val="FFFFFF"/>
                      </a:solidFill>
                      <a:prstDash val="solid"/>
                      <a:round/>
                      <a:headEnd type="none" w="med" len="med"/>
                      <a:tailEnd type="none" w="med" len="med"/>
                    </a:lnB>
                    <a:solidFill>
                      <a:srgbClr val="F8D7CD"/>
                    </a:solidFill>
                  </a:tcPr>
                </a:tc>
                <a:tc>
                  <a:txBody>
                    <a:bodyPr/>
                    <a:lstStyle/>
                    <a:p>
                      <a:pPr algn="l" fontAlgn="base">
                        <a:lnSpc>
                          <a:spcPts val="2175"/>
                        </a:lnSpc>
                        <a:buNone/>
                      </a:pPr>
                      <a:r>
                        <a:rPr lang="en-GB" sz="1800" b="0" i="0" dirty="0">
                          <a:solidFill>
                            <a:srgbClr val="000000"/>
                          </a:solidFill>
                          <a:effectLst/>
                          <a:latin typeface="Times New Roman" panose="02020603050405020304" pitchFamily="18" charset="0"/>
                        </a:rPr>
                        <a:t>1900​</a:t>
                      </a:r>
                      <a:endParaRPr lang="en-GB" b="0" i="0" dirty="0">
                        <a:solidFill>
                          <a:srgbClr val="000000"/>
                        </a:solidFill>
                        <a:effectLst/>
                      </a:endParaRPr>
                    </a:p>
                  </a:txBody>
                  <a:tcPr>
                    <a:lnL w="11059" cap="flat" cmpd="sng" algn="ctr">
                      <a:solidFill>
                        <a:srgbClr val="FFFFFF"/>
                      </a:solidFill>
                      <a:prstDash val="solid"/>
                      <a:round/>
                      <a:headEnd type="none" w="med" len="med"/>
                      <a:tailEnd type="none" w="med" len="med"/>
                    </a:lnL>
                    <a:lnR w="11059" cap="flat" cmpd="sng" algn="ctr">
                      <a:solidFill>
                        <a:srgbClr val="FFFFFF"/>
                      </a:solidFill>
                      <a:prstDash val="solid"/>
                      <a:round/>
                      <a:headEnd type="none" w="med" len="med"/>
                      <a:tailEnd type="none" w="med" len="med"/>
                    </a:lnR>
                    <a:lnT w="11059" cap="flat" cmpd="sng" algn="ctr">
                      <a:solidFill>
                        <a:srgbClr val="FFFFFF"/>
                      </a:solidFill>
                      <a:prstDash val="solid"/>
                      <a:round/>
                      <a:headEnd type="none" w="med" len="med"/>
                      <a:tailEnd type="none" w="med" len="med"/>
                    </a:lnT>
                    <a:lnB w="11059" cap="flat" cmpd="sng" algn="ctr">
                      <a:solidFill>
                        <a:srgbClr val="FFFFFF"/>
                      </a:solidFill>
                      <a:prstDash val="solid"/>
                      <a:round/>
                      <a:headEnd type="none" w="med" len="med"/>
                      <a:tailEnd type="none" w="med" len="med"/>
                    </a:lnB>
                    <a:solidFill>
                      <a:srgbClr val="F8D7CD"/>
                    </a:solidFill>
                  </a:tcPr>
                </a:tc>
                <a:extLst>
                  <a:ext uri="{0D108BD9-81ED-4DB2-BD59-A6C34878D82A}">
                    <a16:rowId xmlns:a16="http://schemas.microsoft.com/office/drawing/2014/main" val="2360797952"/>
                  </a:ext>
                </a:extLst>
              </a:tr>
            </a:tbl>
          </a:graphicData>
        </a:graphic>
      </p:graphicFrame>
      <p:sp>
        <p:nvSpPr>
          <p:cNvPr id="7" name="Rectangle 1">
            <a:extLst>
              <a:ext uri="{FF2B5EF4-FFF2-40B4-BE49-F238E27FC236}">
                <a16:creationId xmlns:a16="http://schemas.microsoft.com/office/drawing/2014/main" id="{B503A6C0-DF2F-7F48-2A0A-85CF2D8210B3}"/>
              </a:ext>
            </a:extLst>
          </p:cNvPr>
          <p:cNvSpPr>
            <a:spLocks noChangeArrowheads="1"/>
          </p:cNvSpPr>
          <p:nvPr/>
        </p:nvSpPr>
        <p:spPr bwMode="auto">
          <a:xfrm>
            <a:off x="1366838" y="3144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46183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A2CB5-BAC3-E478-6584-274440872E6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E567376-8F21-9312-9752-AD1427EE8CAD}"/>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10</a:t>
            </a:r>
          </a:p>
        </p:txBody>
      </p:sp>
      <p:sp>
        <p:nvSpPr>
          <p:cNvPr id="5" name="Title 1">
            <a:extLst>
              <a:ext uri="{FF2B5EF4-FFF2-40B4-BE49-F238E27FC236}">
                <a16:creationId xmlns:a16="http://schemas.microsoft.com/office/drawing/2014/main" id="{AEF7C251-75A4-53D7-3A52-DEEF5E85FBC0}"/>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PROJECT TIMELINE</a:t>
            </a:r>
          </a:p>
        </p:txBody>
      </p:sp>
      <p:pic>
        <p:nvPicPr>
          <p:cNvPr id="6" name="Content Placeholder 4">
            <a:extLst>
              <a:ext uri="{FF2B5EF4-FFF2-40B4-BE49-F238E27FC236}">
                <a16:creationId xmlns:a16="http://schemas.microsoft.com/office/drawing/2014/main" id="{971A8471-6D83-16B9-934A-1C0F6F5CCFBE}"/>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8902A5C1-6F98-952E-75AB-2C9419EE42EA}"/>
              </a:ext>
            </a:extLst>
          </p:cNvPr>
          <p:cNvSpPr>
            <a:spLocks noGrp="1"/>
          </p:cNvSpPr>
          <p:nvPr>
            <p:ph type="sldNum" sz="quarter" idx="12"/>
          </p:nvPr>
        </p:nvSpPr>
        <p:spPr/>
        <p:txBody>
          <a:bodyPr/>
          <a:lstStyle/>
          <a:p>
            <a:fld id="{21004690-02AB-4EF8-9513-CB283ECF7991}" type="slidenum">
              <a:rPr lang="en-BW" smtClean="0"/>
              <a:t>12</a:t>
            </a:fld>
            <a:endParaRPr lang="en-BW"/>
          </a:p>
        </p:txBody>
      </p:sp>
      <p:pic>
        <p:nvPicPr>
          <p:cNvPr id="9" name="Picture 8">
            <a:extLst>
              <a:ext uri="{FF2B5EF4-FFF2-40B4-BE49-F238E27FC236}">
                <a16:creationId xmlns:a16="http://schemas.microsoft.com/office/drawing/2014/main" id="{9424D4DB-C976-080A-EFFE-D2D914162AE8}"/>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47887B91-2DED-931D-C3DA-3AFF8BF3E870}"/>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Rectangle 1">
            <a:extLst>
              <a:ext uri="{FF2B5EF4-FFF2-40B4-BE49-F238E27FC236}">
                <a16:creationId xmlns:a16="http://schemas.microsoft.com/office/drawing/2014/main" id="{09618A13-BE57-0D30-AF79-8E8C0DF99C36}"/>
              </a:ext>
            </a:extLst>
          </p:cNvPr>
          <p:cNvSpPr>
            <a:spLocks noChangeArrowheads="1"/>
          </p:cNvSpPr>
          <p:nvPr/>
        </p:nvSpPr>
        <p:spPr bwMode="auto">
          <a:xfrm>
            <a:off x="1366838" y="3144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1" name="Table 10">
            <a:extLst>
              <a:ext uri="{FF2B5EF4-FFF2-40B4-BE49-F238E27FC236}">
                <a16:creationId xmlns:a16="http://schemas.microsoft.com/office/drawing/2014/main" id="{D6C95174-BA45-4E74-49E2-7D89A7AB7730}"/>
              </a:ext>
            </a:extLst>
          </p:cNvPr>
          <p:cNvGraphicFramePr>
            <a:graphicFrameLocks noGrp="1"/>
          </p:cNvGraphicFramePr>
          <p:nvPr>
            <p:extLst>
              <p:ext uri="{D42A27DB-BD31-4B8C-83A1-F6EECF244321}">
                <p14:modId xmlns:p14="http://schemas.microsoft.com/office/powerpoint/2010/main" val="782505436"/>
              </p:ext>
            </p:extLst>
          </p:nvPr>
        </p:nvGraphicFramePr>
        <p:xfrm>
          <a:off x="947970" y="1872347"/>
          <a:ext cx="6450806" cy="2644787"/>
        </p:xfrm>
        <a:graphic>
          <a:graphicData uri="http://schemas.openxmlformats.org/drawingml/2006/table">
            <a:tbl>
              <a:tblPr>
                <a:tableStyleId>{5C22544A-7EE6-4342-B048-85BDC9FD1C3A}</a:tableStyleId>
              </a:tblPr>
              <a:tblGrid>
                <a:gridCol w="2868775">
                  <a:extLst>
                    <a:ext uri="{9D8B030D-6E8A-4147-A177-3AD203B41FA5}">
                      <a16:colId xmlns:a16="http://schemas.microsoft.com/office/drawing/2014/main" val="1041810454"/>
                    </a:ext>
                  </a:extLst>
                </a:gridCol>
                <a:gridCol w="945751">
                  <a:extLst>
                    <a:ext uri="{9D8B030D-6E8A-4147-A177-3AD203B41FA5}">
                      <a16:colId xmlns:a16="http://schemas.microsoft.com/office/drawing/2014/main" val="1751722332"/>
                    </a:ext>
                  </a:extLst>
                </a:gridCol>
                <a:gridCol w="945751">
                  <a:extLst>
                    <a:ext uri="{9D8B030D-6E8A-4147-A177-3AD203B41FA5}">
                      <a16:colId xmlns:a16="http://schemas.microsoft.com/office/drawing/2014/main" val="1753958543"/>
                    </a:ext>
                  </a:extLst>
                </a:gridCol>
                <a:gridCol w="933928">
                  <a:extLst>
                    <a:ext uri="{9D8B030D-6E8A-4147-A177-3AD203B41FA5}">
                      <a16:colId xmlns:a16="http://schemas.microsoft.com/office/drawing/2014/main" val="3921092492"/>
                    </a:ext>
                  </a:extLst>
                </a:gridCol>
                <a:gridCol w="756601">
                  <a:extLst>
                    <a:ext uri="{9D8B030D-6E8A-4147-A177-3AD203B41FA5}">
                      <a16:colId xmlns:a16="http://schemas.microsoft.com/office/drawing/2014/main" val="2499185130"/>
                    </a:ext>
                  </a:extLst>
                </a:gridCol>
              </a:tblGrid>
              <a:tr h="656875">
                <a:tc>
                  <a:txBody>
                    <a:bodyPr/>
                    <a:lstStyle/>
                    <a:p>
                      <a:pPr algn="l" fontAlgn="ctr">
                        <a:buNone/>
                      </a:pPr>
                      <a:r>
                        <a:rPr lang="en-US" sz="1100" u="none" strike="noStrike" dirty="0">
                          <a:effectLst/>
                        </a:rPr>
                        <a:t>Task</a:t>
                      </a:r>
                      <a:endParaRPr lang="en-US" sz="1100" b="0" i="0" u="none" strike="noStrike" dirty="0">
                        <a:solidFill>
                          <a:srgbClr val="000000"/>
                        </a:solidFill>
                        <a:effectLst/>
                        <a:latin typeface="Cambria" panose="02040503050406030204" pitchFamily="18" charset="0"/>
                      </a:endParaRPr>
                    </a:p>
                  </a:txBody>
                  <a:tcPr marL="9525" marR="9525" marT="9525" marB="0" anchor="ctr"/>
                </a:tc>
                <a:tc>
                  <a:txBody>
                    <a:bodyPr/>
                    <a:lstStyle/>
                    <a:p>
                      <a:pPr algn="l" fontAlgn="ctr">
                        <a:buNone/>
                      </a:pPr>
                      <a:r>
                        <a:rPr lang="en-US" sz="1100" u="none" strike="noStrike">
                          <a:effectLst/>
                        </a:rPr>
                        <a:t>Start Week</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l" fontAlgn="ctr">
                        <a:buNone/>
                      </a:pPr>
                      <a:r>
                        <a:rPr lang="en-US" sz="1100" u="none" strike="noStrike">
                          <a:effectLst/>
                        </a:rPr>
                        <a:t>Weeks Needed</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l" fontAlgn="ctr">
                        <a:buNone/>
                      </a:pPr>
                      <a:r>
                        <a:rPr lang="en-US" sz="1100" u="none" strike="noStrike">
                          <a:effectLst/>
                        </a:rPr>
                        <a:t>End Week</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l" fontAlgn="ctr">
                        <a:buNone/>
                      </a:pPr>
                      <a:r>
                        <a:rPr lang="en-US" sz="1100" u="none" strike="noStrike" dirty="0">
                          <a:effectLst/>
                        </a:rPr>
                        <a:t>Duration</a:t>
                      </a:r>
                      <a:endParaRPr lang="en-US" sz="1100" b="0" i="0" u="none" strike="noStrike" dirty="0">
                        <a:solidFill>
                          <a:srgbClr val="000000"/>
                        </a:solidFill>
                        <a:effectLst/>
                        <a:latin typeface="Cambria" panose="02040503050406030204" pitchFamily="18" charset="0"/>
                      </a:endParaRPr>
                    </a:p>
                  </a:txBody>
                  <a:tcPr marL="9525" marR="9525" marT="9525" marB="0" anchor="ctr"/>
                </a:tc>
                <a:extLst>
                  <a:ext uri="{0D108BD9-81ED-4DB2-BD59-A6C34878D82A}">
                    <a16:rowId xmlns:a16="http://schemas.microsoft.com/office/drawing/2014/main" val="2473068415"/>
                  </a:ext>
                </a:extLst>
              </a:tr>
              <a:tr h="345724">
                <a:tc>
                  <a:txBody>
                    <a:bodyPr/>
                    <a:lstStyle/>
                    <a:p>
                      <a:pPr algn="l" fontAlgn="ctr">
                        <a:buNone/>
                      </a:pPr>
                      <a:r>
                        <a:rPr lang="en-US" sz="1100" u="none" strike="noStrike">
                          <a:effectLst/>
                        </a:rPr>
                        <a:t>Project Idea &amp; Documentation</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r" fontAlgn="ctr">
                        <a:buNone/>
                      </a:pPr>
                      <a:r>
                        <a:rPr lang="en-US" sz="1100" u="none" strike="noStrike">
                          <a:effectLst/>
                        </a:rPr>
                        <a:t>1</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r" fontAlgn="ctr">
                        <a:buNone/>
                      </a:pPr>
                      <a:r>
                        <a:rPr lang="en-US" sz="1100" u="none" strike="noStrike">
                          <a:effectLst/>
                        </a:rPr>
                        <a:t>5</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r" fontAlgn="ctr">
                        <a:buNone/>
                      </a:pPr>
                      <a:r>
                        <a:rPr lang="en-US" sz="1100" u="none" strike="noStrike">
                          <a:effectLst/>
                        </a:rPr>
                        <a:t>5</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r" fontAlgn="b">
                        <a:buNone/>
                      </a:pPr>
                      <a:r>
                        <a:rPr lang="en-US" sz="1100" u="none" strike="noStrike">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03319674"/>
                  </a:ext>
                </a:extLst>
              </a:tr>
              <a:tr h="950740">
                <a:tc>
                  <a:txBody>
                    <a:bodyPr/>
                    <a:lstStyle/>
                    <a:p>
                      <a:pPr algn="l" fontAlgn="ctr">
                        <a:buNone/>
                      </a:pPr>
                      <a:r>
                        <a:rPr lang="en-US" sz="1100" u="none" strike="noStrike">
                          <a:effectLst/>
                        </a:rPr>
                        <a:t>System Requirements &amp; Components</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r" fontAlgn="ctr">
                        <a:buNone/>
                      </a:pPr>
                      <a:r>
                        <a:rPr lang="en-US" sz="1100" u="none" strike="noStrike">
                          <a:effectLst/>
                        </a:rPr>
                        <a:t>4</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r" fontAlgn="ctr">
                        <a:buNone/>
                      </a:pPr>
                      <a:r>
                        <a:rPr lang="en-US" sz="1100" u="none" strike="noStrike">
                          <a:effectLst/>
                        </a:rPr>
                        <a:t>2</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r" fontAlgn="ctr">
                        <a:buNone/>
                      </a:pPr>
                      <a:r>
                        <a:rPr lang="en-US" sz="1100" u="none" strike="noStrike">
                          <a:effectLst/>
                        </a:rPr>
                        <a:t>5</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r" fontAlgn="b">
                        <a:buNone/>
                      </a:pPr>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668436645"/>
                  </a:ext>
                </a:extLst>
              </a:tr>
              <a:tr h="345724">
                <a:tc>
                  <a:txBody>
                    <a:bodyPr/>
                    <a:lstStyle/>
                    <a:p>
                      <a:pPr algn="l" fontAlgn="ctr">
                        <a:buNone/>
                      </a:pPr>
                      <a:r>
                        <a:rPr lang="en-US" sz="1100" u="none" strike="noStrike">
                          <a:effectLst/>
                        </a:rPr>
                        <a:t>Project Proposal Presentation</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r" fontAlgn="ctr">
                        <a:buNone/>
                      </a:pPr>
                      <a:r>
                        <a:rPr lang="en-US" sz="1100" u="none" strike="noStrike">
                          <a:effectLst/>
                        </a:rPr>
                        <a:t>5</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r" fontAlgn="ctr">
                        <a:buNone/>
                      </a:pPr>
                      <a:r>
                        <a:rPr lang="en-US" sz="1100" u="none" strike="noStrike" dirty="0">
                          <a:effectLst/>
                        </a:rPr>
                        <a:t>1</a:t>
                      </a:r>
                      <a:endParaRPr lang="en-US" sz="1100" b="0" i="0" u="none" strike="noStrike" dirty="0">
                        <a:solidFill>
                          <a:srgbClr val="000000"/>
                        </a:solidFill>
                        <a:effectLst/>
                        <a:latin typeface="Cambria" panose="02040503050406030204" pitchFamily="18" charset="0"/>
                      </a:endParaRPr>
                    </a:p>
                  </a:txBody>
                  <a:tcPr marL="9525" marR="9525" marT="9525" marB="0" anchor="ctr"/>
                </a:tc>
                <a:tc>
                  <a:txBody>
                    <a:bodyPr/>
                    <a:lstStyle/>
                    <a:p>
                      <a:pPr algn="r" fontAlgn="ctr">
                        <a:buNone/>
                      </a:pPr>
                      <a:r>
                        <a:rPr lang="en-US" sz="1100" u="none" strike="noStrike">
                          <a:effectLst/>
                        </a:rPr>
                        <a:t>6</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r" fontAlgn="b">
                        <a:buNone/>
                      </a:pPr>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326313363"/>
                  </a:ext>
                </a:extLst>
              </a:tr>
              <a:tr h="345724">
                <a:tc>
                  <a:txBody>
                    <a:bodyPr/>
                    <a:lstStyle/>
                    <a:p>
                      <a:pPr algn="l" fontAlgn="ctr">
                        <a:buNone/>
                      </a:pPr>
                      <a:r>
                        <a:rPr lang="en-US" sz="1100" u="none" strike="noStrike">
                          <a:effectLst/>
                        </a:rPr>
                        <a:t>Circuit Design &amp; Simulations</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r" fontAlgn="ctr">
                        <a:buNone/>
                      </a:pPr>
                      <a:r>
                        <a:rPr lang="en-US" sz="1100" u="none" strike="noStrike">
                          <a:effectLst/>
                        </a:rPr>
                        <a:t>6</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r" fontAlgn="ctr">
                        <a:buNone/>
                      </a:pPr>
                      <a:r>
                        <a:rPr lang="en-US" sz="1100" u="none" strike="noStrike">
                          <a:effectLst/>
                        </a:rPr>
                        <a:t>5</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r" fontAlgn="ctr">
                        <a:buNone/>
                      </a:pPr>
                      <a:r>
                        <a:rPr lang="en-US" sz="1100" u="none" strike="noStrike">
                          <a:effectLst/>
                        </a:rPr>
                        <a:t>12</a:t>
                      </a:r>
                      <a:endParaRPr lang="en-US" sz="1100" b="0" i="0" u="none" strike="noStrike">
                        <a:solidFill>
                          <a:srgbClr val="000000"/>
                        </a:solidFill>
                        <a:effectLst/>
                        <a:latin typeface="Cambria" panose="02040503050406030204" pitchFamily="18" charset="0"/>
                      </a:endParaRPr>
                    </a:p>
                  </a:txBody>
                  <a:tcPr marL="9525" marR="9525" marT="9525" marB="0" anchor="ctr"/>
                </a:tc>
                <a:tc>
                  <a:txBody>
                    <a:bodyPr/>
                    <a:lstStyle/>
                    <a:p>
                      <a:pPr algn="r" fontAlgn="b">
                        <a:buNone/>
                      </a:pPr>
                      <a:r>
                        <a:rPr lang="en-US" sz="1100" u="none" strike="noStrike" dirty="0">
                          <a:effectLst/>
                        </a:rPr>
                        <a:t>6</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2070627"/>
                  </a:ext>
                </a:extLst>
              </a:tr>
            </a:tbl>
          </a:graphicData>
        </a:graphic>
      </p:graphicFrame>
    </p:spTree>
    <p:extLst>
      <p:ext uri="{BB962C8B-B14F-4D97-AF65-F5344CB8AC3E}">
        <p14:creationId xmlns:p14="http://schemas.microsoft.com/office/powerpoint/2010/main" val="3682695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FFA09-3C20-0E32-2225-CC25E8B0F06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7DA58F8-0D7D-9118-2981-1924CE2A50BC}"/>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10</a:t>
            </a:r>
          </a:p>
        </p:txBody>
      </p:sp>
      <p:sp>
        <p:nvSpPr>
          <p:cNvPr id="5" name="Title 1">
            <a:extLst>
              <a:ext uri="{FF2B5EF4-FFF2-40B4-BE49-F238E27FC236}">
                <a16:creationId xmlns:a16="http://schemas.microsoft.com/office/drawing/2014/main" id="{5BEE8642-7CB8-AB89-0296-12CFB3202D1A}"/>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Calibri"/>
              </a:rPr>
              <a:t>PROJECT GANN CHART</a:t>
            </a:r>
          </a:p>
        </p:txBody>
      </p:sp>
      <p:pic>
        <p:nvPicPr>
          <p:cNvPr id="6" name="Content Placeholder 4">
            <a:extLst>
              <a:ext uri="{FF2B5EF4-FFF2-40B4-BE49-F238E27FC236}">
                <a16:creationId xmlns:a16="http://schemas.microsoft.com/office/drawing/2014/main" id="{A485FDE9-22FF-0882-E4B9-92BDD500A7BA}"/>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307AFF86-8862-3801-3881-65D723627137}"/>
              </a:ext>
            </a:extLst>
          </p:cNvPr>
          <p:cNvSpPr>
            <a:spLocks noGrp="1"/>
          </p:cNvSpPr>
          <p:nvPr>
            <p:ph type="sldNum" sz="quarter" idx="12"/>
          </p:nvPr>
        </p:nvSpPr>
        <p:spPr/>
        <p:txBody>
          <a:bodyPr/>
          <a:lstStyle/>
          <a:p>
            <a:fld id="{21004690-02AB-4EF8-9513-CB283ECF7991}" type="slidenum">
              <a:rPr lang="en-BW" smtClean="0"/>
              <a:t>13</a:t>
            </a:fld>
            <a:endParaRPr lang="en-BW"/>
          </a:p>
        </p:txBody>
      </p:sp>
      <p:pic>
        <p:nvPicPr>
          <p:cNvPr id="9" name="Picture 8">
            <a:extLst>
              <a:ext uri="{FF2B5EF4-FFF2-40B4-BE49-F238E27FC236}">
                <a16:creationId xmlns:a16="http://schemas.microsoft.com/office/drawing/2014/main" id="{D4EA0043-7D79-8020-DF41-9F75C305A16B}"/>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CFE2C1D-FD5A-A19F-3983-0A05613065D4}"/>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Rectangle 1">
            <a:extLst>
              <a:ext uri="{FF2B5EF4-FFF2-40B4-BE49-F238E27FC236}">
                <a16:creationId xmlns:a16="http://schemas.microsoft.com/office/drawing/2014/main" id="{02B7F759-9B4D-2D18-CF10-FF731801988A}"/>
              </a:ext>
            </a:extLst>
          </p:cNvPr>
          <p:cNvSpPr>
            <a:spLocks noChangeArrowheads="1"/>
          </p:cNvSpPr>
          <p:nvPr/>
        </p:nvSpPr>
        <p:spPr bwMode="auto">
          <a:xfrm>
            <a:off x="1366838" y="3144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8" name="Chart 7">
            <a:extLst>
              <a:ext uri="{FF2B5EF4-FFF2-40B4-BE49-F238E27FC236}">
                <a16:creationId xmlns:a16="http://schemas.microsoft.com/office/drawing/2014/main" id="{7FAE0522-8639-CF4D-210E-F7DA6B0E0A1B}"/>
              </a:ext>
            </a:extLst>
          </p:cNvPr>
          <p:cNvGraphicFramePr>
            <a:graphicFrameLocks/>
          </p:cNvGraphicFramePr>
          <p:nvPr>
            <p:extLst>
              <p:ext uri="{D42A27DB-BD31-4B8C-83A1-F6EECF244321}">
                <p14:modId xmlns:p14="http://schemas.microsoft.com/office/powerpoint/2010/main" val="4006888855"/>
              </p:ext>
            </p:extLst>
          </p:nvPr>
        </p:nvGraphicFramePr>
        <p:xfrm>
          <a:off x="778668" y="1185966"/>
          <a:ext cx="7481656" cy="502669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278534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05FE41-45BA-42E3-AA3A-A249960B4A7A}"/>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a:cs typeface="Trebuchet MS"/>
              </a:rPr>
              <a:t>11</a:t>
            </a:r>
            <a:endParaRPr lang="en-US" sz="1800" b="1" dirty="0">
              <a:solidFill>
                <a:schemeClr val="bg1"/>
              </a:solidFill>
              <a:latin typeface="Trebuchet MS" pitchFamily="34" charset="0"/>
              <a:cs typeface="Trebuchet MS"/>
            </a:endParaRPr>
          </a:p>
        </p:txBody>
      </p:sp>
      <p:sp>
        <p:nvSpPr>
          <p:cNvPr id="5" name="Title 1">
            <a:extLst>
              <a:ext uri="{FF2B5EF4-FFF2-40B4-BE49-F238E27FC236}">
                <a16:creationId xmlns:a16="http://schemas.microsoft.com/office/drawing/2014/main" id="{17F7E505-0100-4345-9331-71947F51E078}"/>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a:ea typeface="Tahoma"/>
                <a:cs typeface="Times New Roman"/>
              </a:rPr>
              <a:t>BIBLIOGRAPHY</a:t>
            </a:r>
          </a:p>
        </p:txBody>
      </p:sp>
      <p:pic>
        <p:nvPicPr>
          <p:cNvPr id="6" name="Content Placeholder 4">
            <a:extLst>
              <a:ext uri="{FF2B5EF4-FFF2-40B4-BE49-F238E27FC236}">
                <a16:creationId xmlns:a16="http://schemas.microsoft.com/office/drawing/2014/main" id="{667E52B0-43C0-47F9-A182-2FDFC0DF032F}"/>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1CFFEBC9-B6BC-44C2-9745-2FB41E7BD734}"/>
              </a:ext>
            </a:extLst>
          </p:cNvPr>
          <p:cNvSpPr>
            <a:spLocks noGrp="1"/>
          </p:cNvSpPr>
          <p:nvPr>
            <p:ph type="sldNum" sz="quarter" idx="12"/>
          </p:nvPr>
        </p:nvSpPr>
        <p:spPr/>
        <p:txBody>
          <a:bodyPr/>
          <a:lstStyle/>
          <a:p>
            <a:fld id="{21004690-02AB-4EF8-9513-CB283ECF7991}" type="slidenum">
              <a:rPr lang="en-BW" smtClean="0"/>
              <a:t>14</a:t>
            </a:fld>
            <a:endParaRPr lang="en-BW"/>
          </a:p>
        </p:txBody>
      </p:sp>
      <p:pic>
        <p:nvPicPr>
          <p:cNvPr id="9" name="Picture 8">
            <a:extLst>
              <a:ext uri="{FF2B5EF4-FFF2-40B4-BE49-F238E27FC236}">
                <a16:creationId xmlns:a16="http://schemas.microsoft.com/office/drawing/2014/main" id="{947B2903-AAB5-414C-B9C8-B572D18C4C6F}"/>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EF622AFB-0189-4829-89E4-6A72EA93778B}"/>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6A892E04-F997-51E7-FCC2-20E3DE0630D1}"/>
              </a:ext>
            </a:extLst>
          </p:cNvPr>
          <p:cNvSpPr txBox="1"/>
          <p:nvPr/>
        </p:nvSpPr>
        <p:spPr>
          <a:xfrm>
            <a:off x="1006001" y="1447391"/>
            <a:ext cx="7763095" cy="2080698"/>
          </a:xfrm>
          <a:prstGeom prst="rect">
            <a:avLst/>
          </a:prstGeom>
          <a:noFill/>
        </p:spPr>
        <p:txBody>
          <a:bodyPr wrap="square">
            <a:spAutoFit/>
          </a:bodyPr>
          <a:lstStyle/>
          <a:p>
            <a:pPr marL="342900" marR="0" lvl="0" indent="-342900">
              <a:lnSpc>
                <a:spcPct val="115000"/>
              </a:lnSpc>
              <a:spcAft>
                <a:spcPts val="800"/>
              </a:spcAft>
              <a:buFont typeface="+mj-lt"/>
              <a:buAutoNum type="arabicPeriod"/>
            </a:pPr>
            <a:r>
              <a:rPr lang="en-US" sz="1800" kern="100" dirty="0">
                <a:effectLst/>
                <a:latin typeface="Times New Roman" panose="02020603050405020304" pitchFamily="18" charset="0"/>
                <a:ea typeface="Aptos" panose="020B0004020202020204" pitchFamily="34" charset="0"/>
              </a:rPr>
              <a:t>U.S. Department of Transportation, Federal Highway Administration, </a:t>
            </a:r>
            <a:r>
              <a:rPr lang="en-US" sz="1800" i="1" kern="100" dirty="0">
                <a:effectLst/>
                <a:latin typeface="Times New Roman" panose="02020603050405020304" pitchFamily="18" charset="0"/>
                <a:ea typeface="Aptos" panose="020B0004020202020204" pitchFamily="34" charset="0"/>
              </a:rPr>
              <a:t>Traffic Signal Timing Manual: Chapter 1 – Introduction</a:t>
            </a:r>
            <a:r>
              <a:rPr lang="en-US" sz="1800" kern="100" dirty="0">
                <a:effectLst/>
                <a:latin typeface="Times New Roman" panose="02020603050405020304" pitchFamily="18" charset="0"/>
                <a:ea typeface="Aptos" panose="020B0004020202020204" pitchFamily="34" charset="0"/>
              </a:rPr>
              <a:t>, FHWA-HOP-08-024, 2008. [Online]. Available: </a:t>
            </a:r>
            <a:r>
              <a:rPr lang="en-US" sz="1800" u="sng" kern="100" dirty="0">
                <a:solidFill>
                  <a:srgbClr val="0000FF"/>
                </a:solidFill>
                <a:effectLst/>
                <a:latin typeface="Times New Roman" panose="02020603050405020304" pitchFamily="18" charset="0"/>
                <a:ea typeface="Aptos" panose="020B0004020202020204" pitchFamily="34" charset="0"/>
                <a:hlinkClick r:id="rId5"/>
              </a:rPr>
              <a:t>https://ops.fhwa.dot.gov/publications/fhwahop08024/chapter1.htm</a:t>
            </a:r>
            <a:r>
              <a:rPr lang="en-US" sz="1800" kern="100" dirty="0">
                <a:effectLst/>
                <a:latin typeface="Times New Roman" panose="02020603050405020304" pitchFamily="18" charset="0"/>
                <a:ea typeface="Aptos" panose="020B0004020202020204" pitchFamily="34" charset="0"/>
              </a:rPr>
              <a:t>. [Accessed: Sep. 16, 2025].</a:t>
            </a:r>
          </a:p>
          <a:p>
            <a:pPr marL="342900" marR="0" lvl="0" indent="-342900">
              <a:lnSpc>
                <a:spcPct val="115000"/>
              </a:lnSpc>
              <a:spcAft>
                <a:spcPts val="800"/>
              </a:spcAft>
              <a:buFont typeface="+mj-lt"/>
              <a:buAutoNum type="arabicPeriod"/>
            </a:pPr>
            <a:endParaRPr lang="en-US" sz="1800" kern="100" dirty="0">
              <a:effectLst/>
              <a:latin typeface="Times New Roman" panose="02020603050405020304" pitchFamily="18" charset="0"/>
              <a:ea typeface="Aptos" panose="020B0004020202020204" pitchFamily="34" charset="0"/>
            </a:endParaRPr>
          </a:p>
        </p:txBody>
      </p:sp>
    </p:spTree>
    <p:extLst>
      <p:ext uri="{BB962C8B-B14F-4D97-AF65-F5344CB8AC3E}">
        <p14:creationId xmlns:p14="http://schemas.microsoft.com/office/powerpoint/2010/main" val="3167811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3F1CE-7AD0-FAEF-C4E7-240C03C04C2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F60A83B-D1D1-1791-3605-40740BDE1AAB}"/>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a:cs typeface="Trebuchet MS"/>
              </a:rPr>
              <a:t>12</a:t>
            </a:r>
            <a:endParaRPr lang="en-US" sz="1800" b="1">
              <a:solidFill>
                <a:schemeClr val="bg1"/>
              </a:solidFill>
              <a:latin typeface="Trebuchet MS" pitchFamily="34" charset="0"/>
              <a:cs typeface="Trebuchet MS"/>
            </a:endParaRPr>
          </a:p>
        </p:txBody>
      </p:sp>
      <p:sp>
        <p:nvSpPr>
          <p:cNvPr id="5" name="Title 1">
            <a:extLst>
              <a:ext uri="{FF2B5EF4-FFF2-40B4-BE49-F238E27FC236}">
                <a16:creationId xmlns:a16="http://schemas.microsoft.com/office/drawing/2014/main" id="{381E17E5-B67A-FCF1-18DC-254BCEF6654A}"/>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b="1" dirty="0">
                <a:solidFill>
                  <a:prstClr val="white"/>
                </a:solidFill>
                <a:latin typeface="Times New Roman"/>
                <a:ea typeface="Tahoma"/>
                <a:cs typeface="Times New Roman"/>
              </a:rPr>
              <a:t>THANK YOU</a:t>
            </a:r>
          </a:p>
        </p:txBody>
      </p:sp>
      <p:pic>
        <p:nvPicPr>
          <p:cNvPr id="6" name="Content Placeholder 4">
            <a:extLst>
              <a:ext uri="{FF2B5EF4-FFF2-40B4-BE49-F238E27FC236}">
                <a16:creationId xmlns:a16="http://schemas.microsoft.com/office/drawing/2014/main" id="{7FB7AAA0-AC16-C509-FC79-AAED2E405474}"/>
              </a:ext>
            </a:extLst>
          </p:cNvPr>
          <p:cNvPicPr>
            <a:picLocks noGrp="1" noChangeAspect="1"/>
          </p:cNvPicPr>
          <p:nvPr>
            <p:ph idx="1"/>
          </p:nvPr>
        </p:nvPicPr>
        <p:blipFill>
          <a:blip r:embed="rId2"/>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D6663FA7-1EBC-ABCA-30A8-BE5AEE4DD65E}"/>
              </a:ext>
            </a:extLst>
          </p:cNvPr>
          <p:cNvSpPr>
            <a:spLocks noGrp="1"/>
          </p:cNvSpPr>
          <p:nvPr>
            <p:ph type="sldNum" sz="quarter" idx="12"/>
          </p:nvPr>
        </p:nvSpPr>
        <p:spPr/>
        <p:txBody>
          <a:bodyPr/>
          <a:lstStyle/>
          <a:p>
            <a:fld id="{21004690-02AB-4EF8-9513-CB283ECF7991}" type="slidenum">
              <a:rPr lang="en-BW" smtClean="0"/>
              <a:t>15</a:t>
            </a:fld>
            <a:endParaRPr lang="en-BW"/>
          </a:p>
        </p:txBody>
      </p:sp>
      <p:pic>
        <p:nvPicPr>
          <p:cNvPr id="9" name="Picture 8">
            <a:extLst>
              <a:ext uri="{FF2B5EF4-FFF2-40B4-BE49-F238E27FC236}">
                <a16:creationId xmlns:a16="http://schemas.microsoft.com/office/drawing/2014/main" id="{8F59AC28-90CC-7FA6-BE55-C1162FB28039}"/>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53BF235D-1D0B-58E3-30A5-85B28C1F917F}"/>
              </a:ext>
            </a:extLst>
          </p:cNvPr>
          <p:cNvPicPr>
            <a:picLocks noChangeAspect="1"/>
          </p:cNvPicPr>
          <p:nvPr/>
        </p:nvPicPr>
        <p:blipFill>
          <a:blip r:embed="rId4"/>
          <a:stretch>
            <a:fillRect/>
          </a:stretch>
        </p:blipFill>
        <p:spPr>
          <a:xfrm>
            <a:off x="0" y="6610277"/>
            <a:ext cx="9144000" cy="254891"/>
          </a:xfrm>
          <a:prstGeom prst="rect">
            <a:avLst/>
          </a:prstGeom>
        </p:spPr>
      </p:pic>
      <p:sp>
        <p:nvSpPr>
          <p:cNvPr id="11" name="TextBox 10">
            <a:extLst>
              <a:ext uri="{FF2B5EF4-FFF2-40B4-BE49-F238E27FC236}">
                <a16:creationId xmlns:a16="http://schemas.microsoft.com/office/drawing/2014/main" id="{30224578-E447-DF49-B2EA-D8579494FD04}"/>
              </a:ext>
            </a:extLst>
          </p:cNvPr>
          <p:cNvSpPr txBox="1"/>
          <p:nvPr/>
        </p:nvSpPr>
        <p:spPr>
          <a:xfrm>
            <a:off x="1369860" y="1596592"/>
            <a:ext cx="6019644" cy="397031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600" b="1" dirty="0">
                <a:ea typeface="Calibri" panose="020F0502020204030204"/>
                <a:cs typeface="Calibri" panose="020F0502020204030204"/>
              </a:rPr>
              <a:t>THANK YOU FOR YOUR TIME</a:t>
            </a:r>
            <a:endParaRPr lang="en-US" sz="3600" dirty="0">
              <a:ea typeface="Calibri"/>
              <a:cs typeface="Calibri"/>
            </a:endParaRPr>
          </a:p>
          <a:p>
            <a:pPr algn="ctr"/>
            <a:endParaRPr lang="en-US" sz="3600" b="1" dirty="0">
              <a:ea typeface="Calibri" panose="020F0502020204030204"/>
              <a:cs typeface="Calibri" panose="020F0502020204030204"/>
            </a:endParaRPr>
          </a:p>
          <a:p>
            <a:pPr algn="ctr"/>
            <a:endParaRPr lang="en-US" sz="3600" b="1" dirty="0">
              <a:ea typeface="Calibri" panose="020F0502020204030204"/>
              <a:cs typeface="Calibri" panose="020F0502020204030204"/>
            </a:endParaRPr>
          </a:p>
          <a:p>
            <a:pPr algn="ctr"/>
            <a:endParaRPr lang="en-US" sz="3600" b="1" dirty="0">
              <a:ea typeface="Calibri" panose="020F0502020204030204"/>
              <a:cs typeface="Calibri" panose="020F0502020204030204"/>
            </a:endParaRPr>
          </a:p>
          <a:p>
            <a:pPr algn="ctr"/>
            <a:endParaRPr lang="en-US" sz="3600" b="1" dirty="0">
              <a:ea typeface="Calibri" panose="020F0502020204030204"/>
              <a:cs typeface="Calibri" panose="020F0502020204030204"/>
            </a:endParaRPr>
          </a:p>
          <a:p>
            <a:pPr algn="ctr"/>
            <a:endParaRPr lang="en-US" sz="3600" b="1" dirty="0">
              <a:ea typeface="Calibri" panose="020F0502020204030204"/>
              <a:cs typeface="Calibri" panose="020F0502020204030204"/>
            </a:endParaRPr>
          </a:p>
          <a:p>
            <a:pPr algn="ctr"/>
            <a:r>
              <a:rPr lang="en-US" sz="3600" b="1" dirty="0" err="1">
                <a:ea typeface="Calibri" panose="020F0502020204030204"/>
                <a:cs typeface="Calibri" panose="020F0502020204030204"/>
              </a:rPr>
              <a:t>QnA</a:t>
            </a:r>
            <a:endParaRPr lang="en-US" sz="3600" b="1" dirty="0">
              <a:ea typeface="Calibri" panose="020F0502020204030204"/>
              <a:cs typeface="Calibri" panose="020F0502020204030204"/>
            </a:endParaRPr>
          </a:p>
        </p:txBody>
      </p:sp>
      <p:grpSp>
        <p:nvGrpSpPr>
          <p:cNvPr id="12" name="Google Shape;5822;p79">
            <a:extLst>
              <a:ext uri="{FF2B5EF4-FFF2-40B4-BE49-F238E27FC236}">
                <a16:creationId xmlns:a16="http://schemas.microsoft.com/office/drawing/2014/main" id="{C7700C01-D7ED-6FDF-25AC-15F5306468F0}"/>
              </a:ext>
            </a:extLst>
          </p:cNvPr>
          <p:cNvGrpSpPr/>
          <p:nvPr/>
        </p:nvGrpSpPr>
        <p:grpSpPr>
          <a:xfrm>
            <a:off x="3082353" y="2362436"/>
            <a:ext cx="2594793" cy="2415033"/>
            <a:chOff x="3274578" y="1880626"/>
            <a:chExt cx="481750" cy="481850"/>
          </a:xfrm>
          <a:solidFill>
            <a:schemeClr val="accent2">
              <a:lumMod val="40000"/>
              <a:lumOff val="60000"/>
            </a:schemeClr>
          </a:solidFill>
        </p:grpSpPr>
        <p:sp>
          <p:nvSpPr>
            <p:cNvPr id="13" name="Google Shape;5823;p79">
              <a:extLst>
                <a:ext uri="{FF2B5EF4-FFF2-40B4-BE49-F238E27FC236}">
                  <a16:creationId xmlns:a16="http://schemas.microsoft.com/office/drawing/2014/main" id="{DD5A107E-FFCE-58AF-39AE-BBEDDC75F5E6}"/>
                </a:ext>
              </a:extLst>
            </p:cNvPr>
            <p:cNvSpPr/>
            <p:nvPr/>
          </p:nvSpPr>
          <p:spPr>
            <a:xfrm>
              <a:off x="3416628" y="2247651"/>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4" name="Google Shape;5824;p79">
              <a:extLst>
                <a:ext uri="{FF2B5EF4-FFF2-40B4-BE49-F238E27FC236}">
                  <a16:creationId xmlns:a16="http://schemas.microsoft.com/office/drawing/2014/main" id="{A6B40039-6F58-FB4C-1AEA-B2451F77C847}"/>
                </a:ext>
              </a:extLst>
            </p:cNvPr>
            <p:cNvSpPr/>
            <p:nvPr/>
          </p:nvSpPr>
          <p:spPr>
            <a:xfrm>
              <a:off x="3338478" y="1880626"/>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5" name="Google Shape;5825;p79">
              <a:extLst>
                <a:ext uri="{FF2B5EF4-FFF2-40B4-BE49-F238E27FC236}">
                  <a16:creationId xmlns:a16="http://schemas.microsoft.com/office/drawing/2014/main" id="{51F2C41B-8FBA-17E8-64F2-10CE5EA3CAE7}"/>
                </a:ext>
              </a:extLst>
            </p:cNvPr>
            <p:cNvSpPr/>
            <p:nvPr/>
          </p:nvSpPr>
          <p:spPr>
            <a:xfrm>
              <a:off x="3274578" y="2050026"/>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6" name="Google Shape;5826;p79">
              <a:extLst>
                <a:ext uri="{FF2B5EF4-FFF2-40B4-BE49-F238E27FC236}">
                  <a16:creationId xmlns:a16="http://schemas.microsoft.com/office/drawing/2014/main" id="{5D1AACD1-DC84-35F3-A393-2B50F128EA33}"/>
                </a:ext>
              </a:extLst>
            </p:cNvPr>
            <p:cNvSpPr/>
            <p:nvPr/>
          </p:nvSpPr>
          <p:spPr>
            <a:xfrm>
              <a:off x="3277428" y="1955526"/>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7" name="Google Shape;5827;p79">
              <a:extLst>
                <a:ext uri="{FF2B5EF4-FFF2-40B4-BE49-F238E27FC236}">
                  <a16:creationId xmlns:a16="http://schemas.microsoft.com/office/drawing/2014/main" id="{CDE0B430-33E4-D925-DAB9-31ACFEC0C38F}"/>
                </a:ext>
              </a:extLst>
            </p:cNvPr>
            <p:cNvSpPr/>
            <p:nvPr/>
          </p:nvSpPr>
          <p:spPr>
            <a:xfrm>
              <a:off x="3277428" y="2124901"/>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8" name="Google Shape;5828;p79">
              <a:extLst>
                <a:ext uri="{FF2B5EF4-FFF2-40B4-BE49-F238E27FC236}">
                  <a16:creationId xmlns:a16="http://schemas.microsoft.com/office/drawing/2014/main" id="{B1CC4620-8F7D-085C-0964-003A0237B8B3}"/>
                </a:ext>
              </a:extLst>
            </p:cNvPr>
            <p:cNvSpPr/>
            <p:nvPr/>
          </p:nvSpPr>
          <p:spPr>
            <a:xfrm>
              <a:off x="3699903" y="2050026"/>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9" name="Google Shape;5829;p79">
              <a:extLst>
                <a:ext uri="{FF2B5EF4-FFF2-40B4-BE49-F238E27FC236}">
                  <a16:creationId xmlns:a16="http://schemas.microsoft.com/office/drawing/2014/main" id="{1DB24D83-2A1D-4553-BBB1-E24AD9A48983}"/>
                </a:ext>
              </a:extLst>
            </p:cNvPr>
            <p:cNvSpPr/>
            <p:nvPr/>
          </p:nvSpPr>
          <p:spPr>
            <a:xfrm>
              <a:off x="3702778" y="1955526"/>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20" name="Google Shape;5830;p79">
              <a:extLst>
                <a:ext uri="{FF2B5EF4-FFF2-40B4-BE49-F238E27FC236}">
                  <a16:creationId xmlns:a16="http://schemas.microsoft.com/office/drawing/2014/main" id="{B098A796-641A-6D7A-31DE-CBE36AC2EC90}"/>
                </a:ext>
              </a:extLst>
            </p:cNvPr>
            <p:cNvSpPr/>
            <p:nvPr/>
          </p:nvSpPr>
          <p:spPr>
            <a:xfrm>
              <a:off x="3702628" y="2124726"/>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grpSp>
    </p:spTree>
    <p:extLst>
      <p:ext uri="{BB962C8B-B14F-4D97-AF65-F5344CB8AC3E}">
        <p14:creationId xmlns:p14="http://schemas.microsoft.com/office/powerpoint/2010/main" val="673714536"/>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2382EE1-E91E-4A2A-B9C3-CAAF9C673CF0}"/>
              </a:ext>
            </a:extLst>
          </p:cNvPr>
          <p:cNvSpPr txBox="1">
            <a:spLocks/>
          </p:cNvSpPr>
          <p:nvPr/>
        </p:nvSpPr>
        <p:spPr>
          <a:xfrm>
            <a:off x="27857" y="35807"/>
            <a:ext cx="632777" cy="819821"/>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pitchFamily="34" charset="0"/>
                <a:cs typeface="Trebuchet MS"/>
              </a:rPr>
              <a:t>1</a:t>
            </a:r>
          </a:p>
        </p:txBody>
      </p:sp>
      <p:sp>
        <p:nvSpPr>
          <p:cNvPr id="5" name="Title 1">
            <a:extLst>
              <a:ext uri="{FF2B5EF4-FFF2-40B4-BE49-F238E27FC236}">
                <a16:creationId xmlns:a16="http://schemas.microsoft.com/office/drawing/2014/main" id="{14310272-04F5-454A-8972-5C74287C0CF8}"/>
              </a:ext>
            </a:extLst>
          </p:cNvPr>
          <p:cNvSpPr txBox="1">
            <a:spLocks/>
          </p:cNvSpPr>
          <p:nvPr/>
        </p:nvSpPr>
        <p:spPr>
          <a:xfrm>
            <a:off x="914400" y="39461"/>
            <a:ext cx="8058150" cy="465364"/>
          </a:xfrm>
          <a:prstGeom prst="rect">
            <a:avLst/>
          </a:prstGeom>
          <a:solidFill>
            <a:srgbClr val="FB823F"/>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600" dirty="0">
                <a:solidFill>
                  <a:schemeClr val="bg1"/>
                </a:solidFill>
                <a:latin typeface="Tahoma" panose="020B0604030504040204" pitchFamily="34" charset="0"/>
                <a:ea typeface="Tahoma" panose="020B0604030504040204" pitchFamily="34" charset="0"/>
                <a:cs typeface="Tahoma" panose="020B0604030504040204" pitchFamily="34" charset="0"/>
              </a:rPr>
              <a:t>Adaptive Multi-Agent Reinforcement Learning for Traffic Signal Optimisation along the Palapye A1 Urban Corridor</a:t>
            </a:r>
          </a:p>
        </p:txBody>
      </p:sp>
      <p:pic>
        <p:nvPicPr>
          <p:cNvPr id="9" name="Picture 8">
            <a:extLst>
              <a:ext uri="{FF2B5EF4-FFF2-40B4-BE49-F238E27FC236}">
                <a16:creationId xmlns:a16="http://schemas.microsoft.com/office/drawing/2014/main" id="{253AEFA3-9403-4DDC-B77B-9C58A689BBA1}"/>
              </a:ext>
            </a:extLst>
          </p:cNvPr>
          <p:cNvPicPr>
            <a:picLocks noChangeAspect="1"/>
          </p:cNvPicPr>
          <p:nvPr/>
        </p:nvPicPr>
        <p:blipFill>
          <a:blip r:embed="rId2"/>
          <a:stretch>
            <a:fillRect/>
          </a:stretch>
        </p:blipFill>
        <p:spPr>
          <a:xfrm>
            <a:off x="0" y="6603109"/>
            <a:ext cx="9144000" cy="254891"/>
          </a:xfrm>
          <a:prstGeom prst="rect">
            <a:avLst/>
          </a:prstGeom>
        </p:spPr>
      </p:pic>
      <p:pic>
        <p:nvPicPr>
          <p:cNvPr id="10" name="Picture 9">
            <a:extLst>
              <a:ext uri="{FF2B5EF4-FFF2-40B4-BE49-F238E27FC236}">
                <a16:creationId xmlns:a16="http://schemas.microsoft.com/office/drawing/2014/main" id="{8F313493-882D-4291-9453-EC81D9BB9EE4}"/>
              </a:ext>
            </a:extLst>
          </p:cNvPr>
          <p:cNvPicPr>
            <a:picLocks noChangeAspect="1"/>
          </p:cNvPicPr>
          <p:nvPr/>
        </p:nvPicPr>
        <p:blipFill>
          <a:blip r:embed="rId4"/>
          <a:stretch>
            <a:fillRect/>
          </a:stretch>
        </p:blipFill>
        <p:spPr>
          <a:xfrm>
            <a:off x="4098367" y="6377285"/>
            <a:ext cx="1113605" cy="451648"/>
          </a:xfrm>
          <a:prstGeom prst="rect">
            <a:avLst/>
          </a:prstGeom>
        </p:spPr>
      </p:pic>
      <p:pic>
        <p:nvPicPr>
          <p:cNvPr id="7" name="Picture 6" descr="A logo with text and a clock&#10;&#10;AI-generated content may be incorrect.">
            <a:extLst>
              <a:ext uri="{FF2B5EF4-FFF2-40B4-BE49-F238E27FC236}">
                <a16:creationId xmlns:a16="http://schemas.microsoft.com/office/drawing/2014/main" id="{720CB2E7-EE0F-4826-AA64-F66EE325B9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3021" y="557923"/>
            <a:ext cx="2537958" cy="1189943"/>
          </a:xfrm>
          <a:prstGeom prst="rect">
            <a:avLst/>
          </a:prstGeom>
        </p:spPr>
      </p:pic>
      <p:sp>
        <p:nvSpPr>
          <p:cNvPr id="15" name="Content Placeholder 2">
            <a:extLst>
              <a:ext uri="{FF2B5EF4-FFF2-40B4-BE49-F238E27FC236}">
                <a16:creationId xmlns:a16="http://schemas.microsoft.com/office/drawing/2014/main" id="{BF4CD33E-9FE2-0C3C-1AD9-3A43422C6F55}"/>
              </a:ext>
            </a:extLst>
          </p:cNvPr>
          <p:cNvSpPr>
            <a:spLocks noGrp="1"/>
          </p:cNvSpPr>
          <p:nvPr/>
        </p:nvSpPr>
        <p:spPr>
          <a:xfrm>
            <a:off x="114300" y="2013381"/>
            <a:ext cx="8915400" cy="432421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dirty="0" sz="1400">
                <a:latin typeface="Times New Roman" panose="02020603050405020304" pitchFamily="18" charset="0"/>
                <a:cs typeface="Times New Roman" panose="02020603050405020304" pitchFamily="18" charset="0"/>
              </a:rPr>
              <a:t>SCHOOL OF ENGINEERING
DEPARTMENT OF ELECTRICAL, COMPUTER AND TELECOMMUNICATIONS ENGINEERING
EEEN510 Final Year Project
Tsotlhe Nayang Seiphepi  |  21001137
Supervisor: Dr Bokamoso Basutli
Date: May 2025</a:t>
            </a:r>
          </a:p>
          <a:p>
            <a:pPr marL="0" indent="0" algn="ctr">
              <a:buNone/>
            </a:pPr>
            <a:r>
              <a:rPr lang="en-GB" sz="1400" dirty="0">
                <a:latin typeface="Times New Roman" panose="02020603050405020304" pitchFamily="18" charset="0"/>
                <a:cs typeface="Times New Roman" panose="02020603050405020304" pitchFamily="18" charset="0"/>
              </a:rPr>
              <a:t/>
            </a:r>
          </a:p>
          <a:p>
            <a:pPr marL="0" indent="0" algn="ctr">
              <a:buNone/>
            </a:pPr>
            <a:endParaRPr lang="en-GB" sz="2400" dirty="0">
              <a:latin typeface="Times New Roman" panose="02020603050405020304" pitchFamily="18" charset="0"/>
              <a:cs typeface="Times New Roman" panose="02020603050405020304" pitchFamily="18" charset="0"/>
            </a:endParaRPr>
          </a:p>
          <a:p>
            <a:pPr marL="0" indent="0" algn="ctr">
              <a:buNone/>
            </a:pPr>
            <a:r>
              <a:rPr lang="en-GB" sz="1400" b="1" dirty="0">
                <a:latin typeface="Times New Roman" panose="02020603050405020304" pitchFamily="18" charset="0"/>
                <a:cs typeface="Times New Roman" panose="02020603050405020304" pitchFamily="18" charset="0"/>
              </a:rPr>
              <a:t/>
            </a:r>
          </a:p>
          <a:p>
            <a:pPr marL="0" indent="0" algn="ctr">
              <a:buNone/>
            </a:pPr>
            <a:endParaRPr lang="en-GB" sz="2400" dirty="0">
              <a:latin typeface="Times New Roman" panose="02020603050405020304" pitchFamily="18" charset="0"/>
              <a:cs typeface="Times New Roman" panose="02020603050405020304" pitchFamily="18" charset="0"/>
            </a:endParaRPr>
          </a:p>
          <a:p>
            <a:pPr marL="0" indent="0" algn="ctr">
              <a:buNone/>
            </a:pPr>
            <a:r>
              <a:rPr lang="en-GB" sz="1400" dirty="0">
                <a:latin typeface="Times New Roman" panose="02020603050405020304" pitchFamily="18" charset="0"/>
                <a:cs typeface="Times New Roman" panose="02020603050405020304" pitchFamily="18" charset="0"/>
              </a:rPr>
              <a:t/>
            </a:r>
          </a:p>
          <a:p>
            <a:pPr marL="0" indent="0" algn="just">
              <a:buNone/>
            </a:pPr>
            <a:r>
              <a:rPr lang="en-GB" sz="1400" dirty="0">
                <a:latin typeface="Times New Roman" panose="02020603050405020304" pitchFamily="18" charset="0"/>
                <a:cs typeface="Times New Roman" panose="02020603050405020304" pitchFamily="18" charset="0"/>
              </a:rPr>
              <a:t/>
            </a:r>
          </a:p>
          <a:p>
            <a:pPr marL="0" indent="0" algn="just">
              <a:buNone/>
            </a:pPr>
            <a:r>
              <a:rPr lang="en-GB" sz="1400" dirty="0">
                <a:latin typeface="Times New Roman" panose="02020603050405020304" pitchFamily="18" charset="0"/>
                <a:cs typeface="Times New Roman" panose="02020603050405020304" pitchFamily="18" charset="0"/>
              </a:rPr>
              <a:t/>
            </a:r>
          </a:p>
          <a:p>
            <a:pPr marL="0" indent="0" algn="just">
              <a:buNone/>
            </a:pPr>
            <a:r>
              <a:rPr lang="en-GB" sz="1400" dirty="0">
                <a:latin typeface="Times New Roman" panose="02020603050405020304" pitchFamily="18" charset="0"/>
                <a:cs typeface="Times New Roman" panose="02020603050405020304" pitchFamily="18" charset="0"/>
              </a:rPr>
              <a:t/>
            </a:r>
            <a:r>
              <a:rPr lang="en-GB" sz="1400" dirty="0" err="1">
                <a:latin typeface="Times New Roman" panose="02020603050405020304" pitchFamily="18" charset="0"/>
                <a:cs typeface="Times New Roman" panose="02020603050405020304" pitchFamily="18" charset="0"/>
              </a:rPr>
              <a:t/>
            </a:r>
            <a:endParaRPr lang="en-GB" sz="2400" dirty="0">
              <a:latin typeface="Times New Roman" panose="02020603050405020304" pitchFamily="18" charset="0"/>
              <a:cs typeface="Times New Roman" panose="02020603050405020304" pitchFamily="18" charset="0"/>
            </a:endParaRPr>
          </a:p>
          <a:p>
            <a:pPr marL="0" indent="0" algn="just">
              <a:buNone/>
            </a:pPr>
            <a:r>
              <a:rPr lang="en-GB" sz="1400" dirty="0">
                <a:latin typeface="Times New Roman" panose="02020603050405020304" pitchFamily="18" charset="0"/>
                <a:cs typeface="Times New Roman" panose="02020603050405020304" pitchFamily="18" charset="0"/>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30543BC9-0A36-D103-DFD4-306B575710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26B2C97-FB7C-79E1-420B-896F537AB6E1}"/>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1</a:t>
            </a:r>
          </a:p>
        </p:txBody>
      </p:sp>
      <p:sp>
        <p:nvSpPr>
          <p:cNvPr id="5" name="Title 1">
            <a:extLst>
              <a:ext uri="{FF2B5EF4-FFF2-40B4-BE49-F238E27FC236}">
                <a16:creationId xmlns:a16="http://schemas.microsoft.com/office/drawing/2014/main" id="{28D268CF-EE2B-BFAD-1990-E839782D14C1}"/>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PRESENTATION OUTLINE</a:t>
            </a:r>
          </a:p>
        </p:txBody>
      </p:sp>
      <p:pic>
        <p:nvPicPr>
          <p:cNvPr id="6" name="Content Placeholder 4">
            <a:extLst>
              <a:ext uri="{FF2B5EF4-FFF2-40B4-BE49-F238E27FC236}">
                <a16:creationId xmlns:a16="http://schemas.microsoft.com/office/drawing/2014/main" id="{A98033F3-9D23-2E4B-5173-10B144B3F820}"/>
              </a:ext>
            </a:extLst>
          </p:cNvPr>
          <p:cNvPicPr>
            <a:picLocks noGrp="1" noChangeAspect="1"/>
          </p:cNvPicPr>
          <p:nvPr>
            <p:ph idx="1"/>
          </p:nvPr>
        </p:nvPicPr>
        <p:blipFill>
          <a:blip r:embed="rId3"/>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9FE04023-D31B-790E-00C7-F44B62D856DD}"/>
              </a:ext>
            </a:extLst>
          </p:cNvPr>
          <p:cNvSpPr>
            <a:spLocks noGrp="1"/>
          </p:cNvSpPr>
          <p:nvPr>
            <p:ph type="sldNum" sz="quarter" idx="12"/>
          </p:nvPr>
        </p:nvSpPr>
        <p:spPr/>
        <p:txBody>
          <a:bodyPr/>
          <a:lstStyle/>
          <a:p>
            <a:fld id="{21004690-02AB-4EF8-9513-CB283ECF7991}" type="slidenum">
              <a:rPr lang="en-BW" smtClean="0"/>
              <a:t>2</a:t>
            </a:fld>
            <a:endParaRPr lang="en-BW"/>
          </a:p>
        </p:txBody>
      </p:sp>
      <p:pic>
        <p:nvPicPr>
          <p:cNvPr id="9" name="Picture 8">
            <a:extLst>
              <a:ext uri="{FF2B5EF4-FFF2-40B4-BE49-F238E27FC236}">
                <a16:creationId xmlns:a16="http://schemas.microsoft.com/office/drawing/2014/main" id="{AE7B97A8-40E2-366C-963C-E078DED597C8}"/>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C9F311F-2556-2CCF-E041-21C75B441D44}"/>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43D21A0A-29EE-FFA8-3B33-06CC5056E226}"/>
              </a:ext>
            </a:extLst>
          </p:cNvPr>
          <p:cNvSpPr txBox="1"/>
          <p:nvPr/>
        </p:nvSpPr>
        <p:spPr>
          <a:xfrm>
            <a:off x="947970" y="1768388"/>
            <a:ext cx="5846022" cy="2241960"/>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DEFINITION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PROJECT OBJECTIVES</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METHODOLOGY</a:t>
            </a:r>
          </a:p>
        </p:txBody>
      </p:sp>
      <p:sp>
        <p:nvSpPr>
          <p:cNvPr id="11" name="Rectangle 10"/>
          <p:cNvSpPr/>
          <p:nvPr/>
        </p:nvSpPr>
        <p:spPr>
          <a:xfrm>
            <a:off x="109728" y="987552"/>
            <a:ext cx="1051560" cy="12801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 y="1170432"/>
            <a:ext cx="941832" cy="914400"/>
          </a:xfrm>
          <a:prstGeom prst="rect">
            <a:avLst/>
          </a:prstGeom>
          <a:noFill/>
        </p:spPr>
        <p:txBody>
          <a:bodyPr wrap="square">
            <a:spAutoFit/>
          </a:bodyPr>
          <a:lstStyle/>
          <a:p>
            <a:pPr algn="ctr"/>
            <a:r>
              <a:rPr sz="1000" b="1" i="0">
                <a:solidFill>
                  <a:srgbClr val="FFFFFF"/>
                </a:solidFill>
                <a:latin typeface="Calibri"/>
              </a:rPr>
              <a:t>1. Introduction &amp; Problem</a:t>
            </a:r>
          </a:p>
        </p:txBody>
      </p:sp>
      <p:sp>
        <p:nvSpPr>
          <p:cNvPr id="13" name="Rectangle 12"/>
          <p:cNvSpPr/>
          <p:nvPr/>
        </p:nvSpPr>
        <p:spPr>
          <a:xfrm>
            <a:off x="1234440" y="987552"/>
            <a:ext cx="1051560" cy="12801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9304" y="1170432"/>
            <a:ext cx="941832" cy="914400"/>
          </a:xfrm>
          <a:prstGeom prst="rect">
            <a:avLst/>
          </a:prstGeom>
          <a:noFill/>
        </p:spPr>
        <p:txBody>
          <a:bodyPr wrap="square">
            <a:spAutoFit/>
          </a:bodyPr>
          <a:lstStyle/>
          <a:p>
            <a:pPr algn="ctr"/>
            <a:r>
              <a:rPr sz="1000" b="1" i="0">
                <a:solidFill>
                  <a:srgbClr val="FFFFFF"/>
                </a:solidFill>
                <a:latin typeface="Calibri"/>
              </a:rPr>
              <a:t>2. Research Objectives</a:t>
            </a:r>
          </a:p>
        </p:txBody>
      </p:sp>
      <p:sp>
        <p:nvSpPr>
          <p:cNvPr id="15" name="Rectangle 14"/>
          <p:cNvSpPr/>
          <p:nvPr/>
        </p:nvSpPr>
        <p:spPr>
          <a:xfrm>
            <a:off x="2359152" y="987552"/>
            <a:ext cx="1051560" cy="12801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14016" y="1170432"/>
            <a:ext cx="941832" cy="914400"/>
          </a:xfrm>
          <a:prstGeom prst="rect">
            <a:avLst/>
          </a:prstGeom>
          <a:noFill/>
        </p:spPr>
        <p:txBody>
          <a:bodyPr wrap="square">
            <a:spAutoFit/>
          </a:bodyPr>
          <a:lstStyle/>
          <a:p>
            <a:pPr algn="ctr"/>
            <a:r>
              <a:rPr sz="1000" b="1" i="0">
                <a:solidFill>
                  <a:srgbClr val="FFFFFF"/>
                </a:solidFill>
                <a:latin typeface="Calibri"/>
              </a:rPr>
              <a:t>3. System Architecture</a:t>
            </a:r>
          </a:p>
        </p:txBody>
      </p:sp>
      <p:sp>
        <p:nvSpPr>
          <p:cNvPr id="17" name="Rectangle 16"/>
          <p:cNvSpPr/>
          <p:nvPr/>
        </p:nvSpPr>
        <p:spPr>
          <a:xfrm>
            <a:off x="3483864" y="987552"/>
            <a:ext cx="1051560" cy="12801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8728" y="1170432"/>
            <a:ext cx="941832" cy="914400"/>
          </a:xfrm>
          <a:prstGeom prst="rect">
            <a:avLst/>
          </a:prstGeom>
          <a:noFill/>
        </p:spPr>
        <p:txBody>
          <a:bodyPr wrap="square">
            <a:spAutoFit/>
          </a:bodyPr>
          <a:lstStyle/>
          <a:p>
            <a:pPr algn="ctr"/>
            <a:r>
              <a:rPr sz="1000" b="1" i="0">
                <a:solidFill>
                  <a:srgbClr val="FFFFFF"/>
                </a:solidFill>
                <a:latin typeface="Calibri"/>
              </a:rPr>
              <a:t>4. Phase 1 SA-PPO Results</a:t>
            </a:r>
          </a:p>
        </p:txBody>
      </p:sp>
      <p:sp>
        <p:nvSpPr>
          <p:cNvPr id="19" name="Rectangle 18"/>
          <p:cNvSpPr/>
          <p:nvPr/>
        </p:nvSpPr>
        <p:spPr>
          <a:xfrm>
            <a:off x="4608576" y="987552"/>
            <a:ext cx="1051560" cy="12801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63440" y="1170432"/>
            <a:ext cx="941832" cy="914400"/>
          </a:xfrm>
          <a:prstGeom prst="rect">
            <a:avLst/>
          </a:prstGeom>
          <a:noFill/>
        </p:spPr>
        <p:txBody>
          <a:bodyPr wrap="square">
            <a:spAutoFit/>
          </a:bodyPr>
          <a:lstStyle/>
          <a:p>
            <a:pPr algn="ctr"/>
            <a:r>
              <a:rPr sz="1000" b="1" i="0">
                <a:solidFill>
                  <a:srgbClr val="FFFFFF"/>
                </a:solidFill>
                <a:latin typeface="Calibri"/>
              </a:rPr>
              <a:t>5. MAPPO System Design</a:t>
            </a:r>
          </a:p>
        </p:txBody>
      </p:sp>
      <p:sp>
        <p:nvSpPr>
          <p:cNvPr id="21" name="Rectangle 20"/>
          <p:cNvSpPr/>
          <p:nvPr/>
        </p:nvSpPr>
        <p:spPr>
          <a:xfrm>
            <a:off x="5733288" y="987552"/>
            <a:ext cx="1051560" cy="12801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88152" y="1170432"/>
            <a:ext cx="941832" cy="914400"/>
          </a:xfrm>
          <a:prstGeom prst="rect">
            <a:avLst/>
          </a:prstGeom>
          <a:noFill/>
        </p:spPr>
        <p:txBody>
          <a:bodyPr wrap="square">
            <a:spAutoFit/>
          </a:bodyPr>
          <a:lstStyle/>
          <a:p>
            <a:pPr algn="ctr"/>
            <a:r>
              <a:rPr sz="1000" b="1" i="0">
                <a:solidFill>
                  <a:srgbClr val="FFFFFF"/>
                </a:solidFill>
                <a:latin typeface="Calibri"/>
              </a:rPr>
              <a:t>6. MAPPO Training</a:t>
            </a:r>
          </a:p>
        </p:txBody>
      </p:sp>
      <p:sp>
        <p:nvSpPr>
          <p:cNvPr id="23" name="Rectangle 22"/>
          <p:cNvSpPr/>
          <p:nvPr/>
        </p:nvSpPr>
        <p:spPr>
          <a:xfrm>
            <a:off x="6858000" y="987552"/>
            <a:ext cx="1051560" cy="12801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12864" y="1170432"/>
            <a:ext cx="941832" cy="914400"/>
          </a:xfrm>
          <a:prstGeom prst="rect">
            <a:avLst/>
          </a:prstGeom>
          <a:noFill/>
        </p:spPr>
        <p:txBody>
          <a:bodyPr wrap="square">
            <a:spAutoFit/>
          </a:bodyPr>
          <a:lstStyle/>
          <a:p>
            <a:pPr algn="ctr"/>
            <a:r>
              <a:rPr sz="1000" b="1" i="0">
                <a:solidFill>
                  <a:srgbClr val="FFFFFF"/>
                </a:solidFill>
                <a:latin typeface="Calibri"/>
              </a:rPr>
              <a:t>7. Evaluation Results</a:t>
            </a:r>
          </a:p>
        </p:txBody>
      </p:sp>
      <p:sp>
        <p:nvSpPr>
          <p:cNvPr id="25" name="Rectangle 24"/>
          <p:cNvSpPr/>
          <p:nvPr/>
        </p:nvSpPr>
        <p:spPr>
          <a:xfrm>
            <a:off x="7982712" y="987552"/>
            <a:ext cx="1051560" cy="12801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37576" y="1170432"/>
            <a:ext cx="941832" cy="914400"/>
          </a:xfrm>
          <a:prstGeom prst="rect">
            <a:avLst/>
          </a:prstGeom>
          <a:noFill/>
        </p:spPr>
        <p:txBody>
          <a:bodyPr wrap="square">
            <a:spAutoFit/>
          </a:bodyPr>
          <a:lstStyle/>
          <a:p>
            <a:pPr algn="ctr"/>
            <a:r>
              <a:rPr sz="1000" b="1" i="0">
                <a:solidFill>
                  <a:srgbClr val="FFFFFF"/>
                </a:solidFill>
                <a:latin typeface="Calibri"/>
              </a:rPr>
              <a:t>8. Conclusions &amp; Recommendations</a:t>
            </a:r>
          </a:p>
        </p:txBody>
      </p:sp>
      <p:sp>
        <p:nvSpPr>
          <p:cNvPr id="27" name="TextBox 26"/>
          <p:cNvSpPr txBox="1"/>
          <p:nvPr/>
        </p:nvSpPr>
        <p:spPr>
          <a:xfrm>
            <a:off x="137160" y="2468880"/>
            <a:ext cx="8869680" cy="457200"/>
          </a:xfrm>
          <a:prstGeom prst="rect">
            <a:avLst/>
          </a:prstGeom>
          <a:noFill/>
        </p:spPr>
        <p:txBody>
          <a:bodyPr wrap="square">
            <a:spAutoFit/>
          </a:bodyPr>
          <a:lstStyle/>
          <a:p>
            <a:pPr algn="ctr"/>
            <a:r>
              <a:rPr sz="1300" b="0" i="1">
                <a:solidFill>
                  <a:srgbClr val="1A1A2E"/>
                </a:solidFill>
                <a:latin typeface="Calibri"/>
              </a:rPr>
              <a:t>A two-phase project — from single-agent PPO at one junction to cooperative MAPPO across the full A1 Palapye corridor.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30543BC9-0A36-D103-DFD4-306B575710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26B2C97-FB7C-79E1-420B-896F537AB6E1}"/>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2</a:t>
            </a:r>
          </a:p>
        </p:txBody>
      </p:sp>
      <p:sp>
        <p:nvSpPr>
          <p:cNvPr id="5" name="Title 1">
            <a:extLst>
              <a:ext uri="{FF2B5EF4-FFF2-40B4-BE49-F238E27FC236}">
                <a16:creationId xmlns:a16="http://schemas.microsoft.com/office/drawing/2014/main" id="{28D268CF-EE2B-BFAD-1990-E839782D14C1}"/>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INTRODUCTION &amp; PROBLEM STATEMENT</a:t>
            </a:r>
          </a:p>
        </p:txBody>
      </p:sp>
      <p:pic>
        <p:nvPicPr>
          <p:cNvPr id="6" name="Content Placeholder 4">
            <a:extLst>
              <a:ext uri="{FF2B5EF4-FFF2-40B4-BE49-F238E27FC236}">
                <a16:creationId xmlns:a16="http://schemas.microsoft.com/office/drawing/2014/main" id="{A98033F3-9D23-2E4B-5173-10B144B3F820}"/>
              </a:ext>
            </a:extLst>
          </p:cNvPr>
          <p:cNvPicPr>
            <a:picLocks noGrp="1" noChangeAspect="1"/>
          </p:cNvPicPr>
          <p:nvPr>
            <p:ph idx="1"/>
          </p:nvPr>
        </p:nvPicPr>
        <p:blipFill>
          <a:blip r:embed="rId3"/>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9FE04023-D31B-790E-00C7-F44B62D856DD}"/>
              </a:ext>
            </a:extLst>
          </p:cNvPr>
          <p:cNvSpPr>
            <a:spLocks noGrp="1"/>
          </p:cNvSpPr>
          <p:nvPr>
            <p:ph type="sldNum" sz="quarter" idx="12"/>
          </p:nvPr>
        </p:nvSpPr>
        <p:spPr/>
        <p:txBody>
          <a:bodyPr/>
          <a:lstStyle/>
          <a:p>
            <a:fld id="{21004690-02AB-4EF8-9513-CB283ECF7991}" type="slidenum">
              <a:rPr lang="en-BW" smtClean="0"/>
              <a:t>2</a:t>
            </a:fld>
            <a:endParaRPr lang="en-BW"/>
          </a:p>
        </p:txBody>
      </p:sp>
      <p:pic>
        <p:nvPicPr>
          <p:cNvPr id="9" name="Picture 8">
            <a:extLst>
              <a:ext uri="{FF2B5EF4-FFF2-40B4-BE49-F238E27FC236}">
                <a16:creationId xmlns:a16="http://schemas.microsoft.com/office/drawing/2014/main" id="{AE7B97A8-40E2-366C-963C-E078DED597C8}"/>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C9F311F-2556-2CCF-E041-21C75B441D44}"/>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43D21A0A-29EE-FFA8-3B33-06CC5056E226}"/>
              </a:ext>
            </a:extLst>
          </p:cNvPr>
          <p:cNvSpPr txBox="1"/>
          <p:nvPr/>
        </p:nvSpPr>
        <p:spPr>
          <a:xfrm>
            <a:off x="947970" y="1768388"/>
            <a:ext cx="5846022" cy="2241960"/>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DEFINITION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PROJECT OBJECTIVES</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METHODOLOGY</a:t>
            </a:r>
          </a:p>
        </p:txBody>
      </p:sp>
      <p:sp>
        <p:nvSpPr>
          <p:cNvPr id="11" name="TextBox 10"/>
          <p:cNvSpPr txBox="1"/>
          <p:nvPr/>
        </p:nvSpPr>
        <p:spPr>
          <a:xfrm>
            <a:off x="137160" y="987552"/>
            <a:ext cx="5120640" cy="3474720"/>
          </a:xfrm>
          <a:prstGeom prst="rect">
            <a:avLst/>
          </a:prstGeom>
          <a:noFill/>
        </p:spPr>
        <p:txBody>
          <a:bodyPr wrap="square">
            <a:spAutoFit/>
          </a:bodyPr>
          <a:lstStyle/>
          <a:p>
            <a:r>
              <a:rPr sz="1300" b="0">
                <a:solidFill>
                  <a:srgbClr val="1A1A2E"/>
                </a:solidFill>
                <a:latin typeface="Calibri"/>
              </a:rPr>
              <a:t>•  Palapye: key transit hub on the A1 highway between Gaborone and Francistown</a:t>
            </a:r>
          </a:p>
          <a:p>
            <a:r>
              <a:rPr sz="1300" b="0">
                <a:solidFill>
                  <a:srgbClr val="1A1A2E"/>
                </a:solidFill>
                <a:latin typeface="Calibri"/>
              </a:rPr>
              <a:t>•  Morupule Coal Mine + BIUST campus drive recurrent, time-peaked demand</a:t>
            </a:r>
          </a:p>
          <a:p>
            <a:r>
              <a:rPr sz="1300" b="0">
                <a:solidFill>
                  <a:srgbClr val="1A1A2E"/>
                </a:solidFill>
                <a:latin typeface="Calibri"/>
              </a:rPr>
              <a:t>•  Existing signals rely on static, pre-timed fixed cycles</a:t>
            </a:r>
          </a:p>
          <a:p>
            <a:r>
              <a:rPr sz="1300" b="0">
                <a:solidFill>
                  <a:srgbClr val="1A1A2E"/>
                </a:solidFill>
                <a:latin typeface="Calibri"/>
              </a:rPr>
              <a:t>•  Fixed-time control is blind to queue lengths — cannot adapt to peak demand</a:t>
            </a:r>
          </a:p>
          <a:p>
            <a:r>
              <a:rPr sz="1300" b="0">
                <a:solidFill>
                  <a:srgbClr val="1A1A2E"/>
                </a:solidFill>
                <a:latin typeface="Calibri"/>
              </a:rPr>
              <a:t>•  3 closely spaced signalised junctions within ~1 km — decisions at one affect the others</a:t>
            </a:r>
          </a:p>
          <a:p>
            <a:r>
              <a:rPr sz="1300" b="0">
                <a:solidFill>
                  <a:srgbClr val="1A1A2E"/>
                </a:solidFill>
                <a:latin typeface="Calibri"/>
              </a:rPr>
              <a:t>•  Consequences: chronic congestion, excessive idling, elevated emissions</a:t>
            </a:r>
          </a:p>
        </p:txBody>
      </p:sp>
      <p:sp>
        <p:nvSpPr>
          <p:cNvPr id="12" name="Rectangle 11"/>
          <p:cNvSpPr/>
          <p:nvPr/>
        </p:nvSpPr>
        <p:spPr>
          <a:xfrm>
            <a:off x="5440680" y="987552"/>
            <a:ext cx="3611880" cy="3474720"/>
          </a:xfrm>
          <a:prstGeom prst="rect">
            <a:avLst/>
          </a:prstGeom>
          <a:solidFill>
            <a:srgbClr val="F0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59552" y="1051560"/>
            <a:ext cx="3383280" cy="320040"/>
          </a:xfrm>
          <a:prstGeom prst="rect">
            <a:avLst/>
          </a:prstGeom>
          <a:noFill/>
        </p:spPr>
        <p:txBody>
          <a:bodyPr wrap="square">
            <a:spAutoFit/>
          </a:bodyPr>
          <a:lstStyle/>
          <a:p>
            <a:pPr algn="ctr"/>
            <a:r>
              <a:rPr sz="1100" b="1" i="0">
                <a:solidFill>
                  <a:srgbClr val="0070C0"/>
                </a:solidFill>
                <a:latin typeface="Calibri"/>
              </a:rPr>
              <a:t>PROBLEM STATEMENT</a:t>
            </a:r>
          </a:p>
        </p:txBody>
      </p:sp>
      <p:sp>
        <p:nvSpPr>
          <p:cNvPr id="14" name="Rectangle 13"/>
          <p:cNvSpPr/>
          <p:nvPr/>
        </p:nvSpPr>
        <p:spPr>
          <a:xfrm>
            <a:off x="5559552" y="1389888"/>
            <a:ext cx="3383280" cy="25400"/>
          </a:xfrm>
          <a:prstGeom prst="rect">
            <a:avLst/>
          </a:prstGeom>
          <a:solidFill>
            <a:srgbClr val="FB8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59552" y="1463040"/>
            <a:ext cx="3383280" cy="1645920"/>
          </a:xfrm>
          <a:prstGeom prst="rect">
            <a:avLst/>
          </a:prstGeom>
          <a:noFill/>
        </p:spPr>
        <p:txBody>
          <a:bodyPr wrap="square">
            <a:spAutoFit/>
          </a:bodyPr>
          <a:lstStyle/>
          <a:p>
            <a:pPr algn="l"/>
            <a:r>
              <a:rPr sz="1100" b="0" i="0">
                <a:solidFill>
                  <a:srgbClr val="1A1A2E"/>
                </a:solidFill>
                <a:latin typeface="Calibri"/>
              </a:rPr>
              <a:t>Urban intersections in Palapye experience chronic congestion due to fixed-time controllers that cannot adapt to real-time conditions, coordinate across junctions, or respond to varying demand.</a:t>
            </a:r>
          </a:p>
        </p:txBody>
      </p:sp>
      <p:sp>
        <p:nvSpPr>
          <p:cNvPr id="16" name="TextBox 15"/>
          <p:cNvSpPr txBox="1"/>
          <p:nvPr/>
        </p:nvSpPr>
        <p:spPr>
          <a:xfrm>
            <a:off x="5559552" y="3218688"/>
            <a:ext cx="3383280" cy="274320"/>
          </a:xfrm>
          <a:prstGeom prst="rect">
            <a:avLst/>
          </a:prstGeom>
          <a:noFill/>
        </p:spPr>
        <p:txBody>
          <a:bodyPr wrap="square">
            <a:spAutoFit/>
          </a:bodyPr>
          <a:lstStyle/>
          <a:p>
            <a:pPr algn="l"/>
            <a:r>
              <a:rPr sz="1100" b="1" i="0">
                <a:solidFill>
                  <a:srgbClr val="CC3333"/>
                </a:solidFill>
                <a:latin typeface="Calibri"/>
              </a:rPr>
              <a:t>RESEARCH GAP</a:t>
            </a:r>
          </a:p>
        </p:txBody>
      </p:sp>
      <p:sp>
        <p:nvSpPr>
          <p:cNvPr id="17" name="TextBox 16"/>
          <p:cNvSpPr txBox="1"/>
          <p:nvPr/>
        </p:nvSpPr>
        <p:spPr>
          <a:xfrm>
            <a:off x="5559552" y="3520440"/>
            <a:ext cx="3383280" cy="822960"/>
          </a:xfrm>
          <a:prstGeom prst="rect">
            <a:avLst/>
          </a:prstGeom>
          <a:noFill/>
        </p:spPr>
        <p:txBody>
          <a:bodyPr wrap="square">
            <a:spAutoFit/>
          </a:bodyPr>
          <a:lstStyle/>
          <a:p>
            <a:r>
              <a:rPr sz="1000" b="0">
                <a:solidFill>
                  <a:srgbClr val="1A1A2E"/>
                </a:solidFill>
                <a:latin typeface="Calibri"/>
              </a:rPr>
              <a:t>•  No adaptive/RL controller deployed or evaluated on a Botswana signalised network</a:t>
            </a:r>
          </a:p>
          <a:p>
            <a:r>
              <a:rPr sz="1000" b="0">
                <a:solidFill>
                  <a:srgbClr val="1A1A2E"/>
                </a:solidFill>
                <a:latin typeface="Calibri"/>
              </a:rPr>
              <a:t>•  No publicly available traffic count dataset for Palapye intersections</a:t>
            </a:r>
          </a:p>
        </p:txBody>
      </p:sp>
      <p:sp>
        <p:nvSpPr>
          <p:cNvPr id="18" name="Rectangle 17"/>
          <p:cNvSpPr/>
          <p:nvPr/>
        </p:nvSpPr>
        <p:spPr>
          <a:xfrm>
            <a:off x="109728" y="4663440"/>
            <a:ext cx="8924544" cy="5029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2880" y="4727448"/>
            <a:ext cx="8778240" cy="347472"/>
          </a:xfrm>
          <a:prstGeom prst="rect">
            <a:avLst/>
          </a:prstGeom>
          <a:noFill/>
        </p:spPr>
        <p:txBody>
          <a:bodyPr wrap="square">
            <a:spAutoFit/>
          </a:bodyPr>
          <a:lstStyle/>
          <a:p>
            <a:pPr algn="ctr"/>
            <a:r>
              <a:rPr sz="1200" b="1" i="0">
                <a:solidFill>
                  <a:srgbClr val="FFFFFF"/>
                </a:solidFill>
                <a:latin typeface="Calibri"/>
              </a:rPr>
              <a:t>This project builds and evaluates the first cooperative MARL traffic signal controller on a real Botswana road network.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30543BC9-0A36-D103-DFD4-306B575710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26B2C97-FB7C-79E1-420B-896F537AB6E1}"/>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3</a:t>
            </a:r>
          </a:p>
        </p:txBody>
      </p:sp>
      <p:sp>
        <p:nvSpPr>
          <p:cNvPr id="5" name="Title 1">
            <a:extLst>
              <a:ext uri="{FF2B5EF4-FFF2-40B4-BE49-F238E27FC236}">
                <a16:creationId xmlns:a16="http://schemas.microsoft.com/office/drawing/2014/main" id="{28D268CF-EE2B-BFAD-1990-E839782D14C1}"/>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RESEARCH OBJECTIVES &amp; CONTRIBUTIONS</a:t>
            </a:r>
          </a:p>
        </p:txBody>
      </p:sp>
      <p:pic>
        <p:nvPicPr>
          <p:cNvPr id="6" name="Content Placeholder 4">
            <a:extLst>
              <a:ext uri="{FF2B5EF4-FFF2-40B4-BE49-F238E27FC236}">
                <a16:creationId xmlns:a16="http://schemas.microsoft.com/office/drawing/2014/main" id="{A98033F3-9D23-2E4B-5173-10B144B3F820}"/>
              </a:ext>
            </a:extLst>
          </p:cNvPr>
          <p:cNvPicPr>
            <a:picLocks noGrp="1" noChangeAspect="1"/>
          </p:cNvPicPr>
          <p:nvPr>
            <p:ph idx="1"/>
          </p:nvPr>
        </p:nvPicPr>
        <p:blipFill>
          <a:blip r:embed="rId3"/>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9FE04023-D31B-790E-00C7-F44B62D856DD}"/>
              </a:ext>
            </a:extLst>
          </p:cNvPr>
          <p:cNvSpPr>
            <a:spLocks noGrp="1"/>
          </p:cNvSpPr>
          <p:nvPr>
            <p:ph type="sldNum" sz="quarter" idx="12"/>
          </p:nvPr>
        </p:nvSpPr>
        <p:spPr/>
        <p:txBody>
          <a:bodyPr/>
          <a:lstStyle/>
          <a:p>
            <a:fld id="{21004690-02AB-4EF8-9513-CB283ECF7991}" type="slidenum">
              <a:rPr lang="en-BW" smtClean="0"/>
              <a:t>2</a:t>
            </a:fld>
            <a:endParaRPr lang="en-BW"/>
          </a:p>
        </p:txBody>
      </p:sp>
      <p:pic>
        <p:nvPicPr>
          <p:cNvPr id="9" name="Picture 8">
            <a:extLst>
              <a:ext uri="{FF2B5EF4-FFF2-40B4-BE49-F238E27FC236}">
                <a16:creationId xmlns:a16="http://schemas.microsoft.com/office/drawing/2014/main" id="{AE7B97A8-40E2-366C-963C-E078DED597C8}"/>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C9F311F-2556-2CCF-E041-21C75B441D44}"/>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43D21A0A-29EE-FFA8-3B33-06CC5056E226}"/>
              </a:ext>
            </a:extLst>
          </p:cNvPr>
          <p:cNvSpPr txBox="1"/>
          <p:nvPr/>
        </p:nvSpPr>
        <p:spPr>
          <a:xfrm>
            <a:off x="947970" y="1768388"/>
            <a:ext cx="5846022" cy="2241960"/>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DEFINITION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PROJECT OBJECTIVES</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METHODOLOGY</a:t>
            </a:r>
          </a:p>
        </p:txBody>
      </p:sp>
      <p:sp>
        <p:nvSpPr>
          <p:cNvPr id="11" name="TextBox 10"/>
          <p:cNvSpPr txBox="1"/>
          <p:nvPr/>
        </p:nvSpPr>
        <p:spPr>
          <a:xfrm>
            <a:off x="137160" y="987552"/>
            <a:ext cx="5120640" cy="292608"/>
          </a:xfrm>
          <a:prstGeom prst="rect">
            <a:avLst/>
          </a:prstGeom>
          <a:noFill/>
        </p:spPr>
        <p:txBody>
          <a:bodyPr wrap="square">
            <a:spAutoFit/>
          </a:bodyPr>
          <a:lstStyle/>
          <a:p>
            <a:pPr algn="l"/>
            <a:r>
              <a:rPr sz="1300" b="1" i="0">
                <a:solidFill>
                  <a:srgbClr val="0070C0"/>
                </a:solidFill>
                <a:latin typeface="Calibri"/>
              </a:rPr>
              <a:t>Four Objectives</a:t>
            </a:r>
          </a:p>
        </p:txBody>
      </p:sp>
      <p:sp>
        <p:nvSpPr>
          <p:cNvPr id="12" name="TextBox 11"/>
          <p:cNvSpPr txBox="1"/>
          <p:nvPr/>
        </p:nvSpPr>
        <p:spPr>
          <a:xfrm>
            <a:off x="137160" y="1307592"/>
            <a:ext cx="5120640" cy="2011680"/>
          </a:xfrm>
          <a:prstGeom prst="rect">
            <a:avLst/>
          </a:prstGeom>
          <a:noFill/>
        </p:spPr>
        <p:txBody>
          <a:bodyPr wrap="square">
            <a:spAutoFit/>
          </a:bodyPr>
          <a:lstStyle/>
          <a:p>
            <a:r>
              <a:rPr sz="1200" b="0">
                <a:solidFill>
                  <a:srgbClr val="1A1A2E"/>
                </a:solidFill>
                <a:latin typeface="Calibri"/>
              </a:rPr>
              <a:t>•  YOLOv8 vehicle detection module validated on Palapye traffic footage</a:t>
            </a:r>
          </a:p>
          <a:p>
            <a:r>
              <a:rPr sz="1200" b="0">
                <a:solidFill>
                  <a:srgbClr val="1A1A2E"/>
                </a:solidFill>
                <a:latin typeface="Calibri"/>
              </a:rPr>
              <a:t>•  SUMO three-intersection A1 corridor model with 6 demand scenarios</a:t>
            </a:r>
          </a:p>
          <a:p>
            <a:r>
              <a:rPr sz="1200" b="0">
                <a:solidFill>
                  <a:srgbClr val="1A1A2E"/>
                </a:solidFill>
                <a:latin typeface="Calibri"/>
              </a:rPr>
              <a:t>•  MAPPO with Centralised Training, Decentralised Execution (CTDE) for 3 cooperative agents</a:t>
            </a:r>
          </a:p>
          <a:p>
            <a:r>
              <a:rPr sz="1200" b="0">
                <a:solidFill>
                  <a:srgbClr val="1A1A2E"/>
                </a:solidFill>
                <a:latin typeface="Calibri"/>
              </a:rPr>
              <a:t>•  Quantitative comparison: MAPPO vs SA-PPO vs Fixed-Time across all scenarios</a:t>
            </a:r>
          </a:p>
        </p:txBody>
      </p:sp>
      <p:sp>
        <p:nvSpPr>
          <p:cNvPr id="13" name="TextBox 12"/>
          <p:cNvSpPr txBox="1"/>
          <p:nvPr/>
        </p:nvSpPr>
        <p:spPr>
          <a:xfrm>
            <a:off x="137160" y="3383280"/>
            <a:ext cx="5120640" cy="292608"/>
          </a:xfrm>
          <a:prstGeom prst="rect">
            <a:avLst/>
          </a:prstGeom>
          <a:noFill/>
        </p:spPr>
        <p:txBody>
          <a:bodyPr wrap="square">
            <a:spAutoFit/>
          </a:bodyPr>
          <a:lstStyle/>
          <a:p>
            <a:pPr algn="l"/>
            <a:r>
              <a:rPr sz="1300" b="1" i="0">
                <a:solidFill>
                  <a:srgbClr val="0070C0"/>
                </a:solidFill>
                <a:latin typeface="Calibri"/>
              </a:rPr>
              <a:t>Key Contributions</a:t>
            </a:r>
          </a:p>
        </p:txBody>
      </p:sp>
      <p:sp>
        <p:nvSpPr>
          <p:cNvPr id="14" name="TextBox 13"/>
          <p:cNvSpPr txBox="1"/>
          <p:nvPr/>
        </p:nvSpPr>
        <p:spPr>
          <a:xfrm>
            <a:off x="137160" y="3703320"/>
            <a:ext cx="5120640" cy="1508760"/>
          </a:xfrm>
          <a:prstGeom prst="rect">
            <a:avLst/>
          </a:prstGeom>
          <a:noFill/>
        </p:spPr>
        <p:txBody>
          <a:bodyPr wrap="square">
            <a:spAutoFit/>
          </a:bodyPr>
          <a:lstStyle/>
          <a:p>
            <a:r>
              <a:rPr sz="1200" b="0">
                <a:solidFill>
                  <a:srgbClr val="1A1A2E"/>
                </a:solidFill>
                <a:latin typeface="Calibri"/>
              </a:rPr>
              <a:t>•  First cooperative MARL controller on a real Botswana road network</a:t>
            </a:r>
          </a:p>
          <a:p>
            <a:r>
              <a:rPr sz="1200" b="0">
                <a:solidFill>
                  <a:srgbClr val="1A1A2E"/>
                </a:solidFill>
                <a:latin typeface="Calibri"/>
              </a:rPr>
              <a:t>•  Reusable SUMO simulation environment (generates data for future researchers)</a:t>
            </a:r>
          </a:p>
          <a:p>
            <a:r>
              <a:rPr sz="1200" b="0">
                <a:solidFill>
                  <a:srgbClr val="1A1A2E"/>
                </a:solidFill>
                <a:latin typeface="Calibri"/>
              </a:rPr>
              <a:t>•  First quantitative Fixed vs SA-PPO vs MAPPO comparison at the A1 corridor</a:t>
            </a:r>
          </a:p>
          <a:p>
            <a:r>
              <a:rPr sz="1200" b="0">
                <a:solidFill>
                  <a:srgbClr val="1A1A2E"/>
                </a:solidFill>
                <a:latin typeface="Calibri"/>
              </a:rPr>
              <a:t>•  YOLOv8 pipeline providing a real-world sensing pathway</a:t>
            </a:r>
          </a:p>
        </p:txBody>
      </p:sp>
      <p:sp>
        <p:nvSpPr>
          <p:cNvPr id="15" name="Rectangle 14"/>
          <p:cNvSpPr/>
          <p:nvPr/>
        </p:nvSpPr>
        <p:spPr>
          <a:xfrm>
            <a:off x="5486400" y="987552"/>
            <a:ext cx="3566160" cy="201168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96128" y="1078992"/>
            <a:ext cx="3346704" cy="256032"/>
          </a:xfrm>
          <a:prstGeom prst="rect">
            <a:avLst/>
          </a:prstGeom>
          <a:noFill/>
        </p:spPr>
        <p:txBody>
          <a:bodyPr wrap="square">
            <a:spAutoFit/>
          </a:bodyPr>
          <a:lstStyle/>
          <a:p>
            <a:pPr algn="l"/>
            <a:r>
              <a:rPr sz="1000" b="1" i="0">
                <a:solidFill>
                  <a:srgbClr val="FB823F"/>
                </a:solidFill>
                <a:latin typeface="Calibri"/>
              </a:rPr>
              <a:t>PHASE 1</a:t>
            </a:r>
          </a:p>
        </p:txBody>
      </p:sp>
      <p:sp>
        <p:nvSpPr>
          <p:cNvPr id="17" name="TextBox 16"/>
          <p:cNvSpPr txBox="1"/>
          <p:nvPr/>
        </p:nvSpPr>
        <p:spPr>
          <a:xfrm>
            <a:off x="5596128" y="1353312"/>
            <a:ext cx="3346704" cy="365760"/>
          </a:xfrm>
          <a:prstGeom prst="rect">
            <a:avLst/>
          </a:prstGeom>
          <a:noFill/>
        </p:spPr>
        <p:txBody>
          <a:bodyPr wrap="square">
            <a:spAutoFit/>
          </a:bodyPr>
          <a:lstStyle/>
          <a:p>
            <a:pPr algn="l"/>
            <a:r>
              <a:rPr sz="1500" b="1" i="0">
                <a:solidFill>
                  <a:srgbClr val="FFFFFF"/>
                </a:solidFill>
                <a:latin typeface="Calibri"/>
              </a:rPr>
              <a:t>Single-Agent PPO</a:t>
            </a:r>
          </a:p>
        </p:txBody>
      </p:sp>
      <p:sp>
        <p:nvSpPr>
          <p:cNvPr id="18" name="TextBox 17"/>
          <p:cNvSpPr txBox="1"/>
          <p:nvPr/>
        </p:nvSpPr>
        <p:spPr>
          <a:xfrm>
            <a:off x="5596128" y="1792224"/>
            <a:ext cx="3346704" cy="1005840"/>
          </a:xfrm>
          <a:prstGeom prst="rect">
            <a:avLst/>
          </a:prstGeom>
          <a:noFill/>
        </p:spPr>
        <p:txBody>
          <a:bodyPr wrap="square">
            <a:spAutoFit/>
          </a:bodyPr>
          <a:lstStyle/>
          <a:p>
            <a:pPr algn="l"/>
            <a:r>
              <a:rPr sz="1100" b="0" i="0">
                <a:solidFill>
                  <a:srgbClr val="CCDDEE"/>
                </a:solidFill>
                <a:latin typeface="Calibri"/>
              </a:rPr>
              <a:t>1 junction  •  1 demand scenario
Stable-Baselines3  •  ~5M steps</a:t>
            </a:r>
          </a:p>
        </p:txBody>
      </p:sp>
      <p:sp>
        <p:nvSpPr>
          <p:cNvPr id="19" name="TextBox 18"/>
          <p:cNvSpPr txBox="1"/>
          <p:nvPr/>
        </p:nvSpPr>
        <p:spPr>
          <a:xfrm>
            <a:off x="6492240" y="3017520"/>
            <a:ext cx="1828800" cy="274320"/>
          </a:xfrm>
          <a:prstGeom prst="rect">
            <a:avLst/>
          </a:prstGeom>
          <a:noFill/>
        </p:spPr>
        <p:txBody>
          <a:bodyPr wrap="square">
            <a:spAutoFit/>
          </a:bodyPr>
          <a:lstStyle/>
          <a:p>
            <a:pPr algn="ctr"/>
            <a:r>
              <a:rPr sz="1200" b="1" i="0">
                <a:solidFill>
                  <a:srgbClr val="00B0F0"/>
                </a:solidFill>
                <a:latin typeface="Calibri"/>
              </a:rPr>
              <a:t>↓  extends to</a:t>
            </a:r>
          </a:p>
        </p:txBody>
      </p:sp>
      <p:sp>
        <p:nvSpPr>
          <p:cNvPr id="20" name="Rectangle 19"/>
          <p:cNvSpPr/>
          <p:nvPr/>
        </p:nvSpPr>
        <p:spPr>
          <a:xfrm>
            <a:off x="5486400" y="3227832"/>
            <a:ext cx="3566160" cy="2011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96128" y="3319272"/>
            <a:ext cx="3346704" cy="256032"/>
          </a:xfrm>
          <a:prstGeom prst="rect">
            <a:avLst/>
          </a:prstGeom>
          <a:noFill/>
        </p:spPr>
        <p:txBody>
          <a:bodyPr wrap="square">
            <a:spAutoFit/>
          </a:bodyPr>
          <a:lstStyle/>
          <a:p>
            <a:pPr algn="l"/>
            <a:r>
              <a:rPr sz="1000" b="1" i="0">
                <a:solidFill>
                  <a:srgbClr val="FB823F"/>
                </a:solidFill>
                <a:latin typeface="Calibri"/>
              </a:rPr>
              <a:t>PHASE 2</a:t>
            </a:r>
          </a:p>
        </p:txBody>
      </p:sp>
      <p:sp>
        <p:nvSpPr>
          <p:cNvPr id="22" name="TextBox 21"/>
          <p:cNvSpPr txBox="1"/>
          <p:nvPr/>
        </p:nvSpPr>
        <p:spPr>
          <a:xfrm>
            <a:off x="5596128" y="3593592"/>
            <a:ext cx="3346704" cy="365760"/>
          </a:xfrm>
          <a:prstGeom prst="rect">
            <a:avLst/>
          </a:prstGeom>
          <a:noFill/>
        </p:spPr>
        <p:txBody>
          <a:bodyPr wrap="square">
            <a:spAutoFit/>
          </a:bodyPr>
          <a:lstStyle/>
          <a:p>
            <a:pPr algn="l"/>
            <a:r>
              <a:rPr sz="1500" b="1" i="0">
                <a:solidFill>
                  <a:srgbClr val="FFFFFF"/>
                </a:solidFill>
                <a:latin typeface="Calibri"/>
              </a:rPr>
              <a:t>MAPPO CTDE</a:t>
            </a:r>
          </a:p>
        </p:txBody>
      </p:sp>
      <p:sp>
        <p:nvSpPr>
          <p:cNvPr id="23" name="TextBox 22"/>
          <p:cNvSpPr txBox="1"/>
          <p:nvPr/>
        </p:nvSpPr>
        <p:spPr>
          <a:xfrm>
            <a:off x="5596128" y="4032504"/>
            <a:ext cx="3346704" cy="1005840"/>
          </a:xfrm>
          <a:prstGeom prst="rect">
            <a:avLst/>
          </a:prstGeom>
          <a:noFill/>
        </p:spPr>
        <p:txBody>
          <a:bodyPr wrap="square">
            <a:spAutoFit/>
          </a:bodyPr>
          <a:lstStyle/>
          <a:p>
            <a:pPr algn="l"/>
            <a:r>
              <a:rPr sz="1100" b="0" i="0">
                <a:solidFill>
                  <a:srgbClr val="CCDDEE"/>
                </a:solidFill>
                <a:latin typeface="Calibri"/>
              </a:rPr>
              <a:t>3 junctions  •  6 scenarios  •  curriculum
Custom MAPPO  •  1.5M steps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30543BC9-0A36-D103-DFD4-306B575710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26B2C97-FB7C-79E1-420B-896F537AB6E1}"/>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4</a:t>
            </a:r>
          </a:p>
        </p:txBody>
      </p:sp>
      <p:sp>
        <p:nvSpPr>
          <p:cNvPr id="5" name="Title 1">
            <a:extLst>
              <a:ext uri="{FF2B5EF4-FFF2-40B4-BE49-F238E27FC236}">
                <a16:creationId xmlns:a16="http://schemas.microsoft.com/office/drawing/2014/main" id="{28D268CF-EE2B-BFAD-1990-E839782D14C1}"/>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SYSTEM ARCHITECTURE</a:t>
            </a:r>
          </a:p>
        </p:txBody>
      </p:sp>
      <p:pic>
        <p:nvPicPr>
          <p:cNvPr id="6" name="Content Placeholder 4">
            <a:extLst>
              <a:ext uri="{FF2B5EF4-FFF2-40B4-BE49-F238E27FC236}">
                <a16:creationId xmlns:a16="http://schemas.microsoft.com/office/drawing/2014/main" id="{A98033F3-9D23-2E4B-5173-10B144B3F820}"/>
              </a:ext>
            </a:extLst>
          </p:cNvPr>
          <p:cNvPicPr>
            <a:picLocks noGrp="1" noChangeAspect="1"/>
          </p:cNvPicPr>
          <p:nvPr>
            <p:ph idx="1"/>
          </p:nvPr>
        </p:nvPicPr>
        <p:blipFill>
          <a:blip r:embed="rId3"/>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9FE04023-D31B-790E-00C7-F44B62D856DD}"/>
              </a:ext>
            </a:extLst>
          </p:cNvPr>
          <p:cNvSpPr>
            <a:spLocks noGrp="1"/>
          </p:cNvSpPr>
          <p:nvPr>
            <p:ph type="sldNum" sz="quarter" idx="12"/>
          </p:nvPr>
        </p:nvSpPr>
        <p:spPr/>
        <p:txBody>
          <a:bodyPr/>
          <a:lstStyle/>
          <a:p>
            <a:fld id="{21004690-02AB-4EF8-9513-CB283ECF7991}" type="slidenum">
              <a:rPr lang="en-BW" smtClean="0"/>
              <a:t>2</a:t>
            </a:fld>
            <a:endParaRPr lang="en-BW"/>
          </a:p>
        </p:txBody>
      </p:sp>
      <p:pic>
        <p:nvPicPr>
          <p:cNvPr id="9" name="Picture 8">
            <a:extLst>
              <a:ext uri="{FF2B5EF4-FFF2-40B4-BE49-F238E27FC236}">
                <a16:creationId xmlns:a16="http://schemas.microsoft.com/office/drawing/2014/main" id="{AE7B97A8-40E2-366C-963C-E078DED597C8}"/>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C9F311F-2556-2CCF-E041-21C75B441D44}"/>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43D21A0A-29EE-FFA8-3B33-06CC5056E226}"/>
              </a:ext>
            </a:extLst>
          </p:cNvPr>
          <p:cNvSpPr txBox="1"/>
          <p:nvPr/>
        </p:nvSpPr>
        <p:spPr>
          <a:xfrm>
            <a:off x="947970" y="1768388"/>
            <a:ext cx="5846022" cy="2241960"/>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DEFINITION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PROJECT OBJECTIVES</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METHODOLOGY</a:t>
            </a:r>
          </a:p>
        </p:txBody>
      </p:sp>
      <p:sp>
        <p:nvSpPr>
          <p:cNvPr id="11" name="Rectangle 10"/>
          <p:cNvSpPr/>
          <p:nvPr/>
        </p:nvSpPr>
        <p:spPr>
          <a:xfrm>
            <a:off x="164592" y="1078992"/>
            <a:ext cx="1572768" cy="1417320"/>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 y="1243584"/>
            <a:ext cx="1444752" cy="1088136"/>
          </a:xfrm>
          <a:prstGeom prst="rect">
            <a:avLst/>
          </a:prstGeom>
          <a:noFill/>
        </p:spPr>
        <p:txBody>
          <a:bodyPr wrap="square">
            <a:spAutoFit/>
          </a:bodyPr>
          <a:lstStyle/>
          <a:p>
            <a:pPr algn="ctr"/>
            <a:r>
              <a:rPr sz="1100" b="1" i="0">
                <a:solidFill>
                  <a:srgbClr val="FFFFFF"/>
                </a:solidFill>
                <a:latin typeface="Calibri"/>
              </a:rPr>
              <a:t>Camera /
YOLOv8</a:t>
            </a:r>
          </a:p>
        </p:txBody>
      </p:sp>
      <p:sp>
        <p:nvSpPr>
          <p:cNvPr id="13" name="TextBox 12"/>
          <p:cNvSpPr txBox="1"/>
          <p:nvPr/>
        </p:nvSpPr>
        <p:spPr>
          <a:xfrm>
            <a:off x="1783080" y="1660652"/>
            <a:ext cx="201168" cy="274320"/>
          </a:xfrm>
          <a:prstGeom prst="rect">
            <a:avLst/>
          </a:prstGeom>
          <a:noFill/>
        </p:spPr>
        <p:txBody>
          <a:bodyPr wrap="square">
            <a:spAutoFit/>
          </a:bodyPr>
          <a:lstStyle/>
          <a:p>
            <a:pPr algn="ctr"/>
            <a:r>
              <a:rPr sz="1800" b="1" i="0">
                <a:solidFill>
                  <a:srgbClr val="1A1A2E"/>
                </a:solidFill>
                <a:latin typeface="Calibri"/>
              </a:rPr>
              <a:t>→</a:t>
            </a:r>
          </a:p>
        </p:txBody>
      </p:sp>
      <p:sp>
        <p:nvSpPr>
          <p:cNvPr id="14" name="Rectangle 13"/>
          <p:cNvSpPr/>
          <p:nvPr/>
        </p:nvSpPr>
        <p:spPr>
          <a:xfrm>
            <a:off x="2011680" y="1078992"/>
            <a:ext cx="1572768" cy="1417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75688" y="1243584"/>
            <a:ext cx="1444752" cy="1088136"/>
          </a:xfrm>
          <a:prstGeom prst="rect">
            <a:avLst/>
          </a:prstGeom>
          <a:noFill/>
        </p:spPr>
        <p:txBody>
          <a:bodyPr wrap="square">
            <a:spAutoFit/>
          </a:bodyPr>
          <a:lstStyle/>
          <a:p>
            <a:pPr algn="ctr"/>
            <a:r>
              <a:rPr sz="1100" b="1" i="0">
                <a:solidFill>
                  <a:srgbClr val="FFFFFF"/>
                </a:solidFill>
                <a:latin typeface="Calibri"/>
              </a:rPr>
              <a:t>Traffic
State
Extraction</a:t>
            </a:r>
          </a:p>
        </p:txBody>
      </p:sp>
      <p:sp>
        <p:nvSpPr>
          <p:cNvPr id="16" name="TextBox 15"/>
          <p:cNvSpPr txBox="1"/>
          <p:nvPr/>
        </p:nvSpPr>
        <p:spPr>
          <a:xfrm>
            <a:off x="3630168" y="1660652"/>
            <a:ext cx="201168" cy="274320"/>
          </a:xfrm>
          <a:prstGeom prst="rect">
            <a:avLst/>
          </a:prstGeom>
          <a:noFill/>
        </p:spPr>
        <p:txBody>
          <a:bodyPr wrap="square">
            <a:spAutoFit/>
          </a:bodyPr>
          <a:lstStyle/>
          <a:p>
            <a:pPr algn="ctr"/>
            <a:r>
              <a:rPr sz="1800" b="1" i="0">
                <a:solidFill>
                  <a:srgbClr val="1A1A2E"/>
                </a:solidFill>
                <a:latin typeface="Calibri"/>
              </a:rPr>
              <a:t>→</a:t>
            </a:r>
          </a:p>
        </p:txBody>
      </p:sp>
      <p:sp>
        <p:nvSpPr>
          <p:cNvPr id="17" name="Rectangle 16"/>
          <p:cNvSpPr/>
          <p:nvPr/>
        </p:nvSpPr>
        <p:spPr>
          <a:xfrm>
            <a:off x="3858768" y="1078992"/>
            <a:ext cx="1572768" cy="14173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22776" y="1243584"/>
            <a:ext cx="1444752" cy="1088136"/>
          </a:xfrm>
          <a:prstGeom prst="rect">
            <a:avLst/>
          </a:prstGeom>
          <a:noFill/>
        </p:spPr>
        <p:txBody>
          <a:bodyPr wrap="square">
            <a:spAutoFit/>
          </a:bodyPr>
          <a:lstStyle/>
          <a:p>
            <a:pPr algn="ctr"/>
            <a:r>
              <a:rPr sz="1100" b="1" i="0">
                <a:solidFill>
                  <a:srgbClr val="FFFFFF"/>
                </a:solidFill>
                <a:latin typeface="Calibri"/>
              </a:rPr>
              <a:t>RL Policy
Decision
(PPO/MAPPO)</a:t>
            </a:r>
          </a:p>
        </p:txBody>
      </p:sp>
      <p:sp>
        <p:nvSpPr>
          <p:cNvPr id="19" name="TextBox 18"/>
          <p:cNvSpPr txBox="1"/>
          <p:nvPr/>
        </p:nvSpPr>
        <p:spPr>
          <a:xfrm>
            <a:off x="5477256" y="1660652"/>
            <a:ext cx="201168" cy="274320"/>
          </a:xfrm>
          <a:prstGeom prst="rect">
            <a:avLst/>
          </a:prstGeom>
          <a:noFill/>
        </p:spPr>
        <p:txBody>
          <a:bodyPr wrap="square">
            <a:spAutoFit/>
          </a:bodyPr>
          <a:lstStyle/>
          <a:p>
            <a:pPr algn="ctr"/>
            <a:r>
              <a:rPr sz="1800" b="1" i="0">
                <a:solidFill>
                  <a:srgbClr val="1A1A2E"/>
                </a:solidFill>
                <a:latin typeface="Calibri"/>
              </a:rPr>
              <a:t>→</a:t>
            </a:r>
          </a:p>
        </p:txBody>
      </p:sp>
      <p:sp>
        <p:nvSpPr>
          <p:cNvPr id="20" name="Rectangle 19"/>
          <p:cNvSpPr/>
          <p:nvPr/>
        </p:nvSpPr>
        <p:spPr>
          <a:xfrm>
            <a:off x="5705856" y="1078992"/>
            <a:ext cx="1572768" cy="1417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9864" y="1243584"/>
            <a:ext cx="1444752" cy="1088136"/>
          </a:xfrm>
          <a:prstGeom prst="rect">
            <a:avLst/>
          </a:prstGeom>
          <a:noFill/>
        </p:spPr>
        <p:txBody>
          <a:bodyPr wrap="square">
            <a:spAutoFit/>
          </a:bodyPr>
          <a:lstStyle/>
          <a:p>
            <a:pPr algn="ctr"/>
            <a:r>
              <a:rPr sz="1100" b="1" i="0">
                <a:solidFill>
                  <a:srgbClr val="FFFFFF"/>
                </a:solidFill>
                <a:latin typeface="Calibri"/>
              </a:rPr>
              <a:t>SUMO+TraCI
Signal
Actuation</a:t>
            </a:r>
          </a:p>
        </p:txBody>
      </p:sp>
      <p:sp>
        <p:nvSpPr>
          <p:cNvPr id="22" name="TextBox 21"/>
          <p:cNvSpPr txBox="1"/>
          <p:nvPr/>
        </p:nvSpPr>
        <p:spPr>
          <a:xfrm>
            <a:off x="7324344" y="1660652"/>
            <a:ext cx="201168" cy="274320"/>
          </a:xfrm>
          <a:prstGeom prst="rect">
            <a:avLst/>
          </a:prstGeom>
          <a:noFill/>
        </p:spPr>
        <p:txBody>
          <a:bodyPr wrap="square">
            <a:spAutoFit/>
          </a:bodyPr>
          <a:lstStyle/>
          <a:p>
            <a:pPr algn="ctr"/>
            <a:r>
              <a:rPr sz="1800" b="1" i="0">
                <a:solidFill>
                  <a:srgbClr val="1A1A2E"/>
                </a:solidFill>
                <a:latin typeface="Calibri"/>
              </a:rPr>
              <a:t>→</a:t>
            </a:r>
          </a:p>
        </p:txBody>
      </p:sp>
      <p:sp>
        <p:nvSpPr>
          <p:cNvPr id="23" name="Rectangle 22"/>
          <p:cNvSpPr/>
          <p:nvPr/>
        </p:nvSpPr>
        <p:spPr>
          <a:xfrm>
            <a:off x="7552944" y="1078992"/>
            <a:ext cx="1572768" cy="1417320"/>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16952" y="1243584"/>
            <a:ext cx="1444752" cy="1088136"/>
          </a:xfrm>
          <a:prstGeom prst="rect">
            <a:avLst/>
          </a:prstGeom>
          <a:noFill/>
        </p:spPr>
        <p:txBody>
          <a:bodyPr wrap="square">
            <a:spAutoFit/>
          </a:bodyPr>
          <a:lstStyle/>
          <a:p>
            <a:pPr algn="ctr"/>
            <a:r>
              <a:rPr sz="1100" b="1" i="0">
                <a:solidFill>
                  <a:srgbClr val="FFFFFF"/>
                </a:solidFill>
                <a:latin typeface="Calibri"/>
              </a:rPr>
              <a:t>Performance
Metrics</a:t>
            </a:r>
          </a:p>
        </p:txBody>
      </p:sp>
      <p:sp>
        <p:nvSpPr>
          <p:cNvPr id="25" name="TextBox 24"/>
          <p:cNvSpPr txBox="1"/>
          <p:nvPr/>
        </p:nvSpPr>
        <p:spPr>
          <a:xfrm>
            <a:off x="164592" y="2651760"/>
            <a:ext cx="8814816" cy="274320"/>
          </a:xfrm>
          <a:prstGeom prst="rect">
            <a:avLst/>
          </a:prstGeom>
          <a:noFill/>
        </p:spPr>
        <p:txBody>
          <a:bodyPr wrap="square">
            <a:spAutoFit/>
          </a:bodyPr>
          <a:lstStyle/>
          <a:p>
            <a:pPr algn="ctr"/>
            <a:r>
              <a:rPr sz="1100" b="0" i="1">
                <a:solidFill>
                  <a:srgbClr val="0070C0"/>
                </a:solidFill>
                <a:latin typeface="Calibri"/>
              </a:rPr>
              <a:t>↺  feedback loop: performance metrics drive next policy update</a:t>
            </a:r>
          </a:p>
        </p:txBody>
      </p:sp>
      <p:sp>
        <p:nvSpPr>
          <p:cNvPr id="26" name="Rectangle 25"/>
          <p:cNvSpPr/>
          <p:nvPr/>
        </p:nvSpPr>
        <p:spPr>
          <a:xfrm>
            <a:off x="164592" y="3063240"/>
            <a:ext cx="2852928" cy="2103120"/>
          </a:xfrm>
          <a:prstGeom prst="rect">
            <a:avLst/>
          </a:prstGeom>
          <a:solidFill>
            <a:srgbClr val="F0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6032" y="3127248"/>
            <a:ext cx="2670048" cy="274320"/>
          </a:xfrm>
          <a:prstGeom prst="rect">
            <a:avLst/>
          </a:prstGeom>
          <a:noFill/>
        </p:spPr>
        <p:txBody>
          <a:bodyPr wrap="square">
            <a:spAutoFit/>
          </a:bodyPr>
          <a:lstStyle/>
          <a:p>
            <a:pPr algn="l"/>
            <a:r>
              <a:rPr sz="1100" b="1" i="0">
                <a:solidFill>
                  <a:srgbClr val="1A1A2E"/>
                </a:solidFill>
                <a:latin typeface="Calibri"/>
              </a:rPr>
              <a:t>SUMO Network</a:t>
            </a:r>
          </a:p>
        </p:txBody>
      </p:sp>
      <p:sp>
        <p:nvSpPr>
          <p:cNvPr id="28" name="TextBox 27"/>
          <p:cNvSpPr txBox="1"/>
          <p:nvPr/>
        </p:nvSpPr>
        <p:spPr>
          <a:xfrm>
            <a:off x="256032" y="3456432"/>
            <a:ext cx="2670048" cy="1554480"/>
          </a:xfrm>
          <a:prstGeom prst="rect">
            <a:avLst/>
          </a:prstGeom>
          <a:noFill/>
        </p:spPr>
        <p:txBody>
          <a:bodyPr wrap="square">
            <a:spAutoFit/>
          </a:bodyPr>
          <a:lstStyle/>
          <a:p>
            <a:pPr algn="l"/>
            <a:r>
              <a:rPr sz="1000" b="0" i="0">
                <a:solidFill>
                  <a:srgbClr val="1A1A2E"/>
                </a:solidFill>
                <a:latin typeface="Calibri"/>
              </a:rPr>
              <a:t>Real Palapye A1 geometry
3 signalised junctions
6 demand scenarios
Step: 3 s/action</a:t>
            </a:r>
          </a:p>
        </p:txBody>
      </p:sp>
      <p:sp>
        <p:nvSpPr>
          <p:cNvPr id="29" name="Rectangle 28"/>
          <p:cNvSpPr/>
          <p:nvPr/>
        </p:nvSpPr>
        <p:spPr>
          <a:xfrm>
            <a:off x="3182112" y="3063240"/>
            <a:ext cx="2852928" cy="2103120"/>
          </a:xfrm>
          <a:prstGeom prst="rect">
            <a:avLst/>
          </a:prstGeom>
          <a:solidFill>
            <a:srgbClr val="F0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73552" y="3127248"/>
            <a:ext cx="2670048" cy="274320"/>
          </a:xfrm>
          <a:prstGeom prst="rect">
            <a:avLst/>
          </a:prstGeom>
          <a:noFill/>
        </p:spPr>
        <p:txBody>
          <a:bodyPr wrap="square">
            <a:spAutoFit/>
          </a:bodyPr>
          <a:lstStyle/>
          <a:p>
            <a:pPr algn="l"/>
            <a:r>
              <a:rPr sz="1100" b="1" i="0">
                <a:solidFill>
                  <a:srgbClr val="1A1A2E"/>
                </a:solidFill>
                <a:latin typeface="Calibri"/>
              </a:rPr>
              <a:t>MAPPO CTDE</a:t>
            </a:r>
          </a:p>
        </p:txBody>
      </p:sp>
      <p:sp>
        <p:nvSpPr>
          <p:cNvPr id="31" name="TextBox 30"/>
          <p:cNvSpPr txBox="1"/>
          <p:nvPr/>
        </p:nvSpPr>
        <p:spPr>
          <a:xfrm>
            <a:off x="3273552" y="3456432"/>
            <a:ext cx="2670048" cy="1554480"/>
          </a:xfrm>
          <a:prstGeom prst="rect">
            <a:avLst/>
          </a:prstGeom>
          <a:noFill/>
        </p:spPr>
        <p:txBody>
          <a:bodyPr wrap="square">
            <a:spAutoFit/>
          </a:bodyPr>
          <a:lstStyle/>
          <a:p>
            <a:pPr algn="l"/>
            <a:r>
              <a:rPr sz="1000" b="0" i="0">
                <a:solidFill>
                  <a:srgbClr val="1A1A2E"/>
                </a:solidFill>
                <a:latin typeface="Calibri"/>
              </a:rPr>
              <a:t>22-dim local obs per agent
66-dim joint state for critic
Global cooperative reward
3 agents, param sharing</a:t>
            </a:r>
          </a:p>
        </p:txBody>
      </p:sp>
      <p:sp>
        <p:nvSpPr>
          <p:cNvPr id="32" name="Rectangle 31"/>
          <p:cNvSpPr/>
          <p:nvPr/>
        </p:nvSpPr>
        <p:spPr>
          <a:xfrm>
            <a:off x="6199632" y="3063240"/>
            <a:ext cx="2852928" cy="2103120"/>
          </a:xfrm>
          <a:prstGeom prst="rect">
            <a:avLst/>
          </a:prstGeom>
          <a:solidFill>
            <a:srgbClr val="F0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91072" y="3127248"/>
            <a:ext cx="2670048" cy="274320"/>
          </a:xfrm>
          <a:prstGeom prst="rect">
            <a:avLst/>
          </a:prstGeom>
          <a:noFill/>
        </p:spPr>
        <p:txBody>
          <a:bodyPr wrap="square">
            <a:spAutoFit/>
          </a:bodyPr>
          <a:lstStyle/>
          <a:p>
            <a:pPr algn="l"/>
            <a:r>
              <a:rPr sz="1100" b="1" i="0">
                <a:solidFill>
                  <a:srgbClr val="1A1A2E"/>
                </a:solidFill>
                <a:latin typeface="Calibri"/>
              </a:rPr>
              <a:t>YOLOv8</a:t>
            </a:r>
          </a:p>
        </p:txBody>
      </p:sp>
      <p:sp>
        <p:nvSpPr>
          <p:cNvPr id="34" name="TextBox 33"/>
          <p:cNvSpPr txBox="1"/>
          <p:nvPr/>
        </p:nvSpPr>
        <p:spPr>
          <a:xfrm>
            <a:off x="6291072" y="3456432"/>
            <a:ext cx="2670048" cy="1554480"/>
          </a:xfrm>
          <a:prstGeom prst="rect">
            <a:avLst/>
          </a:prstGeom>
          <a:noFill/>
        </p:spPr>
        <p:txBody>
          <a:bodyPr wrap="square">
            <a:spAutoFit/>
          </a:bodyPr>
          <a:lstStyle/>
          <a:p>
            <a:pPr algn="l"/>
            <a:r>
              <a:rPr sz="1000" b="0" i="0">
                <a:solidFill>
                  <a:srgbClr val="1A1A2E"/>
                </a:solidFill>
                <a:latin typeface="Calibri"/>
              </a:rPr>
              <a:t>Anchor-free detection
Validated on Palapye footage
Queue length estimation
Future: live integration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30543BC9-0A36-D103-DFD4-306B575710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26B2C97-FB7C-79E1-420B-896F537AB6E1}"/>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5</a:t>
            </a:r>
          </a:p>
        </p:txBody>
      </p:sp>
      <p:sp>
        <p:nvSpPr>
          <p:cNvPr id="5" name="Title 1">
            <a:extLst>
              <a:ext uri="{FF2B5EF4-FFF2-40B4-BE49-F238E27FC236}">
                <a16:creationId xmlns:a16="http://schemas.microsoft.com/office/drawing/2014/main" id="{28D268CF-EE2B-BFAD-1990-E839782D14C1}"/>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PHASE 1: SINGLE-AGENT PPO vs FIXED-TIME</a:t>
            </a:r>
          </a:p>
        </p:txBody>
      </p:sp>
      <p:pic>
        <p:nvPicPr>
          <p:cNvPr id="6" name="Content Placeholder 4">
            <a:extLst>
              <a:ext uri="{FF2B5EF4-FFF2-40B4-BE49-F238E27FC236}">
                <a16:creationId xmlns:a16="http://schemas.microsoft.com/office/drawing/2014/main" id="{A98033F3-9D23-2E4B-5173-10B144B3F820}"/>
              </a:ext>
            </a:extLst>
          </p:cNvPr>
          <p:cNvPicPr>
            <a:picLocks noGrp="1" noChangeAspect="1"/>
          </p:cNvPicPr>
          <p:nvPr>
            <p:ph idx="1"/>
          </p:nvPr>
        </p:nvPicPr>
        <p:blipFill>
          <a:blip r:embed="rId3"/>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9FE04023-D31B-790E-00C7-F44B62D856DD}"/>
              </a:ext>
            </a:extLst>
          </p:cNvPr>
          <p:cNvSpPr>
            <a:spLocks noGrp="1"/>
          </p:cNvSpPr>
          <p:nvPr>
            <p:ph type="sldNum" sz="quarter" idx="12"/>
          </p:nvPr>
        </p:nvSpPr>
        <p:spPr/>
        <p:txBody>
          <a:bodyPr/>
          <a:lstStyle/>
          <a:p>
            <a:fld id="{21004690-02AB-4EF8-9513-CB283ECF7991}" type="slidenum">
              <a:rPr lang="en-BW" smtClean="0"/>
              <a:t>2</a:t>
            </a:fld>
            <a:endParaRPr lang="en-BW"/>
          </a:p>
        </p:txBody>
      </p:sp>
      <p:pic>
        <p:nvPicPr>
          <p:cNvPr id="9" name="Picture 8">
            <a:extLst>
              <a:ext uri="{FF2B5EF4-FFF2-40B4-BE49-F238E27FC236}">
                <a16:creationId xmlns:a16="http://schemas.microsoft.com/office/drawing/2014/main" id="{AE7B97A8-40E2-366C-963C-E078DED597C8}"/>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C9F311F-2556-2CCF-E041-21C75B441D44}"/>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43D21A0A-29EE-FFA8-3B33-06CC5056E226}"/>
              </a:ext>
            </a:extLst>
          </p:cNvPr>
          <p:cNvSpPr txBox="1"/>
          <p:nvPr/>
        </p:nvSpPr>
        <p:spPr>
          <a:xfrm>
            <a:off x="947970" y="1768388"/>
            <a:ext cx="5846022" cy="2241960"/>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DEFINITION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PROJECT OBJECTIVES</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METHODOLOGY</a:t>
            </a:r>
          </a:p>
        </p:txBody>
      </p:sp>
      <p:sp>
        <p:nvSpPr>
          <p:cNvPr id="11" name="TextBox 10"/>
          <p:cNvSpPr txBox="1"/>
          <p:nvPr/>
        </p:nvSpPr>
        <p:spPr>
          <a:xfrm>
            <a:off x="137160" y="960120"/>
            <a:ext cx="8869680" cy="256032"/>
          </a:xfrm>
          <a:prstGeom prst="rect">
            <a:avLst/>
          </a:prstGeom>
          <a:noFill/>
        </p:spPr>
        <p:txBody>
          <a:bodyPr wrap="square">
            <a:spAutoFit/>
          </a:bodyPr>
          <a:lstStyle/>
          <a:p>
            <a:pPr algn="ctr"/>
            <a:r>
              <a:rPr sz="1100" b="0" i="1">
                <a:solidFill>
                  <a:srgbClr val="555555"/>
                </a:solidFill>
                <a:latin typeface="Calibri"/>
              </a:rPr>
              <a:t>Single intersection  •  9,000 timesteps  •  5 demand phases  •  Stable-Baselines3 PPO  •  ~5M training steps</a:t>
            </a:r>
          </a:p>
        </p:txBody>
      </p:sp>
      <p:sp>
        <p:nvSpPr>
          <p:cNvPr id="12" name="Rectangle 11"/>
          <p:cNvSpPr/>
          <p:nvPr/>
        </p:nvSpPr>
        <p:spPr>
          <a:xfrm>
            <a:off x="109728" y="1280160"/>
            <a:ext cx="1719072" cy="1097280"/>
          </a:xfrm>
          <a:prstGeom prst="rect">
            <a:avLst/>
          </a:prstGeom>
          <a:solidFill>
            <a:srgbClr val="FFFFFF"/>
          </a:solidFill>
          <a:ln w="1524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3736" y="1325880"/>
            <a:ext cx="1591056" cy="274320"/>
          </a:xfrm>
          <a:prstGeom prst="rect">
            <a:avLst/>
          </a:prstGeom>
          <a:noFill/>
        </p:spPr>
        <p:txBody>
          <a:bodyPr wrap="square">
            <a:spAutoFit/>
          </a:bodyPr>
          <a:lstStyle/>
          <a:p>
            <a:pPr algn="ctr"/>
            <a:r>
              <a:rPr sz="1000" b="0" i="0">
                <a:solidFill>
                  <a:srgbClr val="1A1A2E"/>
                </a:solidFill>
                <a:latin typeface="Calibri"/>
              </a:rPr>
              <a:t>Throughput</a:t>
            </a:r>
          </a:p>
        </p:txBody>
      </p:sp>
      <p:sp>
        <p:nvSpPr>
          <p:cNvPr id="14" name="TextBox 13"/>
          <p:cNvSpPr txBox="1"/>
          <p:nvPr/>
        </p:nvSpPr>
        <p:spPr>
          <a:xfrm>
            <a:off x="155448" y="1581912"/>
            <a:ext cx="1627632" cy="457200"/>
          </a:xfrm>
          <a:prstGeom prst="rect">
            <a:avLst/>
          </a:prstGeom>
          <a:noFill/>
        </p:spPr>
        <p:txBody>
          <a:bodyPr wrap="square">
            <a:spAutoFit/>
          </a:bodyPr>
          <a:lstStyle/>
          <a:p>
            <a:pPr algn="ctr"/>
            <a:r>
              <a:rPr sz="2200" b="1" i="0">
                <a:solidFill>
                  <a:srgbClr val="068A4C"/>
                </a:solidFill>
                <a:latin typeface="Calibri"/>
              </a:rPr>
              <a:t>+48.5%</a:t>
            </a:r>
          </a:p>
        </p:txBody>
      </p:sp>
      <p:sp>
        <p:nvSpPr>
          <p:cNvPr id="15" name="TextBox 14"/>
          <p:cNvSpPr txBox="1"/>
          <p:nvPr/>
        </p:nvSpPr>
        <p:spPr>
          <a:xfrm>
            <a:off x="155448" y="2029968"/>
            <a:ext cx="1627632" cy="274320"/>
          </a:xfrm>
          <a:prstGeom prst="rect">
            <a:avLst/>
          </a:prstGeom>
          <a:noFill/>
        </p:spPr>
        <p:txBody>
          <a:bodyPr wrap="square">
            <a:spAutoFit/>
          </a:bodyPr>
          <a:lstStyle/>
          <a:p>
            <a:pPr algn="ctr"/>
            <a:r>
              <a:rPr sz="900" b="0" i="0">
                <a:solidFill>
                  <a:srgbClr val="555555"/>
                </a:solidFill>
                <a:latin typeface="Calibri"/>
              </a:rPr>
              <a:t>p&lt;0.001  d=0.156</a:t>
            </a:r>
          </a:p>
        </p:txBody>
      </p:sp>
      <p:sp>
        <p:nvSpPr>
          <p:cNvPr id="16" name="Rectangle 15"/>
          <p:cNvSpPr/>
          <p:nvPr/>
        </p:nvSpPr>
        <p:spPr>
          <a:xfrm>
            <a:off x="1901952" y="1280160"/>
            <a:ext cx="1719072" cy="1097280"/>
          </a:xfrm>
          <a:prstGeom prst="rect">
            <a:avLst/>
          </a:prstGeom>
          <a:solidFill>
            <a:srgbClr val="FFFFFF"/>
          </a:solidFill>
          <a:ln w="1524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65960" y="1325880"/>
            <a:ext cx="1591056" cy="274320"/>
          </a:xfrm>
          <a:prstGeom prst="rect">
            <a:avLst/>
          </a:prstGeom>
          <a:noFill/>
        </p:spPr>
        <p:txBody>
          <a:bodyPr wrap="square">
            <a:spAutoFit/>
          </a:bodyPr>
          <a:lstStyle/>
          <a:p>
            <a:pPr algn="ctr"/>
            <a:r>
              <a:rPr sz="1000" b="0" i="0">
                <a:solidFill>
                  <a:srgbClr val="1A1A2E"/>
                </a:solidFill>
                <a:latin typeface="Calibri"/>
              </a:rPr>
              <a:t>Queue Length</a:t>
            </a:r>
          </a:p>
        </p:txBody>
      </p:sp>
      <p:sp>
        <p:nvSpPr>
          <p:cNvPr id="18" name="TextBox 17"/>
          <p:cNvSpPr txBox="1"/>
          <p:nvPr/>
        </p:nvSpPr>
        <p:spPr>
          <a:xfrm>
            <a:off x="1947672" y="1581912"/>
            <a:ext cx="1627632" cy="457200"/>
          </a:xfrm>
          <a:prstGeom prst="rect">
            <a:avLst/>
          </a:prstGeom>
          <a:noFill/>
        </p:spPr>
        <p:txBody>
          <a:bodyPr wrap="square">
            <a:spAutoFit/>
          </a:bodyPr>
          <a:lstStyle/>
          <a:p>
            <a:pPr algn="ctr"/>
            <a:r>
              <a:rPr sz="2200" b="1" i="0">
                <a:solidFill>
                  <a:srgbClr val="068A4C"/>
                </a:solidFill>
                <a:latin typeface="Calibri"/>
              </a:rPr>
              <a:t>−27.8%</a:t>
            </a:r>
          </a:p>
        </p:txBody>
      </p:sp>
      <p:sp>
        <p:nvSpPr>
          <p:cNvPr id="19" name="TextBox 18"/>
          <p:cNvSpPr txBox="1"/>
          <p:nvPr/>
        </p:nvSpPr>
        <p:spPr>
          <a:xfrm>
            <a:off x="1947672" y="2029968"/>
            <a:ext cx="1627632" cy="274320"/>
          </a:xfrm>
          <a:prstGeom prst="rect">
            <a:avLst/>
          </a:prstGeom>
          <a:noFill/>
        </p:spPr>
        <p:txBody>
          <a:bodyPr wrap="square">
            <a:spAutoFit/>
          </a:bodyPr>
          <a:lstStyle/>
          <a:p>
            <a:pPr algn="ctr"/>
            <a:r>
              <a:rPr sz="900" b="0" i="0">
                <a:solidFill>
                  <a:srgbClr val="555555"/>
                </a:solidFill>
                <a:latin typeface="Calibri"/>
              </a:rPr>
              <a:t>p&lt;0.001  d=0.253</a:t>
            </a:r>
          </a:p>
        </p:txBody>
      </p:sp>
      <p:sp>
        <p:nvSpPr>
          <p:cNvPr id="20" name="Rectangle 19"/>
          <p:cNvSpPr/>
          <p:nvPr/>
        </p:nvSpPr>
        <p:spPr>
          <a:xfrm>
            <a:off x="3694176" y="1280160"/>
            <a:ext cx="1719072" cy="1097280"/>
          </a:xfrm>
          <a:prstGeom prst="rect">
            <a:avLst/>
          </a:prstGeom>
          <a:solidFill>
            <a:srgbClr val="FFFFFF"/>
          </a:solidFill>
          <a:ln w="1524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58184" y="1325880"/>
            <a:ext cx="1591056" cy="274320"/>
          </a:xfrm>
          <a:prstGeom prst="rect">
            <a:avLst/>
          </a:prstGeom>
          <a:noFill/>
        </p:spPr>
        <p:txBody>
          <a:bodyPr wrap="square">
            <a:spAutoFit/>
          </a:bodyPr>
          <a:lstStyle/>
          <a:p>
            <a:pPr algn="ctr"/>
            <a:r>
              <a:rPr sz="1000" b="0" i="0">
                <a:solidFill>
                  <a:srgbClr val="1A1A2E"/>
                </a:solidFill>
                <a:latin typeface="Calibri"/>
              </a:rPr>
              <a:t>Traffic Pressure</a:t>
            </a:r>
          </a:p>
        </p:txBody>
      </p:sp>
      <p:sp>
        <p:nvSpPr>
          <p:cNvPr id="22" name="TextBox 21"/>
          <p:cNvSpPr txBox="1"/>
          <p:nvPr/>
        </p:nvSpPr>
        <p:spPr>
          <a:xfrm>
            <a:off x="3739896" y="1581912"/>
            <a:ext cx="1627632" cy="457200"/>
          </a:xfrm>
          <a:prstGeom prst="rect">
            <a:avLst/>
          </a:prstGeom>
          <a:noFill/>
        </p:spPr>
        <p:txBody>
          <a:bodyPr wrap="square">
            <a:spAutoFit/>
          </a:bodyPr>
          <a:lstStyle/>
          <a:p>
            <a:pPr algn="ctr"/>
            <a:r>
              <a:rPr sz="2200" b="1" i="0">
                <a:solidFill>
                  <a:srgbClr val="068A4C"/>
                </a:solidFill>
                <a:latin typeface="Calibri"/>
              </a:rPr>
              <a:t>−27.3%</a:t>
            </a:r>
          </a:p>
        </p:txBody>
      </p:sp>
      <p:sp>
        <p:nvSpPr>
          <p:cNvPr id="23" name="TextBox 22"/>
          <p:cNvSpPr txBox="1"/>
          <p:nvPr/>
        </p:nvSpPr>
        <p:spPr>
          <a:xfrm>
            <a:off x="3739896" y="2029968"/>
            <a:ext cx="1627632" cy="274320"/>
          </a:xfrm>
          <a:prstGeom prst="rect">
            <a:avLst/>
          </a:prstGeom>
          <a:noFill/>
        </p:spPr>
        <p:txBody>
          <a:bodyPr wrap="square">
            <a:spAutoFit/>
          </a:bodyPr>
          <a:lstStyle/>
          <a:p>
            <a:pPr algn="ctr"/>
            <a:r>
              <a:rPr sz="900" b="0" i="0">
                <a:solidFill>
                  <a:srgbClr val="555555"/>
                </a:solidFill>
                <a:latin typeface="Calibri"/>
              </a:rPr>
              <a:t>p&lt;0.001  d=0.239</a:t>
            </a:r>
          </a:p>
        </p:txBody>
      </p:sp>
      <p:sp>
        <p:nvSpPr>
          <p:cNvPr id="24" name="Rectangle 23"/>
          <p:cNvSpPr/>
          <p:nvPr/>
        </p:nvSpPr>
        <p:spPr>
          <a:xfrm>
            <a:off x="5486400" y="1280160"/>
            <a:ext cx="1719072" cy="1097280"/>
          </a:xfrm>
          <a:prstGeom prst="rect">
            <a:avLst/>
          </a:prstGeom>
          <a:solidFill>
            <a:srgbClr val="FFFFFF"/>
          </a:solidFill>
          <a:ln w="1524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50408" y="1325880"/>
            <a:ext cx="1591056" cy="274320"/>
          </a:xfrm>
          <a:prstGeom prst="rect">
            <a:avLst/>
          </a:prstGeom>
          <a:noFill/>
        </p:spPr>
        <p:txBody>
          <a:bodyPr wrap="square">
            <a:spAutoFit/>
          </a:bodyPr>
          <a:lstStyle/>
          <a:p>
            <a:pPr algn="ctr"/>
            <a:r>
              <a:rPr sz="1000" b="0" i="0">
                <a:solidFill>
                  <a:srgbClr val="1A1A2E"/>
                </a:solidFill>
                <a:latin typeface="Calibri"/>
              </a:rPr>
              <a:t>Delay (agg.)</a:t>
            </a:r>
          </a:p>
        </p:txBody>
      </p:sp>
      <p:sp>
        <p:nvSpPr>
          <p:cNvPr id="26" name="TextBox 25"/>
          <p:cNvSpPr txBox="1"/>
          <p:nvPr/>
        </p:nvSpPr>
        <p:spPr>
          <a:xfrm>
            <a:off x="5532120" y="1581912"/>
            <a:ext cx="1627632" cy="457200"/>
          </a:xfrm>
          <a:prstGeom prst="rect">
            <a:avLst/>
          </a:prstGeom>
          <a:noFill/>
        </p:spPr>
        <p:txBody>
          <a:bodyPr wrap="square">
            <a:spAutoFit/>
          </a:bodyPr>
          <a:lstStyle/>
          <a:p>
            <a:pPr algn="ctr"/>
            <a:r>
              <a:rPr sz="2200" b="1" i="0">
                <a:solidFill>
                  <a:srgbClr val="FB823F"/>
                </a:solidFill>
                <a:latin typeface="Calibri"/>
              </a:rPr>
              <a:t>−10.1%</a:t>
            </a:r>
          </a:p>
        </p:txBody>
      </p:sp>
      <p:sp>
        <p:nvSpPr>
          <p:cNvPr id="27" name="TextBox 26"/>
          <p:cNvSpPr txBox="1"/>
          <p:nvPr/>
        </p:nvSpPr>
        <p:spPr>
          <a:xfrm>
            <a:off x="5532120" y="2029968"/>
            <a:ext cx="1627632" cy="274320"/>
          </a:xfrm>
          <a:prstGeom prst="rect">
            <a:avLst/>
          </a:prstGeom>
          <a:noFill/>
        </p:spPr>
        <p:txBody>
          <a:bodyPr wrap="square">
            <a:spAutoFit/>
          </a:bodyPr>
          <a:lstStyle/>
          <a:p>
            <a:pPr algn="ctr"/>
            <a:r>
              <a:rPr sz="900" b="0" i="0">
                <a:solidFill>
                  <a:srgbClr val="555555"/>
                </a:solidFill>
                <a:latin typeface="Calibri"/>
              </a:rPr>
              <a:t>Negligible d=0.131</a:t>
            </a:r>
          </a:p>
        </p:txBody>
      </p:sp>
      <p:sp>
        <p:nvSpPr>
          <p:cNvPr id="28" name="Rectangle 27"/>
          <p:cNvSpPr/>
          <p:nvPr/>
        </p:nvSpPr>
        <p:spPr>
          <a:xfrm>
            <a:off x="7278624" y="1280160"/>
            <a:ext cx="1719072" cy="1097280"/>
          </a:xfrm>
          <a:prstGeom prst="rect">
            <a:avLst/>
          </a:prstGeom>
          <a:solidFill>
            <a:srgbClr val="FFFFFF"/>
          </a:solidFill>
          <a:ln w="1524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42632" y="1325880"/>
            <a:ext cx="1591056" cy="274320"/>
          </a:xfrm>
          <a:prstGeom prst="rect">
            <a:avLst/>
          </a:prstGeom>
          <a:noFill/>
        </p:spPr>
        <p:txBody>
          <a:bodyPr wrap="square">
            <a:spAutoFit/>
          </a:bodyPr>
          <a:lstStyle/>
          <a:p>
            <a:pPr algn="ctr"/>
            <a:r>
              <a:rPr sz="1000" b="0" i="0">
                <a:solidFill>
                  <a:srgbClr val="1A1A2E"/>
                </a:solidFill>
                <a:latin typeface="Calibri"/>
              </a:rPr>
              <a:t>Stop Ratio</a:t>
            </a:r>
          </a:p>
        </p:txBody>
      </p:sp>
      <p:sp>
        <p:nvSpPr>
          <p:cNvPr id="30" name="TextBox 29"/>
          <p:cNvSpPr txBox="1"/>
          <p:nvPr/>
        </p:nvSpPr>
        <p:spPr>
          <a:xfrm>
            <a:off x="7324344" y="1581912"/>
            <a:ext cx="1627632" cy="457200"/>
          </a:xfrm>
          <a:prstGeom prst="rect">
            <a:avLst/>
          </a:prstGeom>
          <a:noFill/>
        </p:spPr>
        <p:txBody>
          <a:bodyPr wrap="square">
            <a:spAutoFit/>
          </a:bodyPr>
          <a:lstStyle/>
          <a:p>
            <a:pPr algn="ctr"/>
            <a:r>
              <a:rPr sz="2200" b="1" i="0">
                <a:solidFill>
                  <a:srgbClr val="FB823F"/>
                </a:solidFill>
                <a:latin typeface="Calibri"/>
              </a:rPr>
              <a:t>−3.6%</a:t>
            </a:r>
          </a:p>
        </p:txBody>
      </p:sp>
      <p:sp>
        <p:nvSpPr>
          <p:cNvPr id="31" name="TextBox 30"/>
          <p:cNvSpPr txBox="1"/>
          <p:nvPr/>
        </p:nvSpPr>
        <p:spPr>
          <a:xfrm>
            <a:off x="7324344" y="2029968"/>
            <a:ext cx="1627632" cy="274320"/>
          </a:xfrm>
          <a:prstGeom prst="rect">
            <a:avLst/>
          </a:prstGeom>
          <a:noFill/>
        </p:spPr>
        <p:txBody>
          <a:bodyPr wrap="square">
            <a:spAutoFit/>
          </a:bodyPr>
          <a:lstStyle/>
          <a:p>
            <a:pPr algn="ctr"/>
            <a:r>
              <a:rPr sz="900" b="0" i="0">
                <a:solidFill>
                  <a:srgbClr val="555555"/>
                </a:solidFill>
                <a:latin typeface="Calibri"/>
              </a:rPr>
              <a:t>p=0.017  d=0.042</a:t>
            </a:r>
          </a:p>
        </p:txBody>
      </p:sp>
      <p:sp>
        <p:nvSpPr>
          <p:cNvPr id="32" name="TextBox 31"/>
          <p:cNvSpPr txBox="1"/>
          <p:nvPr/>
        </p:nvSpPr>
        <p:spPr>
          <a:xfrm>
            <a:off x="137160" y="2514600"/>
            <a:ext cx="8869680" cy="274320"/>
          </a:xfrm>
          <a:prstGeom prst="rect">
            <a:avLst/>
          </a:prstGeom>
          <a:noFill/>
        </p:spPr>
        <p:txBody>
          <a:bodyPr wrap="square">
            <a:spAutoFit/>
          </a:bodyPr>
          <a:lstStyle/>
          <a:p>
            <a:pPr algn="ctr"/>
            <a:r>
              <a:rPr sz="1100" b="0" i="1">
                <a:solidFill>
                  <a:srgbClr val="0070C0"/>
                </a:solidFill>
                <a:latin typeface="Calibri"/>
              </a:rPr>
              <a:t>Delay aggregate is misleading — phase analysis shows 50–68% improvement during heavy/peak demand.</a:t>
            </a:r>
          </a:p>
        </p:txBody>
      </p:sp>
      <p:sp>
        <p:nvSpPr>
          <p:cNvPr id="33" name="Rectangle 32"/>
          <p:cNvSpPr/>
          <p:nvPr/>
        </p:nvSpPr>
        <p:spPr>
          <a:xfrm>
            <a:off x="228600" y="2834640"/>
            <a:ext cx="2377440" cy="34747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2862072"/>
            <a:ext cx="2286000" cy="292608"/>
          </a:xfrm>
          <a:prstGeom prst="rect">
            <a:avLst/>
          </a:prstGeom>
          <a:noFill/>
        </p:spPr>
        <p:txBody>
          <a:bodyPr wrap="square">
            <a:spAutoFit/>
          </a:bodyPr>
          <a:lstStyle/>
          <a:p>
            <a:pPr algn="ctr"/>
            <a:r>
              <a:rPr sz="1000" b="1" i="0">
                <a:solidFill>
                  <a:srgbClr val="FFFFFF"/>
                </a:solidFill>
                <a:latin typeface="Calibri"/>
              </a:rPr>
              <a:t>Demand Phase</a:t>
            </a:r>
          </a:p>
        </p:txBody>
      </p:sp>
      <p:sp>
        <p:nvSpPr>
          <p:cNvPr id="35" name="Rectangle 34"/>
          <p:cNvSpPr/>
          <p:nvPr/>
        </p:nvSpPr>
        <p:spPr>
          <a:xfrm>
            <a:off x="2606040" y="2834640"/>
            <a:ext cx="2011680" cy="34747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51760" y="2862072"/>
            <a:ext cx="1920240" cy="292608"/>
          </a:xfrm>
          <a:prstGeom prst="rect">
            <a:avLst/>
          </a:prstGeom>
          <a:noFill/>
        </p:spPr>
        <p:txBody>
          <a:bodyPr wrap="square">
            <a:spAutoFit/>
          </a:bodyPr>
          <a:lstStyle/>
          <a:p>
            <a:pPr algn="ctr"/>
            <a:r>
              <a:rPr sz="1000" b="1" i="0">
                <a:solidFill>
                  <a:srgbClr val="FFFFFF"/>
                </a:solidFill>
                <a:latin typeface="Calibri"/>
              </a:rPr>
              <a:t>Delay improv.</a:t>
            </a:r>
          </a:p>
        </p:txBody>
      </p:sp>
      <p:sp>
        <p:nvSpPr>
          <p:cNvPr id="37" name="Rectangle 36"/>
          <p:cNvSpPr/>
          <p:nvPr/>
        </p:nvSpPr>
        <p:spPr>
          <a:xfrm>
            <a:off x="4617720" y="2834640"/>
            <a:ext cx="2011680" cy="34747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63440" y="2862072"/>
            <a:ext cx="1920240" cy="292608"/>
          </a:xfrm>
          <a:prstGeom prst="rect">
            <a:avLst/>
          </a:prstGeom>
          <a:noFill/>
        </p:spPr>
        <p:txBody>
          <a:bodyPr wrap="square">
            <a:spAutoFit/>
          </a:bodyPr>
          <a:lstStyle/>
          <a:p>
            <a:pPr algn="ctr"/>
            <a:r>
              <a:rPr sz="1000" b="1" i="0">
                <a:solidFill>
                  <a:srgbClr val="FFFFFF"/>
                </a:solidFill>
                <a:latin typeface="Calibri"/>
              </a:rPr>
              <a:t>Queue improv.</a:t>
            </a:r>
          </a:p>
        </p:txBody>
      </p:sp>
      <p:sp>
        <p:nvSpPr>
          <p:cNvPr id="39" name="Rectangle 38"/>
          <p:cNvSpPr/>
          <p:nvPr/>
        </p:nvSpPr>
        <p:spPr>
          <a:xfrm>
            <a:off x="6629400" y="2834640"/>
            <a:ext cx="2011680" cy="34747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75120" y="2862072"/>
            <a:ext cx="1920240" cy="292608"/>
          </a:xfrm>
          <a:prstGeom prst="rect">
            <a:avLst/>
          </a:prstGeom>
          <a:noFill/>
        </p:spPr>
        <p:txBody>
          <a:bodyPr wrap="square">
            <a:spAutoFit/>
          </a:bodyPr>
          <a:lstStyle/>
          <a:p>
            <a:pPr algn="ctr"/>
            <a:r>
              <a:rPr sz="1000" b="1" i="0">
                <a:solidFill>
                  <a:srgbClr val="FFFFFF"/>
                </a:solidFill>
                <a:latin typeface="Calibri"/>
              </a:rPr>
              <a:t>Throughput improv.</a:t>
            </a:r>
          </a:p>
        </p:txBody>
      </p:sp>
      <p:sp>
        <p:nvSpPr>
          <p:cNvPr id="41" name="Rectangle 40"/>
          <p:cNvSpPr/>
          <p:nvPr/>
        </p:nvSpPr>
        <p:spPr>
          <a:xfrm>
            <a:off x="228600" y="3182112"/>
            <a:ext cx="2377440" cy="347472"/>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3209544"/>
            <a:ext cx="2286000" cy="292608"/>
          </a:xfrm>
          <a:prstGeom prst="rect">
            <a:avLst/>
          </a:prstGeom>
          <a:noFill/>
        </p:spPr>
        <p:txBody>
          <a:bodyPr wrap="square">
            <a:spAutoFit/>
          </a:bodyPr>
          <a:lstStyle/>
          <a:p>
            <a:pPr algn="ctr"/>
            <a:r>
              <a:rPr sz="1000" b="0" i="0">
                <a:solidFill>
                  <a:srgbClr val="1A1A2E"/>
                </a:solidFill>
                <a:latin typeface="Calibri"/>
              </a:rPr>
              <a:t>Light (0–60 s)</a:t>
            </a:r>
          </a:p>
        </p:txBody>
      </p:sp>
      <p:sp>
        <p:nvSpPr>
          <p:cNvPr id="43" name="Rectangle 42"/>
          <p:cNvSpPr/>
          <p:nvPr/>
        </p:nvSpPr>
        <p:spPr>
          <a:xfrm>
            <a:off x="2606040" y="3182112"/>
            <a:ext cx="2011680" cy="347472"/>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51760" y="3209544"/>
            <a:ext cx="1920240" cy="292608"/>
          </a:xfrm>
          <a:prstGeom prst="rect">
            <a:avLst/>
          </a:prstGeom>
          <a:noFill/>
        </p:spPr>
        <p:txBody>
          <a:bodyPr wrap="square">
            <a:spAutoFit/>
          </a:bodyPr>
          <a:lstStyle/>
          <a:p>
            <a:pPr algn="ctr"/>
            <a:r>
              <a:rPr sz="1000" b="0" i="0">
                <a:solidFill>
                  <a:srgbClr val="1A1A2E"/>
                </a:solidFill>
                <a:latin typeface="Calibri"/>
              </a:rPr>
              <a:t>+64.8%</a:t>
            </a:r>
          </a:p>
        </p:txBody>
      </p:sp>
      <p:sp>
        <p:nvSpPr>
          <p:cNvPr id="45" name="Rectangle 44"/>
          <p:cNvSpPr/>
          <p:nvPr/>
        </p:nvSpPr>
        <p:spPr>
          <a:xfrm>
            <a:off x="4617720" y="3182112"/>
            <a:ext cx="2011680" cy="347472"/>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63440" y="3209544"/>
            <a:ext cx="1920240" cy="292608"/>
          </a:xfrm>
          <a:prstGeom prst="rect">
            <a:avLst/>
          </a:prstGeom>
          <a:noFill/>
        </p:spPr>
        <p:txBody>
          <a:bodyPr wrap="square">
            <a:spAutoFit/>
          </a:bodyPr>
          <a:lstStyle/>
          <a:p>
            <a:pPr algn="ctr"/>
            <a:r>
              <a:rPr sz="1000" b="0" i="0">
                <a:solidFill>
                  <a:srgbClr val="1A1A2E"/>
                </a:solidFill>
                <a:latin typeface="Calibri"/>
              </a:rPr>
              <a:t>—</a:t>
            </a:r>
          </a:p>
        </p:txBody>
      </p:sp>
      <p:sp>
        <p:nvSpPr>
          <p:cNvPr id="47" name="Rectangle 46"/>
          <p:cNvSpPr/>
          <p:nvPr/>
        </p:nvSpPr>
        <p:spPr>
          <a:xfrm>
            <a:off x="6629400" y="3182112"/>
            <a:ext cx="2011680" cy="347472"/>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75120" y="3209544"/>
            <a:ext cx="1920240" cy="292608"/>
          </a:xfrm>
          <a:prstGeom prst="rect">
            <a:avLst/>
          </a:prstGeom>
          <a:noFill/>
        </p:spPr>
        <p:txBody>
          <a:bodyPr wrap="square">
            <a:spAutoFit/>
          </a:bodyPr>
          <a:lstStyle/>
          <a:p>
            <a:pPr algn="ctr"/>
            <a:r>
              <a:rPr sz="1000" b="1" i="0">
                <a:solidFill>
                  <a:srgbClr val="1A1A2E"/>
                </a:solidFill>
                <a:latin typeface="Calibri"/>
              </a:rPr>
              <a:t>—</a:t>
            </a:r>
          </a:p>
        </p:txBody>
      </p:sp>
      <p:sp>
        <p:nvSpPr>
          <p:cNvPr id="49" name="Rectangle 48"/>
          <p:cNvSpPr/>
          <p:nvPr/>
        </p:nvSpPr>
        <p:spPr>
          <a:xfrm>
            <a:off x="228600" y="3529584"/>
            <a:ext cx="2377440" cy="347472"/>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4320" y="3557016"/>
            <a:ext cx="2286000" cy="292608"/>
          </a:xfrm>
          <a:prstGeom prst="rect">
            <a:avLst/>
          </a:prstGeom>
          <a:noFill/>
        </p:spPr>
        <p:txBody>
          <a:bodyPr wrap="square">
            <a:spAutoFit/>
          </a:bodyPr>
          <a:lstStyle/>
          <a:p>
            <a:pPr algn="ctr"/>
            <a:r>
              <a:rPr sz="1000" b="0" i="0">
                <a:solidFill>
                  <a:srgbClr val="1A1A2E"/>
                </a:solidFill>
                <a:latin typeface="Calibri"/>
              </a:rPr>
              <a:t>Heavy (120–180 s)</a:t>
            </a:r>
          </a:p>
        </p:txBody>
      </p:sp>
      <p:sp>
        <p:nvSpPr>
          <p:cNvPr id="51" name="Rectangle 50"/>
          <p:cNvSpPr/>
          <p:nvPr/>
        </p:nvSpPr>
        <p:spPr>
          <a:xfrm>
            <a:off x="2606040" y="3529584"/>
            <a:ext cx="2011680" cy="347472"/>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651760" y="3557016"/>
            <a:ext cx="1920240" cy="292608"/>
          </a:xfrm>
          <a:prstGeom prst="rect">
            <a:avLst/>
          </a:prstGeom>
          <a:noFill/>
        </p:spPr>
        <p:txBody>
          <a:bodyPr wrap="square">
            <a:spAutoFit/>
          </a:bodyPr>
          <a:lstStyle/>
          <a:p>
            <a:pPr algn="ctr"/>
            <a:r>
              <a:rPr sz="1000" b="0" i="0">
                <a:solidFill>
                  <a:srgbClr val="1A1A2E"/>
                </a:solidFill>
                <a:latin typeface="Calibri"/>
              </a:rPr>
              <a:t>+68.2%</a:t>
            </a:r>
          </a:p>
        </p:txBody>
      </p:sp>
      <p:sp>
        <p:nvSpPr>
          <p:cNvPr id="53" name="Rectangle 52"/>
          <p:cNvSpPr/>
          <p:nvPr/>
        </p:nvSpPr>
        <p:spPr>
          <a:xfrm>
            <a:off x="4617720" y="3529584"/>
            <a:ext cx="2011680" cy="347472"/>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663440" y="3557016"/>
            <a:ext cx="1920240" cy="292608"/>
          </a:xfrm>
          <a:prstGeom prst="rect">
            <a:avLst/>
          </a:prstGeom>
          <a:noFill/>
        </p:spPr>
        <p:txBody>
          <a:bodyPr wrap="square">
            <a:spAutoFit/>
          </a:bodyPr>
          <a:lstStyle/>
          <a:p>
            <a:pPr algn="ctr"/>
            <a:r>
              <a:rPr sz="1000" b="0" i="0">
                <a:solidFill>
                  <a:srgbClr val="1A1A2E"/>
                </a:solidFill>
                <a:latin typeface="Calibri"/>
              </a:rPr>
              <a:t>+100%</a:t>
            </a:r>
          </a:p>
        </p:txBody>
      </p:sp>
      <p:sp>
        <p:nvSpPr>
          <p:cNvPr id="55" name="Rectangle 54"/>
          <p:cNvSpPr/>
          <p:nvPr/>
        </p:nvSpPr>
        <p:spPr>
          <a:xfrm>
            <a:off x="6629400" y="3529584"/>
            <a:ext cx="2011680" cy="347472"/>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675120" y="3557016"/>
            <a:ext cx="1920240" cy="292608"/>
          </a:xfrm>
          <a:prstGeom prst="rect">
            <a:avLst/>
          </a:prstGeom>
          <a:noFill/>
        </p:spPr>
        <p:txBody>
          <a:bodyPr wrap="square">
            <a:spAutoFit/>
          </a:bodyPr>
          <a:lstStyle/>
          <a:p>
            <a:pPr algn="ctr"/>
            <a:r>
              <a:rPr sz="1000" b="1" i="0">
                <a:solidFill>
                  <a:srgbClr val="068A4C"/>
                </a:solidFill>
                <a:latin typeface="Calibri"/>
              </a:rPr>
              <a:t>+100%</a:t>
            </a:r>
          </a:p>
        </p:txBody>
      </p:sp>
      <p:sp>
        <p:nvSpPr>
          <p:cNvPr id="57" name="Rectangle 56"/>
          <p:cNvSpPr/>
          <p:nvPr/>
        </p:nvSpPr>
        <p:spPr>
          <a:xfrm>
            <a:off x="228600" y="3877056"/>
            <a:ext cx="2377440" cy="347472"/>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74320" y="3904488"/>
            <a:ext cx="2286000" cy="292608"/>
          </a:xfrm>
          <a:prstGeom prst="rect">
            <a:avLst/>
          </a:prstGeom>
          <a:noFill/>
        </p:spPr>
        <p:txBody>
          <a:bodyPr wrap="square">
            <a:spAutoFit/>
          </a:bodyPr>
          <a:lstStyle/>
          <a:p>
            <a:pPr algn="ctr"/>
            <a:r>
              <a:rPr sz="1000" b="0" i="0">
                <a:solidFill>
                  <a:srgbClr val="1A1A2E"/>
                </a:solidFill>
                <a:latin typeface="Calibri"/>
              </a:rPr>
              <a:t>Peak (180–240 s)</a:t>
            </a:r>
          </a:p>
        </p:txBody>
      </p:sp>
      <p:sp>
        <p:nvSpPr>
          <p:cNvPr id="59" name="Rectangle 58"/>
          <p:cNvSpPr/>
          <p:nvPr/>
        </p:nvSpPr>
        <p:spPr>
          <a:xfrm>
            <a:off x="2606040" y="3877056"/>
            <a:ext cx="2011680" cy="347472"/>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651760" y="3904488"/>
            <a:ext cx="1920240" cy="292608"/>
          </a:xfrm>
          <a:prstGeom prst="rect">
            <a:avLst/>
          </a:prstGeom>
          <a:noFill/>
        </p:spPr>
        <p:txBody>
          <a:bodyPr wrap="square">
            <a:spAutoFit/>
          </a:bodyPr>
          <a:lstStyle/>
          <a:p>
            <a:pPr algn="ctr"/>
            <a:r>
              <a:rPr sz="1000" b="0" i="0">
                <a:solidFill>
                  <a:srgbClr val="1A1A2E"/>
                </a:solidFill>
                <a:latin typeface="Calibri"/>
              </a:rPr>
              <a:t>+50.1%</a:t>
            </a:r>
          </a:p>
        </p:txBody>
      </p:sp>
      <p:sp>
        <p:nvSpPr>
          <p:cNvPr id="61" name="Rectangle 60"/>
          <p:cNvSpPr/>
          <p:nvPr/>
        </p:nvSpPr>
        <p:spPr>
          <a:xfrm>
            <a:off x="4617720" y="3877056"/>
            <a:ext cx="2011680" cy="347472"/>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663440" y="3904488"/>
            <a:ext cx="1920240" cy="292608"/>
          </a:xfrm>
          <a:prstGeom prst="rect">
            <a:avLst/>
          </a:prstGeom>
          <a:noFill/>
        </p:spPr>
        <p:txBody>
          <a:bodyPr wrap="square">
            <a:spAutoFit/>
          </a:bodyPr>
          <a:lstStyle/>
          <a:p>
            <a:pPr algn="ctr"/>
            <a:r>
              <a:rPr sz="1000" b="0" i="0">
                <a:solidFill>
                  <a:srgbClr val="1A1A2E"/>
                </a:solidFill>
                <a:latin typeface="Calibri"/>
              </a:rPr>
              <a:t>−34.4%</a:t>
            </a:r>
          </a:p>
        </p:txBody>
      </p:sp>
      <p:sp>
        <p:nvSpPr>
          <p:cNvPr id="63" name="Rectangle 62"/>
          <p:cNvSpPr/>
          <p:nvPr/>
        </p:nvSpPr>
        <p:spPr>
          <a:xfrm>
            <a:off x="6629400" y="3877056"/>
            <a:ext cx="2011680" cy="347472"/>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75120" y="3904488"/>
            <a:ext cx="1920240" cy="292608"/>
          </a:xfrm>
          <a:prstGeom prst="rect">
            <a:avLst/>
          </a:prstGeom>
          <a:noFill/>
        </p:spPr>
        <p:txBody>
          <a:bodyPr wrap="square">
            <a:spAutoFit/>
          </a:bodyPr>
          <a:lstStyle/>
          <a:p>
            <a:pPr algn="ctr"/>
            <a:r>
              <a:rPr sz="1000" b="1" i="0">
                <a:solidFill>
                  <a:srgbClr val="1A1A2E"/>
                </a:solidFill>
                <a:latin typeface="Calibri"/>
              </a:rPr>
              <a:t>+—</a:t>
            </a:r>
          </a:p>
        </p:txBody>
      </p:sp>
      <p:sp>
        <p:nvSpPr>
          <p:cNvPr id="65" name="Rectangle 64"/>
          <p:cNvSpPr/>
          <p:nvPr/>
        </p:nvSpPr>
        <p:spPr>
          <a:xfrm>
            <a:off x="228600" y="4224528"/>
            <a:ext cx="2377440" cy="347472"/>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74320" y="4251960"/>
            <a:ext cx="2286000" cy="292608"/>
          </a:xfrm>
          <a:prstGeom prst="rect">
            <a:avLst/>
          </a:prstGeom>
          <a:noFill/>
        </p:spPr>
        <p:txBody>
          <a:bodyPr wrap="square">
            <a:spAutoFit/>
          </a:bodyPr>
          <a:lstStyle/>
          <a:p>
            <a:pPr algn="ctr"/>
            <a:r>
              <a:rPr sz="1000" b="0" i="0">
                <a:solidFill>
                  <a:srgbClr val="1A1A2E"/>
                </a:solidFill>
                <a:latin typeface="Calibri"/>
              </a:rPr>
              <a:t>Extended (300 s+)</a:t>
            </a:r>
          </a:p>
        </p:txBody>
      </p:sp>
      <p:sp>
        <p:nvSpPr>
          <p:cNvPr id="67" name="Rectangle 66"/>
          <p:cNvSpPr/>
          <p:nvPr/>
        </p:nvSpPr>
        <p:spPr>
          <a:xfrm>
            <a:off x="2606040" y="4224528"/>
            <a:ext cx="2011680" cy="347472"/>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651760" y="4251960"/>
            <a:ext cx="1920240" cy="292608"/>
          </a:xfrm>
          <a:prstGeom prst="rect">
            <a:avLst/>
          </a:prstGeom>
          <a:noFill/>
        </p:spPr>
        <p:txBody>
          <a:bodyPr wrap="square">
            <a:spAutoFit/>
          </a:bodyPr>
          <a:lstStyle/>
          <a:p>
            <a:pPr algn="ctr"/>
            <a:r>
              <a:rPr sz="1000" b="0" i="0">
                <a:solidFill>
                  <a:srgbClr val="1A1A2E"/>
                </a:solidFill>
                <a:latin typeface="Calibri"/>
              </a:rPr>
              <a:t>−11.7%</a:t>
            </a:r>
          </a:p>
        </p:txBody>
      </p:sp>
      <p:sp>
        <p:nvSpPr>
          <p:cNvPr id="69" name="Rectangle 68"/>
          <p:cNvSpPr/>
          <p:nvPr/>
        </p:nvSpPr>
        <p:spPr>
          <a:xfrm>
            <a:off x="4617720" y="4224528"/>
            <a:ext cx="2011680" cy="347472"/>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663440" y="4251960"/>
            <a:ext cx="1920240" cy="292608"/>
          </a:xfrm>
          <a:prstGeom prst="rect">
            <a:avLst/>
          </a:prstGeom>
          <a:noFill/>
        </p:spPr>
        <p:txBody>
          <a:bodyPr wrap="square">
            <a:spAutoFit/>
          </a:bodyPr>
          <a:lstStyle/>
          <a:p>
            <a:pPr algn="ctr"/>
            <a:r>
              <a:rPr sz="1000" b="0" i="0">
                <a:solidFill>
                  <a:srgbClr val="1A1A2E"/>
                </a:solidFill>
                <a:latin typeface="Calibri"/>
              </a:rPr>
              <a:t>+29.9%</a:t>
            </a:r>
          </a:p>
        </p:txBody>
      </p:sp>
      <p:sp>
        <p:nvSpPr>
          <p:cNvPr id="71" name="Rectangle 70"/>
          <p:cNvSpPr/>
          <p:nvPr/>
        </p:nvSpPr>
        <p:spPr>
          <a:xfrm>
            <a:off x="6629400" y="4224528"/>
            <a:ext cx="2011680" cy="347472"/>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675120" y="4251960"/>
            <a:ext cx="1920240" cy="292608"/>
          </a:xfrm>
          <a:prstGeom prst="rect">
            <a:avLst/>
          </a:prstGeom>
          <a:noFill/>
        </p:spPr>
        <p:txBody>
          <a:bodyPr wrap="square">
            <a:spAutoFit/>
          </a:bodyPr>
          <a:lstStyle/>
          <a:p>
            <a:pPr algn="ctr"/>
            <a:r>
              <a:rPr sz="1000" b="1" i="0">
                <a:solidFill>
                  <a:srgbClr val="068A4C"/>
                </a:solidFill>
                <a:latin typeface="Calibri"/>
              </a:rPr>
              <a:t>+39.8%</a:t>
            </a:r>
          </a:p>
        </p:txBody>
      </p:sp>
      <p:sp>
        <p:nvSpPr>
          <p:cNvPr id="73" name="Rectangle 72"/>
          <p:cNvSpPr/>
          <p:nvPr/>
        </p:nvSpPr>
        <p:spPr>
          <a:xfrm>
            <a:off x="109728" y="4645152"/>
            <a:ext cx="8924544"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82880" y="4709160"/>
            <a:ext cx="8778240" cy="347472"/>
          </a:xfrm>
          <a:prstGeom prst="rect">
            <a:avLst/>
          </a:prstGeom>
          <a:noFill/>
        </p:spPr>
        <p:txBody>
          <a:bodyPr wrap="square">
            <a:spAutoFit/>
          </a:bodyPr>
          <a:lstStyle/>
          <a:p>
            <a:pPr algn="ctr"/>
            <a:r>
              <a:rPr sz="1200" b="1" i="0">
                <a:solidFill>
                  <a:srgbClr val="FFFFFF"/>
                </a:solidFill>
                <a:latin typeface="Calibri"/>
              </a:rPr>
              <a:t>These results confirmed RL can learn adaptive signal control — and established the baseline Phase 2 was designed to surpass at network scale.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30543BC9-0A36-D103-DFD4-306B575710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26B2C97-FB7C-79E1-420B-896F537AB6E1}"/>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6</a:t>
            </a:r>
          </a:p>
        </p:txBody>
      </p:sp>
      <p:sp>
        <p:nvSpPr>
          <p:cNvPr id="5" name="Title 1">
            <a:extLst>
              <a:ext uri="{FF2B5EF4-FFF2-40B4-BE49-F238E27FC236}">
                <a16:creationId xmlns:a16="http://schemas.microsoft.com/office/drawing/2014/main" id="{28D268CF-EE2B-BFAD-1990-E839782D14C1}"/>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PHASE 2: MAPPO SYSTEM DESIGN — CTDE</a:t>
            </a:r>
          </a:p>
        </p:txBody>
      </p:sp>
      <p:pic>
        <p:nvPicPr>
          <p:cNvPr id="6" name="Content Placeholder 4">
            <a:extLst>
              <a:ext uri="{FF2B5EF4-FFF2-40B4-BE49-F238E27FC236}">
                <a16:creationId xmlns:a16="http://schemas.microsoft.com/office/drawing/2014/main" id="{A98033F3-9D23-2E4B-5173-10B144B3F820}"/>
              </a:ext>
            </a:extLst>
          </p:cNvPr>
          <p:cNvPicPr>
            <a:picLocks noGrp="1" noChangeAspect="1"/>
          </p:cNvPicPr>
          <p:nvPr>
            <p:ph idx="1"/>
          </p:nvPr>
        </p:nvPicPr>
        <p:blipFill>
          <a:blip r:embed="rId3"/>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9FE04023-D31B-790E-00C7-F44B62D856DD}"/>
              </a:ext>
            </a:extLst>
          </p:cNvPr>
          <p:cNvSpPr>
            <a:spLocks noGrp="1"/>
          </p:cNvSpPr>
          <p:nvPr>
            <p:ph type="sldNum" sz="quarter" idx="12"/>
          </p:nvPr>
        </p:nvSpPr>
        <p:spPr/>
        <p:txBody>
          <a:bodyPr/>
          <a:lstStyle/>
          <a:p>
            <a:fld id="{21004690-02AB-4EF8-9513-CB283ECF7991}" type="slidenum">
              <a:rPr lang="en-BW" smtClean="0"/>
              <a:t>2</a:t>
            </a:fld>
            <a:endParaRPr lang="en-BW"/>
          </a:p>
        </p:txBody>
      </p:sp>
      <p:pic>
        <p:nvPicPr>
          <p:cNvPr id="9" name="Picture 8">
            <a:extLst>
              <a:ext uri="{FF2B5EF4-FFF2-40B4-BE49-F238E27FC236}">
                <a16:creationId xmlns:a16="http://schemas.microsoft.com/office/drawing/2014/main" id="{AE7B97A8-40E2-366C-963C-E078DED597C8}"/>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C9F311F-2556-2CCF-E041-21C75B441D44}"/>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43D21A0A-29EE-FFA8-3B33-06CC5056E226}"/>
              </a:ext>
            </a:extLst>
          </p:cNvPr>
          <p:cNvSpPr txBox="1"/>
          <p:nvPr/>
        </p:nvSpPr>
        <p:spPr>
          <a:xfrm>
            <a:off x="947970" y="1768388"/>
            <a:ext cx="5846022" cy="2241960"/>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DEFINITION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PROJECT OBJECTIVES</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METHODOLOGY</a:t>
            </a:r>
          </a:p>
        </p:txBody>
      </p:sp>
      <p:sp>
        <p:nvSpPr>
          <p:cNvPr id="11" name="TextBox 10"/>
          <p:cNvSpPr txBox="1"/>
          <p:nvPr/>
        </p:nvSpPr>
        <p:spPr>
          <a:xfrm>
            <a:off x="137160" y="960120"/>
            <a:ext cx="5074920" cy="274320"/>
          </a:xfrm>
          <a:prstGeom prst="rect">
            <a:avLst/>
          </a:prstGeom>
          <a:noFill/>
        </p:spPr>
        <p:txBody>
          <a:bodyPr wrap="square">
            <a:spAutoFit/>
          </a:bodyPr>
          <a:lstStyle/>
          <a:p>
            <a:pPr algn="l"/>
            <a:r>
              <a:rPr sz="1200" b="1" i="0">
                <a:solidFill>
                  <a:srgbClr val="0070C0"/>
                </a:solidFill>
                <a:latin typeface="Calibri"/>
              </a:rPr>
              <a:t>WHY MAPPO?</a:t>
            </a:r>
          </a:p>
        </p:txBody>
      </p:sp>
      <p:sp>
        <p:nvSpPr>
          <p:cNvPr id="12" name="TextBox 11"/>
          <p:cNvSpPr txBox="1"/>
          <p:nvPr/>
        </p:nvSpPr>
        <p:spPr>
          <a:xfrm>
            <a:off x="137160" y="1261872"/>
            <a:ext cx="5074920" cy="2926080"/>
          </a:xfrm>
          <a:prstGeom prst="rect">
            <a:avLst/>
          </a:prstGeom>
          <a:noFill/>
        </p:spPr>
        <p:txBody>
          <a:bodyPr wrap="square">
            <a:spAutoFit/>
          </a:bodyPr>
          <a:lstStyle/>
          <a:p>
            <a:r>
              <a:rPr sz="1200" b="0">
                <a:solidFill>
                  <a:srgbClr val="1A1A2E"/>
                </a:solidFill>
                <a:latin typeface="Calibri"/>
              </a:rPr>
              <a:t>•  SA-PPO has no cross-junction visibility — cannot anticipate downstream spillback</a:t>
            </a:r>
          </a:p>
          <a:p>
            <a:r>
              <a:rPr sz="1200" b="0">
                <a:solidFill>
                  <a:srgbClr val="1A1A2E"/>
                </a:solidFill>
                <a:latin typeface="Calibri"/>
              </a:rPr>
              <a:t>•  Fixed-time cycles blindly regardless of queue state</a:t>
            </a:r>
          </a:p>
          <a:p>
            <a:r>
              <a:rPr sz="1200" b="0">
                <a:solidFill>
                  <a:srgbClr val="1A1A2E"/>
                </a:solidFill>
                <a:latin typeface="Calibri"/>
              </a:rPr>
              <a:t>•  MAPPO: each agent uses local 22-dim obs at execution time...</a:t>
            </a:r>
          </a:p>
          <a:p>
            <a:r>
              <a:rPr sz="1200" b="0">
                <a:solidFill>
                  <a:srgbClr val="1A1A2E"/>
                </a:solidFill>
                <a:latin typeface="Calibri"/>
              </a:rPr>
              <a:t>•  ...but centralised critic sees full 66-dim joint state during training</a:t>
            </a:r>
          </a:p>
          <a:p>
            <a:r>
              <a:rPr sz="1200" b="0">
                <a:solidFill>
                  <a:srgbClr val="1A1A2E"/>
                </a:solidFill>
                <a:latin typeface="Calibri"/>
              </a:rPr>
              <a:t>•  Global cooperative reward aligns all 3 agents to minimise network-wide waiting time</a:t>
            </a:r>
          </a:p>
          <a:p>
            <a:r>
              <a:rPr sz="1200" b="0">
                <a:solidFill>
                  <a:srgbClr val="1A1A2E"/>
                </a:solidFill>
                <a:latin typeface="Calibri"/>
              </a:rPr>
              <a:t>•  Green wave pre-computation biases agents toward coordinated platoon release</a:t>
            </a:r>
          </a:p>
        </p:txBody>
      </p:sp>
      <p:sp>
        <p:nvSpPr>
          <p:cNvPr id="13" name="TextBox 12"/>
          <p:cNvSpPr txBox="1"/>
          <p:nvPr/>
        </p:nvSpPr>
        <p:spPr>
          <a:xfrm>
            <a:off x="137160" y="4251960"/>
            <a:ext cx="5074920" cy="274320"/>
          </a:xfrm>
          <a:prstGeom prst="rect">
            <a:avLst/>
          </a:prstGeom>
          <a:noFill/>
        </p:spPr>
        <p:txBody>
          <a:bodyPr wrap="square">
            <a:spAutoFit/>
          </a:bodyPr>
          <a:lstStyle/>
          <a:p>
            <a:pPr algn="l"/>
            <a:r>
              <a:rPr sz="1000" b="0" i="1">
                <a:solidFill>
                  <a:srgbClr val="555555"/>
                </a:solidFill>
                <a:latin typeface="Calibri"/>
              </a:rPr>
              <a:t>Obs (22 dims): queue counts, wait time, stop ratio, phase one-hot, timer, green-wave offset</a:t>
            </a:r>
          </a:p>
        </p:txBody>
      </p:sp>
      <p:sp>
        <p:nvSpPr>
          <p:cNvPr id="14" name="TextBox 13"/>
          <p:cNvSpPr txBox="1"/>
          <p:nvPr/>
        </p:nvSpPr>
        <p:spPr>
          <a:xfrm>
            <a:off x="137160" y="4553712"/>
            <a:ext cx="5074920" cy="274320"/>
          </a:xfrm>
          <a:prstGeom prst="rect">
            <a:avLst/>
          </a:prstGeom>
          <a:noFill/>
        </p:spPr>
        <p:txBody>
          <a:bodyPr wrap="square">
            <a:spAutoFit/>
          </a:bodyPr>
          <a:lstStyle/>
          <a:p>
            <a:pPr algn="l"/>
            <a:r>
              <a:rPr sz="1000" b="1" i="0">
                <a:solidFill>
                  <a:srgbClr val="1A1A2E"/>
                </a:solidFill>
                <a:latin typeface="Calibri"/>
              </a:rPr>
              <a:t>Action: Discrete(3) — 3 green phase configurations per junction</a:t>
            </a:r>
          </a:p>
        </p:txBody>
      </p:sp>
      <p:sp>
        <p:nvSpPr>
          <p:cNvPr id="15" name="Rectangle 14"/>
          <p:cNvSpPr/>
          <p:nvPr/>
        </p:nvSpPr>
        <p:spPr>
          <a:xfrm>
            <a:off x="5349240" y="1024128"/>
            <a:ext cx="3657600" cy="914400"/>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40680" y="1115568"/>
            <a:ext cx="3474720" cy="731520"/>
          </a:xfrm>
          <a:prstGeom prst="rect">
            <a:avLst/>
          </a:prstGeom>
          <a:noFill/>
        </p:spPr>
        <p:txBody>
          <a:bodyPr wrap="square">
            <a:spAutoFit/>
          </a:bodyPr>
          <a:lstStyle/>
          <a:p>
            <a:pPr algn="ctr"/>
            <a:r>
              <a:rPr sz="1200" b="1" i="0">
                <a:solidFill>
                  <a:srgbClr val="FFFFFF"/>
                </a:solidFill>
                <a:latin typeface="Calibri"/>
              </a:rPr>
              <a:t>Local Obs o₁  Local Obs o₂  Local Obs o₃
(22-dim each)</a:t>
            </a:r>
          </a:p>
        </p:txBody>
      </p:sp>
      <p:sp>
        <p:nvSpPr>
          <p:cNvPr id="17" name="TextBox 16"/>
          <p:cNvSpPr txBox="1"/>
          <p:nvPr/>
        </p:nvSpPr>
        <p:spPr>
          <a:xfrm>
            <a:off x="6995160" y="1956816"/>
            <a:ext cx="548640" cy="228600"/>
          </a:xfrm>
          <a:prstGeom prst="rect">
            <a:avLst/>
          </a:prstGeom>
          <a:noFill/>
        </p:spPr>
        <p:txBody>
          <a:bodyPr wrap="square">
            <a:spAutoFit/>
          </a:bodyPr>
          <a:lstStyle/>
          <a:p>
            <a:pPr algn="ctr"/>
            <a:r>
              <a:rPr sz="1600" b="1" i="0">
                <a:solidFill>
                  <a:srgbClr val="1A1A2E"/>
                </a:solidFill>
                <a:latin typeface="Calibri"/>
              </a:rPr>
              <a:t>↓</a:t>
            </a:r>
          </a:p>
        </p:txBody>
      </p:sp>
      <p:sp>
        <p:nvSpPr>
          <p:cNvPr id="18" name="Rectangle 17"/>
          <p:cNvSpPr/>
          <p:nvPr/>
        </p:nvSpPr>
        <p:spPr>
          <a:xfrm>
            <a:off x="5349240" y="2121408"/>
            <a:ext cx="3657600" cy="9144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0680" y="2212848"/>
            <a:ext cx="3474720" cy="731520"/>
          </a:xfrm>
          <a:prstGeom prst="rect">
            <a:avLst/>
          </a:prstGeom>
          <a:noFill/>
        </p:spPr>
        <p:txBody>
          <a:bodyPr wrap="square">
            <a:spAutoFit/>
          </a:bodyPr>
          <a:lstStyle/>
          <a:p>
            <a:pPr algn="ctr"/>
            <a:r>
              <a:rPr sz="1200" b="1" i="0">
                <a:solidFill>
                  <a:srgbClr val="FFFFFF"/>
                </a:solidFill>
                <a:latin typeface="Calibri"/>
              </a:rPr>
              <a:t>Shared Actor  πθ
(decentralised execution)</a:t>
            </a:r>
          </a:p>
        </p:txBody>
      </p:sp>
      <p:sp>
        <p:nvSpPr>
          <p:cNvPr id="20" name="TextBox 19"/>
          <p:cNvSpPr txBox="1"/>
          <p:nvPr/>
        </p:nvSpPr>
        <p:spPr>
          <a:xfrm>
            <a:off x="6995160" y="3054096"/>
            <a:ext cx="548640" cy="228600"/>
          </a:xfrm>
          <a:prstGeom prst="rect">
            <a:avLst/>
          </a:prstGeom>
          <a:noFill/>
        </p:spPr>
        <p:txBody>
          <a:bodyPr wrap="square">
            <a:spAutoFit/>
          </a:bodyPr>
          <a:lstStyle/>
          <a:p>
            <a:pPr algn="ctr"/>
            <a:r>
              <a:rPr sz="1600" b="1" i="0">
                <a:solidFill>
                  <a:srgbClr val="1A1A2E"/>
                </a:solidFill>
                <a:latin typeface="Calibri"/>
              </a:rPr>
              <a:t>↓</a:t>
            </a:r>
          </a:p>
        </p:txBody>
      </p:sp>
      <p:sp>
        <p:nvSpPr>
          <p:cNvPr id="21" name="Rectangle 20"/>
          <p:cNvSpPr/>
          <p:nvPr/>
        </p:nvSpPr>
        <p:spPr>
          <a:xfrm>
            <a:off x="5349240" y="3218688"/>
            <a:ext cx="3657600"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40680" y="3310128"/>
            <a:ext cx="3474720" cy="731520"/>
          </a:xfrm>
          <a:prstGeom prst="rect">
            <a:avLst/>
          </a:prstGeom>
          <a:noFill/>
        </p:spPr>
        <p:txBody>
          <a:bodyPr wrap="square">
            <a:spAutoFit/>
          </a:bodyPr>
          <a:lstStyle/>
          <a:p>
            <a:pPr algn="ctr"/>
            <a:r>
              <a:rPr sz="1200" b="1" i="0">
                <a:solidFill>
                  <a:srgbClr val="FFFFFF"/>
                </a:solidFill>
                <a:latin typeface="Calibri"/>
              </a:rPr>
              <a:t>Centralised Critic  Vϕ
(joint state 66-dim — training only)</a:t>
            </a:r>
          </a:p>
        </p:txBody>
      </p:sp>
      <p:sp>
        <p:nvSpPr>
          <p:cNvPr id="23" name="TextBox 22"/>
          <p:cNvSpPr txBox="1"/>
          <p:nvPr/>
        </p:nvSpPr>
        <p:spPr>
          <a:xfrm>
            <a:off x="5349240" y="4251960"/>
            <a:ext cx="3657600" cy="256032"/>
          </a:xfrm>
          <a:prstGeom prst="rect">
            <a:avLst/>
          </a:prstGeom>
          <a:noFill/>
        </p:spPr>
        <p:txBody>
          <a:bodyPr wrap="square">
            <a:spAutoFit/>
          </a:bodyPr>
          <a:lstStyle/>
          <a:p>
            <a:pPr algn="l"/>
            <a:r>
              <a:rPr sz="1100" b="1" i="0">
                <a:solidFill>
                  <a:srgbClr val="0070C0"/>
                </a:solidFill>
                <a:latin typeface="Calibri"/>
              </a:rPr>
              <a:t>3-Stage Curriculum</a:t>
            </a:r>
          </a:p>
        </p:txBody>
      </p:sp>
      <p:sp>
        <p:nvSpPr>
          <p:cNvPr id="24" name="TextBox 23"/>
          <p:cNvSpPr txBox="1"/>
          <p:nvPr/>
        </p:nvSpPr>
        <p:spPr>
          <a:xfrm>
            <a:off x="5349240" y="4535424"/>
            <a:ext cx="3657600" cy="822960"/>
          </a:xfrm>
          <a:prstGeom prst="rect">
            <a:avLst/>
          </a:prstGeom>
          <a:noFill/>
        </p:spPr>
        <p:txBody>
          <a:bodyPr wrap="square">
            <a:spAutoFit/>
          </a:bodyPr>
          <a:lstStyle/>
          <a:p>
            <a:r>
              <a:rPr sz="1000" b="0">
                <a:solidFill>
                  <a:srgbClr val="1A1A2E"/>
                </a:solidFill>
                <a:latin typeface="Calibri"/>
              </a:rPr>
              <a:t>•  Stage 1 — low + normal (establishes queue-clearing)</a:t>
            </a:r>
          </a:p>
          <a:p>
            <a:r>
              <a:rPr sz="1000" b="0">
                <a:solidFill>
                  <a:srgbClr val="1A1A2E"/>
                </a:solidFill>
                <a:latin typeface="Calibri"/>
              </a:rPr>
              <a:t>•  Stage 2 — adds rush_hour_am/pm (phase extension)</a:t>
            </a:r>
          </a:p>
          <a:p>
            <a:r>
              <a:rPr sz="1000" b="0">
                <a:solidFill>
                  <a:srgbClr val="1A1A2E"/>
                </a:solidFill>
                <a:latin typeface="Calibri"/>
              </a:rPr>
              <a:t>•  Stage 3 — all 6 scenarios incl. holiday + incident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30543BC9-0A36-D103-DFD4-306B575710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26B2C97-FB7C-79E1-420B-896F537AB6E1}"/>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7</a:t>
            </a:r>
          </a:p>
        </p:txBody>
      </p:sp>
      <p:sp>
        <p:nvSpPr>
          <p:cNvPr id="5" name="Title 1">
            <a:extLst>
              <a:ext uri="{FF2B5EF4-FFF2-40B4-BE49-F238E27FC236}">
                <a16:creationId xmlns:a16="http://schemas.microsoft.com/office/drawing/2014/main" id="{28D268CF-EE2B-BFAD-1990-E839782D14C1}"/>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MAPPO TRAINING SETUP &amp; DEMAND SCENARIOS</a:t>
            </a:r>
          </a:p>
        </p:txBody>
      </p:sp>
      <p:pic>
        <p:nvPicPr>
          <p:cNvPr id="6" name="Content Placeholder 4">
            <a:extLst>
              <a:ext uri="{FF2B5EF4-FFF2-40B4-BE49-F238E27FC236}">
                <a16:creationId xmlns:a16="http://schemas.microsoft.com/office/drawing/2014/main" id="{A98033F3-9D23-2E4B-5173-10B144B3F820}"/>
              </a:ext>
            </a:extLst>
          </p:cNvPr>
          <p:cNvPicPr>
            <a:picLocks noGrp="1" noChangeAspect="1"/>
          </p:cNvPicPr>
          <p:nvPr>
            <p:ph idx="1"/>
          </p:nvPr>
        </p:nvPicPr>
        <p:blipFill>
          <a:blip r:embed="rId3"/>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9FE04023-D31B-790E-00C7-F44B62D856DD}"/>
              </a:ext>
            </a:extLst>
          </p:cNvPr>
          <p:cNvSpPr>
            <a:spLocks noGrp="1"/>
          </p:cNvSpPr>
          <p:nvPr>
            <p:ph type="sldNum" sz="quarter" idx="12"/>
          </p:nvPr>
        </p:nvSpPr>
        <p:spPr/>
        <p:txBody>
          <a:bodyPr/>
          <a:lstStyle/>
          <a:p>
            <a:fld id="{21004690-02AB-4EF8-9513-CB283ECF7991}" type="slidenum">
              <a:rPr lang="en-BW" smtClean="0"/>
              <a:t>2</a:t>
            </a:fld>
            <a:endParaRPr lang="en-BW"/>
          </a:p>
        </p:txBody>
      </p:sp>
      <p:pic>
        <p:nvPicPr>
          <p:cNvPr id="9" name="Picture 8">
            <a:extLst>
              <a:ext uri="{FF2B5EF4-FFF2-40B4-BE49-F238E27FC236}">
                <a16:creationId xmlns:a16="http://schemas.microsoft.com/office/drawing/2014/main" id="{AE7B97A8-40E2-366C-963C-E078DED597C8}"/>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C9F311F-2556-2CCF-E041-21C75B441D44}"/>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43D21A0A-29EE-FFA8-3B33-06CC5056E226}"/>
              </a:ext>
            </a:extLst>
          </p:cNvPr>
          <p:cNvSpPr txBox="1"/>
          <p:nvPr/>
        </p:nvSpPr>
        <p:spPr>
          <a:xfrm>
            <a:off x="947970" y="1768388"/>
            <a:ext cx="5846022" cy="2241960"/>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DEFINITION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PROJECT OBJECTIVES</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METHODOLOGY</a:t>
            </a:r>
          </a:p>
        </p:txBody>
      </p:sp>
      <p:sp>
        <p:nvSpPr>
          <p:cNvPr id="11" name="TextBox 10"/>
          <p:cNvSpPr txBox="1"/>
          <p:nvPr/>
        </p:nvSpPr>
        <p:spPr>
          <a:xfrm>
            <a:off x="137160" y="960120"/>
            <a:ext cx="4206240" cy="274320"/>
          </a:xfrm>
          <a:prstGeom prst="rect">
            <a:avLst/>
          </a:prstGeom>
          <a:noFill/>
        </p:spPr>
        <p:txBody>
          <a:bodyPr wrap="square">
            <a:spAutoFit/>
          </a:bodyPr>
          <a:lstStyle/>
          <a:p>
            <a:pPr algn="l"/>
            <a:r>
              <a:rPr sz="1200" b="1" i="0">
                <a:solidFill>
                  <a:srgbClr val="0070C0"/>
                </a:solidFill>
                <a:latin typeface="Calibri"/>
              </a:rPr>
              <a:t>Training Hyperparameters</a:t>
            </a:r>
          </a:p>
        </p:txBody>
      </p:sp>
      <p:sp>
        <p:nvSpPr>
          <p:cNvPr id="12" name="Rectangle 11"/>
          <p:cNvSpPr/>
          <p:nvPr/>
        </p:nvSpPr>
        <p:spPr>
          <a:xfrm>
            <a:off x="137160" y="1280160"/>
            <a:ext cx="2194560" cy="301752"/>
          </a:xfrm>
          <a:prstGeom prst="rect">
            <a:avLst/>
          </a:prstGeom>
          <a:solidFill>
            <a:srgbClr val="F0F5FB"/>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2024" y="1307592"/>
            <a:ext cx="2084832" cy="246888"/>
          </a:xfrm>
          <a:prstGeom prst="rect">
            <a:avLst/>
          </a:prstGeom>
          <a:noFill/>
        </p:spPr>
        <p:txBody>
          <a:bodyPr wrap="square">
            <a:spAutoFit/>
          </a:bodyPr>
          <a:lstStyle/>
          <a:p>
            <a:pPr algn="l"/>
            <a:r>
              <a:rPr sz="1000" b="1" i="0">
                <a:solidFill>
                  <a:srgbClr val="1A1A2E"/>
                </a:solidFill>
                <a:latin typeface="Calibri"/>
              </a:rPr>
              <a:t>Total timesteps</a:t>
            </a:r>
          </a:p>
        </p:txBody>
      </p:sp>
      <p:sp>
        <p:nvSpPr>
          <p:cNvPr id="14" name="Rectangle 13"/>
          <p:cNvSpPr/>
          <p:nvPr/>
        </p:nvSpPr>
        <p:spPr>
          <a:xfrm>
            <a:off x="2331720" y="1280160"/>
            <a:ext cx="2011680" cy="301752"/>
          </a:xfrm>
          <a:prstGeom prst="rect">
            <a:avLst/>
          </a:prstGeom>
          <a:solidFill>
            <a:srgbClr val="F0F5FB"/>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6584" y="1307592"/>
            <a:ext cx="1901952" cy="246888"/>
          </a:xfrm>
          <a:prstGeom prst="rect">
            <a:avLst/>
          </a:prstGeom>
          <a:noFill/>
        </p:spPr>
        <p:txBody>
          <a:bodyPr wrap="square">
            <a:spAutoFit/>
          </a:bodyPr>
          <a:lstStyle/>
          <a:p>
            <a:pPr algn="l"/>
            <a:r>
              <a:rPr sz="1000" b="0" i="0">
                <a:solidFill>
                  <a:srgbClr val="1A1A2E"/>
                </a:solidFill>
                <a:latin typeface="Calibri"/>
              </a:rPr>
              <a:t>1,500,000</a:t>
            </a:r>
          </a:p>
        </p:txBody>
      </p:sp>
      <p:sp>
        <p:nvSpPr>
          <p:cNvPr id="16" name="Rectangle 15"/>
          <p:cNvSpPr/>
          <p:nvPr/>
        </p:nvSpPr>
        <p:spPr>
          <a:xfrm>
            <a:off x="137160" y="1581912"/>
            <a:ext cx="2194560" cy="301752"/>
          </a:xfrm>
          <a:prstGeom prst="rect">
            <a:avLst/>
          </a:prstGeom>
          <a:solidFill>
            <a:srgbClr val="FFFFFF"/>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024" y="1609344"/>
            <a:ext cx="2084832" cy="246888"/>
          </a:xfrm>
          <a:prstGeom prst="rect">
            <a:avLst/>
          </a:prstGeom>
          <a:noFill/>
        </p:spPr>
        <p:txBody>
          <a:bodyPr wrap="square">
            <a:spAutoFit/>
          </a:bodyPr>
          <a:lstStyle/>
          <a:p>
            <a:pPr algn="l"/>
            <a:r>
              <a:rPr sz="1000" b="1" i="0">
                <a:solidFill>
                  <a:srgbClr val="1A1A2E"/>
                </a:solidFill>
                <a:latin typeface="Calibri"/>
              </a:rPr>
              <a:t>Parallel environments</a:t>
            </a:r>
          </a:p>
        </p:txBody>
      </p:sp>
      <p:sp>
        <p:nvSpPr>
          <p:cNvPr id="18" name="Rectangle 17"/>
          <p:cNvSpPr/>
          <p:nvPr/>
        </p:nvSpPr>
        <p:spPr>
          <a:xfrm>
            <a:off x="2331720" y="1581912"/>
            <a:ext cx="2011680" cy="301752"/>
          </a:xfrm>
          <a:prstGeom prst="rect">
            <a:avLst/>
          </a:prstGeom>
          <a:solidFill>
            <a:srgbClr val="FFFFFF"/>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6584" y="1609344"/>
            <a:ext cx="1901952" cy="246888"/>
          </a:xfrm>
          <a:prstGeom prst="rect">
            <a:avLst/>
          </a:prstGeom>
          <a:noFill/>
        </p:spPr>
        <p:txBody>
          <a:bodyPr wrap="square">
            <a:spAutoFit/>
          </a:bodyPr>
          <a:lstStyle/>
          <a:p>
            <a:pPr algn="l"/>
            <a:r>
              <a:rPr sz="1000" b="0" i="0">
                <a:solidFill>
                  <a:srgbClr val="1A1A2E"/>
                </a:solidFill>
                <a:latin typeface="Calibri"/>
              </a:rPr>
              <a:t>4</a:t>
            </a:r>
          </a:p>
        </p:txBody>
      </p:sp>
      <p:sp>
        <p:nvSpPr>
          <p:cNvPr id="20" name="Rectangle 19"/>
          <p:cNvSpPr/>
          <p:nvPr/>
        </p:nvSpPr>
        <p:spPr>
          <a:xfrm>
            <a:off x="137160" y="1883664"/>
            <a:ext cx="2194560" cy="301752"/>
          </a:xfrm>
          <a:prstGeom prst="rect">
            <a:avLst/>
          </a:prstGeom>
          <a:solidFill>
            <a:srgbClr val="F0F5FB"/>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2024" y="1911096"/>
            <a:ext cx="2084832" cy="246888"/>
          </a:xfrm>
          <a:prstGeom prst="rect">
            <a:avLst/>
          </a:prstGeom>
          <a:noFill/>
        </p:spPr>
        <p:txBody>
          <a:bodyPr wrap="square">
            <a:spAutoFit/>
          </a:bodyPr>
          <a:lstStyle/>
          <a:p>
            <a:pPr algn="l"/>
            <a:r>
              <a:rPr sz="1000" b="1" i="0">
                <a:solidFill>
                  <a:srgbClr val="1A1A2E"/>
                </a:solidFill>
                <a:latin typeface="Calibri"/>
              </a:rPr>
              <a:t>Episode length</a:t>
            </a:r>
          </a:p>
        </p:txBody>
      </p:sp>
      <p:sp>
        <p:nvSpPr>
          <p:cNvPr id="22" name="Rectangle 21"/>
          <p:cNvSpPr/>
          <p:nvPr/>
        </p:nvSpPr>
        <p:spPr>
          <a:xfrm>
            <a:off x="2331720" y="1883664"/>
            <a:ext cx="2011680" cy="301752"/>
          </a:xfrm>
          <a:prstGeom prst="rect">
            <a:avLst/>
          </a:prstGeom>
          <a:solidFill>
            <a:srgbClr val="F0F5FB"/>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6584" y="1911096"/>
            <a:ext cx="1901952" cy="246888"/>
          </a:xfrm>
          <a:prstGeom prst="rect">
            <a:avLst/>
          </a:prstGeom>
          <a:noFill/>
        </p:spPr>
        <p:txBody>
          <a:bodyPr wrap="square">
            <a:spAutoFit/>
          </a:bodyPr>
          <a:lstStyle/>
          <a:p>
            <a:pPr algn="l"/>
            <a:r>
              <a:rPr sz="1000" b="0" i="0">
                <a:solidFill>
                  <a:srgbClr val="1A1A2E"/>
                </a:solidFill>
                <a:latin typeface="Calibri"/>
              </a:rPr>
              <a:t>500 steps × 3 s = 25 min sim</a:t>
            </a:r>
          </a:p>
        </p:txBody>
      </p:sp>
      <p:sp>
        <p:nvSpPr>
          <p:cNvPr id="24" name="Rectangle 23"/>
          <p:cNvSpPr/>
          <p:nvPr/>
        </p:nvSpPr>
        <p:spPr>
          <a:xfrm>
            <a:off x="137160" y="2185416"/>
            <a:ext cx="2194560" cy="301752"/>
          </a:xfrm>
          <a:prstGeom prst="rect">
            <a:avLst/>
          </a:prstGeom>
          <a:solidFill>
            <a:srgbClr val="FFFFFF"/>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2024" y="2212848"/>
            <a:ext cx="2084832" cy="246888"/>
          </a:xfrm>
          <a:prstGeom prst="rect">
            <a:avLst/>
          </a:prstGeom>
          <a:noFill/>
        </p:spPr>
        <p:txBody>
          <a:bodyPr wrap="square">
            <a:spAutoFit/>
          </a:bodyPr>
          <a:lstStyle/>
          <a:p>
            <a:pPr algn="l"/>
            <a:r>
              <a:rPr sz="1000" b="1" i="0">
                <a:solidFill>
                  <a:srgbClr val="1A1A2E"/>
                </a:solidFill>
                <a:latin typeface="Calibri"/>
              </a:rPr>
              <a:t>PPO clip ε / GAE λ</a:t>
            </a:r>
          </a:p>
        </p:txBody>
      </p:sp>
      <p:sp>
        <p:nvSpPr>
          <p:cNvPr id="26" name="Rectangle 25"/>
          <p:cNvSpPr/>
          <p:nvPr/>
        </p:nvSpPr>
        <p:spPr>
          <a:xfrm>
            <a:off x="2331720" y="2185416"/>
            <a:ext cx="2011680" cy="301752"/>
          </a:xfrm>
          <a:prstGeom prst="rect">
            <a:avLst/>
          </a:prstGeom>
          <a:solidFill>
            <a:srgbClr val="FFFFFF"/>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6584" y="2212848"/>
            <a:ext cx="1901952" cy="246888"/>
          </a:xfrm>
          <a:prstGeom prst="rect">
            <a:avLst/>
          </a:prstGeom>
          <a:noFill/>
        </p:spPr>
        <p:txBody>
          <a:bodyPr wrap="square">
            <a:spAutoFit/>
          </a:bodyPr>
          <a:lstStyle/>
          <a:p>
            <a:pPr algn="l"/>
            <a:r>
              <a:rPr sz="1000" b="0" i="0">
                <a:solidFill>
                  <a:srgbClr val="1A1A2E"/>
                </a:solidFill>
                <a:latin typeface="Calibri"/>
              </a:rPr>
              <a:t>0.2 / 0.95</a:t>
            </a:r>
          </a:p>
        </p:txBody>
      </p:sp>
      <p:sp>
        <p:nvSpPr>
          <p:cNvPr id="28" name="Rectangle 27"/>
          <p:cNvSpPr/>
          <p:nvPr/>
        </p:nvSpPr>
        <p:spPr>
          <a:xfrm>
            <a:off x="137160" y="2487168"/>
            <a:ext cx="2194560" cy="301752"/>
          </a:xfrm>
          <a:prstGeom prst="rect">
            <a:avLst/>
          </a:prstGeom>
          <a:solidFill>
            <a:srgbClr val="F0F5FB"/>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92024" y="2514600"/>
            <a:ext cx="2084832" cy="246888"/>
          </a:xfrm>
          <a:prstGeom prst="rect">
            <a:avLst/>
          </a:prstGeom>
          <a:noFill/>
        </p:spPr>
        <p:txBody>
          <a:bodyPr wrap="square">
            <a:spAutoFit/>
          </a:bodyPr>
          <a:lstStyle/>
          <a:p>
            <a:pPr algn="l"/>
            <a:r>
              <a:rPr sz="1000" b="1" i="0">
                <a:solidFill>
                  <a:srgbClr val="1A1A2E"/>
                </a:solidFill>
                <a:latin typeface="Calibri"/>
              </a:rPr>
              <a:t>Discount γ</a:t>
            </a:r>
          </a:p>
        </p:txBody>
      </p:sp>
      <p:sp>
        <p:nvSpPr>
          <p:cNvPr id="30" name="Rectangle 29"/>
          <p:cNvSpPr/>
          <p:nvPr/>
        </p:nvSpPr>
        <p:spPr>
          <a:xfrm>
            <a:off x="2331720" y="2487168"/>
            <a:ext cx="2011680" cy="301752"/>
          </a:xfrm>
          <a:prstGeom prst="rect">
            <a:avLst/>
          </a:prstGeom>
          <a:solidFill>
            <a:srgbClr val="F0F5FB"/>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6584" y="2514600"/>
            <a:ext cx="1901952" cy="246888"/>
          </a:xfrm>
          <a:prstGeom prst="rect">
            <a:avLst/>
          </a:prstGeom>
          <a:noFill/>
        </p:spPr>
        <p:txBody>
          <a:bodyPr wrap="square">
            <a:spAutoFit/>
          </a:bodyPr>
          <a:lstStyle/>
          <a:p>
            <a:pPr algn="l"/>
            <a:r>
              <a:rPr sz="1000" b="0" i="0">
                <a:solidFill>
                  <a:srgbClr val="1A1A2E"/>
                </a:solidFill>
                <a:latin typeface="Calibri"/>
              </a:rPr>
              <a:t>0.99</a:t>
            </a:r>
          </a:p>
        </p:txBody>
      </p:sp>
      <p:sp>
        <p:nvSpPr>
          <p:cNvPr id="32" name="Rectangle 31"/>
          <p:cNvSpPr/>
          <p:nvPr/>
        </p:nvSpPr>
        <p:spPr>
          <a:xfrm>
            <a:off x="137160" y="2788920"/>
            <a:ext cx="2194560" cy="301752"/>
          </a:xfrm>
          <a:prstGeom prst="rect">
            <a:avLst/>
          </a:prstGeom>
          <a:solidFill>
            <a:srgbClr val="FFFFFF"/>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2024" y="2816352"/>
            <a:ext cx="2084832" cy="246888"/>
          </a:xfrm>
          <a:prstGeom prst="rect">
            <a:avLst/>
          </a:prstGeom>
          <a:noFill/>
        </p:spPr>
        <p:txBody>
          <a:bodyPr wrap="square">
            <a:spAutoFit/>
          </a:bodyPr>
          <a:lstStyle/>
          <a:p>
            <a:pPr algn="l"/>
            <a:r>
              <a:rPr sz="1000" b="1" i="0">
                <a:solidFill>
                  <a:srgbClr val="1A1A2E"/>
                </a:solidFill>
                <a:latin typeface="Calibri"/>
              </a:rPr>
              <a:t>Learning rate</a:t>
            </a:r>
          </a:p>
        </p:txBody>
      </p:sp>
      <p:sp>
        <p:nvSpPr>
          <p:cNvPr id="34" name="Rectangle 33"/>
          <p:cNvSpPr/>
          <p:nvPr/>
        </p:nvSpPr>
        <p:spPr>
          <a:xfrm>
            <a:off x="2331720" y="2788920"/>
            <a:ext cx="2011680" cy="301752"/>
          </a:xfrm>
          <a:prstGeom prst="rect">
            <a:avLst/>
          </a:prstGeom>
          <a:solidFill>
            <a:srgbClr val="FFFFFF"/>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86584" y="2816352"/>
            <a:ext cx="1901952" cy="246888"/>
          </a:xfrm>
          <a:prstGeom prst="rect">
            <a:avLst/>
          </a:prstGeom>
          <a:noFill/>
        </p:spPr>
        <p:txBody>
          <a:bodyPr wrap="square">
            <a:spAutoFit/>
          </a:bodyPr>
          <a:lstStyle/>
          <a:p>
            <a:pPr algn="l"/>
            <a:r>
              <a:rPr sz="1000" b="0" i="0">
                <a:solidFill>
                  <a:srgbClr val="1A1A2E"/>
                </a:solidFill>
                <a:latin typeface="Calibri"/>
              </a:rPr>
              <a:t>3×10⁻⁴ (Adam)</a:t>
            </a:r>
          </a:p>
        </p:txBody>
      </p:sp>
      <p:sp>
        <p:nvSpPr>
          <p:cNvPr id="36" name="Rectangle 35"/>
          <p:cNvSpPr/>
          <p:nvPr/>
        </p:nvSpPr>
        <p:spPr>
          <a:xfrm>
            <a:off x="137160" y="3090672"/>
            <a:ext cx="2194560" cy="301752"/>
          </a:xfrm>
          <a:prstGeom prst="rect">
            <a:avLst/>
          </a:prstGeom>
          <a:solidFill>
            <a:srgbClr val="F0F5FB"/>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92024" y="3118104"/>
            <a:ext cx="2084832" cy="246888"/>
          </a:xfrm>
          <a:prstGeom prst="rect">
            <a:avLst/>
          </a:prstGeom>
          <a:noFill/>
        </p:spPr>
        <p:txBody>
          <a:bodyPr wrap="square">
            <a:spAutoFit/>
          </a:bodyPr>
          <a:lstStyle/>
          <a:p>
            <a:pPr algn="l"/>
            <a:r>
              <a:rPr sz="1000" b="1" i="0">
                <a:solidFill>
                  <a:srgbClr val="1A1A2E"/>
                </a:solidFill>
                <a:latin typeface="Calibri"/>
              </a:rPr>
              <a:t>Entropy coeff.</a:t>
            </a:r>
          </a:p>
        </p:txBody>
      </p:sp>
      <p:sp>
        <p:nvSpPr>
          <p:cNvPr id="38" name="Rectangle 37"/>
          <p:cNvSpPr/>
          <p:nvPr/>
        </p:nvSpPr>
        <p:spPr>
          <a:xfrm>
            <a:off x="2331720" y="3090672"/>
            <a:ext cx="2011680" cy="301752"/>
          </a:xfrm>
          <a:prstGeom prst="rect">
            <a:avLst/>
          </a:prstGeom>
          <a:solidFill>
            <a:srgbClr val="F0F5FB"/>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386584" y="3118104"/>
            <a:ext cx="1901952" cy="246888"/>
          </a:xfrm>
          <a:prstGeom prst="rect">
            <a:avLst/>
          </a:prstGeom>
          <a:noFill/>
        </p:spPr>
        <p:txBody>
          <a:bodyPr wrap="square">
            <a:spAutoFit/>
          </a:bodyPr>
          <a:lstStyle/>
          <a:p>
            <a:pPr algn="l"/>
            <a:r>
              <a:rPr sz="1000" b="0" i="0">
                <a:solidFill>
                  <a:srgbClr val="1A1A2E"/>
                </a:solidFill>
                <a:latin typeface="Calibri"/>
              </a:rPr>
              <a:t>0.01</a:t>
            </a:r>
          </a:p>
        </p:txBody>
      </p:sp>
      <p:sp>
        <p:nvSpPr>
          <p:cNvPr id="40" name="Rectangle 39"/>
          <p:cNvSpPr/>
          <p:nvPr/>
        </p:nvSpPr>
        <p:spPr>
          <a:xfrm>
            <a:off x="137160" y="3392424"/>
            <a:ext cx="2194560" cy="301752"/>
          </a:xfrm>
          <a:prstGeom prst="rect">
            <a:avLst/>
          </a:prstGeom>
          <a:solidFill>
            <a:srgbClr val="FFFFFF"/>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2024" y="3419856"/>
            <a:ext cx="2084832" cy="246888"/>
          </a:xfrm>
          <a:prstGeom prst="rect">
            <a:avLst/>
          </a:prstGeom>
          <a:noFill/>
        </p:spPr>
        <p:txBody>
          <a:bodyPr wrap="square">
            <a:spAutoFit/>
          </a:bodyPr>
          <a:lstStyle/>
          <a:p>
            <a:pPr algn="l"/>
            <a:r>
              <a:rPr sz="1000" b="1" i="0">
                <a:solidFill>
                  <a:srgbClr val="1A1A2E"/>
                </a:solidFill>
                <a:latin typeface="Calibri"/>
              </a:rPr>
              <a:t>Hardware</a:t>
            </a:r>
          </a:p>
        </p:txBody>
      </p:sp>
      <p:sp>
        <p:nvSpPr>
          <p:cNvPr id="42" name="Rectangle 41"/>
          <p:cNvSpPr/>
          <p:nvPr/>
        </p:nvSpPr>
        <p:spPr>
          <a:xfrm>
            <a:off x="2331720" y="3392424"/>
            <a:ext cx="2011680" cy="301752"/>
          </a:xfrm>
          <a:prstGeom prst="rect">
            <a:avLst/>
          </a:prstGeom>
          <a:solidFill>
            <a:srgbClr val="FFFFFF"/>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86584" y="3419856"/>
            <a:ext cx="1901952" cy="246888"/>
          </a:xfrm>
          <a:prstGeom prst="rect">
            <a:avLst/>
          </a:prstGeom>
          <a:noFill/>
        </p:spPr>
        <p:txBody>
          <a:bodyPr wrap="square">
            <a:spAutoFit/>
          </a:bodyPr>
          <a:lstStyle/>
          <a:p>
            <a:pPr algn="l"/>
            <a:r>
              <a:rPr sz="1000" b="0" i="0">
                <a:solidFill>
                  <a:srgbClr val="1A1A2E"/>
                </a:solidFill>
                <a:latin typeface="Calibri"/>
              </a:rPr>
              <a:t>Core i7 CPU, 16 GB RAM</a:t>
            </a:r>
          </a:p>
        </p:txBody>
      </p:sp>
      <p:sp>
        <p:nvSpPr>
          <p:cNvPr id="44" name="Rectangle 43"/>
          <p:cNvSpPr/>
          <p:nvPr/>
        </p:nvSpPr>
        <p:spPr>
          <a:xfrm>
            <a:off x="137160" y="3694176"/>
            <a:ext cx="2194560" cy="301752"/>
          </a:xfrm>
          <a:prstGeom prst="rect">
            <a:avLst/>
          </a:prstGeom>
          <a:solidFill>
            <a:srgbClr val="F0F5FB"/>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92024" y="3721608"/>
            <a:ext cx="2084832" cy="246888"/>
          </a:xfrm>
          <a:prstGeom prst="rect">
            <a:avLst/>
          </a:prstGeom>
          <a:noFill/>
        </p:spPr>
        <p:txBody>
          <a:bodyPr wrap="square">
            <a:spAutoFit/>
          </a:bodyPr>
          <a:lstStyle/>
          <a:p>
            <a:pPr algn="l"/>
            <a:r>
              <a:rPr sz="1000" b="1" i="0">
                <a:solidFill>
                  <a:srgbClr val="1A1A2E"/>
                </a:solidFill>
                <a:latin typeface="Calibri"/>
              </a:rPr>
              <a:t>Training time</a:t>
            </a:r>
          </a:p>
        </p:txBody>
      </p:sp>
      <p:sp>
        <p:nvSpPr>
          <p:cNvPr id="46" name="Rectangle 45"/>
          <p:cNvSpPr/>
          <p:nvPr/>
        </p:nvSpPr>
        <p:spPr>
          <a:xfrm>
            <a:off x="2331720" y="3694176"/>
            <a:ext cx="2011680" cy="301752"/>
          </a:xfrm>
          <a:prstGeom prst="rect">
            <a:avLst/>
          </a:prstGeom>
          <a:solidFill>
            <a:srgbClr val="F0F5FB"/>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386584" y="3721608"/>
            <a:ext cx="1901952" cy="246888"/>
          </a:xfrm>
          <a:prstGeom prst="rect">
            <a:avLst/>
          </a:prstGeom>
          <a:noFill/>
        </p:spPr>
        <p:txBody>
          <a:bodyPr wrap="square">
            <a:spAutoFit/>
          </a:bodyPr>
          <a:lstStyle/>
          <a:p>
            <a:pPr algn="l"/>
            <a:r>
              <a:rPr sz="1000" b="0" i="0">
                <a:solidFill>
                  <a:srgbClr val="1A1A2E"/>
                </a:solidFill>
                <a:latin typeface="Calibri"/>
              </a:rPr>
              <a:t>~3–4 hours (CPU-only)</a:t>
            </a:r>
          </a:p>
        </p:txBody>
      </p:sp>
      <p:sp>
        <p:nvSpPr>
          <p:cNvPr id="48" name="TextBox 47"/>
          <p:cNvSpPr txBox="1"/>
          <p:nvPr/>
        </p:nvSpPr>
        <p:spPr>
          <a:xfrm>
            <a:off x="137160" y="4114800"/>
            <a:ext cx="4297680" cy="274320"/>
          </a:xfrm>
          <a:prstGeom prst="rect">
            <a:avLst/>
          </a:prstGeom>
          <a:noFill/>
        </p:spPr>
        <p:txBody>
          <a:bodyPr wrap="square">
            <a:spAutoFit/>
          </a:bodyPr>
          <a:lstStyle/>
          <a:p>
            <a:pPr algn="l"/>
            <a:r>
              <a:rPr sz="1100" b="0" i="1">
                <a:solidFill>
                  <a:srgbClr val="1A1A2E"/>
                </a:solidFill>
                <a:latin typeface="Calibri"/>
              </a:rPr>
              <a:t>Reward:  r = −Σ tanh(wait_i / (n_lanes · 60))</a:t>
            </a:r>
          </a:p>
        </p:txBody>
      </p:sp>
      <p:sp>
        <p:nvSpPr>
          <p:cNvPr id="49" name="TextBox 48"/>
          <p:cNvSpPr txBox="1"/>
          <p:nvPr/>
        </p:nvSpPr>
        <p:spPr>
          <a:xfrm>
            <a:off x="4663440" y="960120"/>
            <a:ext cx="4389120" cy="274320"/>
          </a:xfrm>
          <a:prstGeom prst="rect">
            <a:avLst/>
          </a:prstGeom>
          <a:noFill/>
        </p:spPr>
        <p:txBody>
          <a:bodyPr wrap="square">
            <a:spAutoFit/>
          </a:bodyPr>
          <a:lstStyle/>
          <a:p>
            <a:pPr algn="l"/>
            <a:r>
              <a:rPr sz="1200" b="1" i="0">
                <a:solidFill>
                  <a:srgbClr val="0070C0"/>
                </a:solidFill>
                <a:latin typeface="Calibri"/>
              </a:rPr>
              <a:t>6 Demand Scenarios</a:t>
            </a:r>
          </a:p>
        </p:txBody>
      </p:sp>
      <p:sp>
        <p:nvSpPr>
          <p:cNvPr id="50" name="Rectangle 49"/>
          <p:cNvSpPr/>
          <p:nvPr/>
        </p:nvSpPr>
        <p:spPr>
          <a:xfrm>
            <a:off x="4663440" y="1298448"/>
            <a:ext cx="2084831" cy="640080"/>
          </a:xfrm>
          <a:prstGeom prst="rect">
            <a:avLst/>
          </a:prstGeom>
          <a:solidFill>
            <a:srgbClr val="068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736592" y="1335024"/>
            <a:ext cx="1938527" cy="237744"/>
          </a:xfrm>
          <a:prstGeom prst="rect">
            <a:avLst/>
          </a:prstGeom>
          <a:noFill/>
        </p:spPr>
        <p:txBody>
          <a:bodyPr wrap="square">
            <a:spAutoFit/>
          </a:bodyPr>
          <a:lstStyle/>
          <a:p>
            <a:pPr algn="l"/>
            <a:r>
              <a:rPr sz="1000" b="1" i="0">
                <a:solidFill>
                  <a:srgbClr val="FFFFFF"/>
                </a:solidFill>
                <a:latin typeface="Calibri"/>
              </a:rPr>
              <a:t>low</a:t>
            </a:r>
          </a:p>
        </p:txBody>
      </p:sp>
      <p:sp>
        <p:nvSpPr>
          <p:cNvPr id="52" name="TextBox 51"/>
          <p:cNvSpPr txBox="1"/>
          <p:nvPr/>
        </p:nvSpPr>
        <p:spPr>
          <a:xfrm>
            <a:off x="4736592" y="1600200"/>
            <a:ext cx="1938527" cy="274320"/>
          </a:xfrm>
          <a:prstGeom prst="rect">
            <a:avLst/>
          </a:prstGeom>
          <a:noFill/>
        </p:spPr>
        <p:txBody>
          <a:bodyPr wrap="square">
            <a:spAutoFit/>
          </a:bodyPr>
          <a:lstStyle/>
          <a:p>
            <a:pPr algn="l"/>
            <a:r>
              <a:rPr sz="900" b="0" i="0">
                <a:solidFill>
                  <a:srgbClr val="FFFFFF"/>
                </a:solidFill>
                <a:latin typeface="Calibri"/>
              </a:rPr>
              <a:t>Off-peak, minimal vehicles</a:t>
            </a:r>
          </a:p>
        </p:txBody>
      </p:sp>
      <p:sp>
        <p:nvSpPr>
          <p:cNvPr id="53" name="Rectangle 52"/>
          <p:cNvSpPr/>
          <p:nvPr/>
        </p:nvSpPr>
        <p:spPr>
          <a:xfrm>
            <a:off x="6821423" y="1298448"/>
            <a:ext cx="2084831" cy="64008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94575" y="1335024"/>
            <a:ext cx="1938527" cy="237744"/>
          </a:xfrm>
          <a:prstGeom prst="rect">
            <a:avLst/>
          </a:prstGeom>
          <a:noFill/>
        </p:spPr>
        <p:txBody>
          <a:bodyPr wrap="square">
            <a:spAutoFit/>
          </a:bodyPr>
          <a:lstStyle/>
          <a:p>
            <a:pPr algn="l"/>
            <a:r>
              <a:rPr sz="1000" b="1" i="0">
                <a:solidFill>
                  <a:srgbClr val="FFFFFF"/>
                </a:solidFill>
                <a:latin typeface="Calibri"/>
              </a:rPr>
              <a:t>normal</a:t>
            </a:r>
          </a:p>
        </p:txBody>
      </p:sp>
      <p:sp>
        <p:nvSpPr>
          <p:cNvPr id="55" name="TextBox 54"/>
          <p:cNvSpPr txBox="1"/>
          <p:nvPr/>
        </p:nvSpPr>
        <p:spPr>
          <a:xfrm>
            <a:off x="6894575" y="1600200"/>
            <a:ext cx="1938527" cy="274320"/>
          </a:xfrm>
          <a:prstGeom prst="rect">
            <a:avLst/>
          </a:prstGeom>
          <a:noFill/>
        </p:spPr>
        <p:txBody>
          <a:bodyPr wrap="square">
            <a:spAutoFit/>
          </a:bodyPr>
          <a:lstStyle/>
          <a:p>
            <a:pPr algn="l"/>
            <a:r>
              <a:rPr sz="900" b="0" i="0">
                <a:solidFill>
                  <a:srgbClr val="FFFFFF"/>
                </a:solidFill>
                <a:latin typeface="Calibri"/>
              </a:rPr>
              <a:t>Average daily flow</a:t>
            </a:r>
          </a:p>
        </p:txBody>
      </p:sp>
      <p:sp>
        <p:nvSpPr>
          <p:cNvPr id="56" name="Rectangle 55"/>
          <p:cNvSpPr/>
          <p:nvPr/>
        </p:nvSpPr>
        <p:spPr>
          <a:xfrm>
            <a:off x="4663440" y="2011680"/>
            <a:ext cx="2084831" cy="640080"/>
          </a:xfrm>
          <a:prstGeom prst="rect">
            <a:avLst/>
          </a:prstGeom>
          <a:solidFill>
            <a:srgbClr val="FB8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736592" y="2048256"/>
            <a:ext cx="1938527" cy="237744"/>
          </a:xfrm>
          <a:prstGeom prst="rect">
            <a:avLst/>
          </a:prstGeom>
          <a:noFill/>
        </p:spPr>
        <p:txBody>
          <a:bodyPr wrap="square">
            <a:spAutoFit/>
          </a:bodyPr>
          <a:lstStyle/>
          <a:p>
            <a:pPr algn="l"/>
            <a:r>
              <a:rPr sz="1000" b="1" i="0">
                <a:solidFill>
                  <a:srgbClr val="FFFFFF"/>
                </a:solidFill>
                <a:latin typeface="Calibri"/>
              </a:rPr>
              <a:t>rush_hour_am</a:t>
            </a:r>
          </a:p>
        </p:txBody>
      </p:sp>
      <p:sp>
        <p:nvSpPr>
          <p:cNvPr id="58" name="TextBox 57"/>
          <p:cNvSpPr txBox="1"/>
          <p:nvPr/>
        </p:nvSpPr>
        <p:spPr>
          <a:xfrm>
            <a:off x="4736592" y="2313432"/>
            <a:ext cx="1938527" cy="274320"/>
          </a:xfrm>
          <a:prstGeom prst="rect">
            <a:avLst/>
          </a:prstGeom>
          <a:noFill/>
        </p:spPr>
        <p:txBody>
          <a:bodyPr wrap="square">
            <a:spAutoFit/>
          </a:bodyPr>
          <a:lstStyle/>
          <a:p>
            <a:pPr algn="l"/>
            <a:r>
              <a:rPr sz="900" b="0" i="0">
                <a:solidFill>
                  <a:srgbClr val="FFFFFF"/>
                </a:solidFill>
                <a:latin typeface="Calibri"/>
              </a:rPr>
              <a:t>Morning rush — inbound</a:t>
            </a:r>
          </a:p>
        </p:txBody>
      </p:sp>
      <p:sp>
        <p:nvSpPr>
          <p:cNvPr id="59" name="Rectangle 58"/>
          <p:cNvSpPr/>
          <p:nvPr/>
        </p:nvSpPr>
        <p:spPr>
          <a:xfrm>
            <a:off x="6821423" y="2011680"/>
            <a:ext cx="2084831" cy="640080"/>
          </a:xfrm>
          <a:prstGeom prst="rect">
            <a:avLst/>
          </a:prstGeom>
          <a:solidFill>
            <a:srgbClr val="FB8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894575" y="2048256"/>
            <a:ext cx="1938527" cy="237744"/>
          </a:xfrm>
          <a:prstGeom prst="rect">
            <a:avLst/>
          </a:prstGeom>
          <a:noFill/>
        </p:spPr>
        <p:txBody>
          <a:bodyPr wrap="square">
            <a:spAutoFit/>
          </a:bodyPr>
          <a:lstStyle/>
          <a:p>
            <a:pPr algn="l"/>
            <a:r>
              <a:rPr sz="1000" b="1" i="0">
                <a:solidFill>
                  <a:srgbClr val="FFFFFF"/>
                </a:solidFill>
                <a:latin typeface="Calibri"/>
              </a:rPr>
              <a:t>rush_hour_pm</a:t>
            </a:r>
          </a:p>
        </p:txBody>
      </p:sp>
      <p:sp>
        <p:nvSpPr>
          <p:cNvPr id="61" name="TextBox 60"/>
          <p:cNvSpPr txBox="1"/>
          <p:nvPr/>
        </p:nvSpPr>
        <p:spPr>
          <a:xfrm>
            <a:off x="6894575" y="2313432"/>
            <a:ext cx="1938527" cy="274320"/>
          </a:xfrm>
          <a:prstGeom prst="rect">
            <a:avLst/>
          </a:prstGeom>
          <a:noFill/>
        </p:spPr>
        <p:txBody>
          <a:bodyPr wrap="square">
            <a:spAutoFit/>
          </a:bodyPr>
          <a:lstStyle/>
          <a:p>
            <a:pPr algn="l"/>
            <a:r>
              <a:rPr sz="900" b="0" i="0">
                <a:solidFill>
                  <a:srgbClr val="FFFFFF"/>
                </a:solidFill>
                <a:latin typeface="Calibri"/>
              </a:rPr>
              <a:t>Evening rush — outbound</a:t>
            </a:r>
          </a:p>
        </p:txBody>
      </p:sp>
      <p:sp>
        <p:nvSpPr>
          <p:cNvPr id="62" name="Rectangle 61"/>
          <p:cNvSpPr/>
          <p:nvPr/>
        </p:nvSpPr>
        <p:spPr>
          <a:xfrm>
            <a:off x="4663440" y="2724912"/>
            <a:ext cx="2084831" cy="64008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736592" y="2761488"/>
            <a:ext cx="1938527" cy="237744"/>
          </a:xfrm>
          <a:prstGeom prst="rect">
            <a:avLst/>
          </a:prstGeom>
          <a:noFill/>
        </p:spPr>
        <p:txBody>
          <a:bodyPr wrap="square">
            <a:spAutoFit/>
          </a:bodyPr>
          <a:lstStyle/>
          <a:p>
            <a:pPr algn="l"/>
            <a:r>
              <a:rPr sz="1000" b="1" i="0">
                <a:solidFill>
                  <a:srgbClr val="FFFFFF"/>
                </a:solidFill>
                <a:latin typeface="Calibri"/>
              </a:rPr>
              <a:t>holiday</a:t>
            </a:r>
          </a:p>
        </p:txBody>
      </p:sp>
      <p:sp>
        <p:nvSpPr>
          <p:cNvPr id="64" name="TextBox 63"/>
          <p:cNvSpPr txBox="1"/>
          <p:nvPr/>
        </p:nvSpPr>
        <p:spPr>
          <a:xfrm>
            <a:off x="4736592" y="3026664"/>
            <a:ext cx="1938527" cy="274320"/>
          </a:xfrm>
          <a:prstGeom prst="rect">
            <a:avLst/>
          </a:prstGeom>
          <a:noFill/>
        </p:spPr>
        <p:txBody>
          <a:bodyPr wrap="square">
            <a:spAutoFit/>
          </a:bodyPr>
          <a:lstStyle/>
          <a:p>
            <a:pPr algn="l"/>
            <a:r>
              <a:rPr sz="900" b="0" i="0">
                <a:solidFill>
                  <a:srgbClr val="FFFFFF"/>
                </a:solidFill>
                <a:latin typeface="Calibri"/>
              </a:rPr>
              <a:t>Heavy through-traffic, few turns</a:t>
            </a:r>
          </a:p>
        </p:txBody>
      </p:sp>
      <p:sp>
        <p:nvSpPr>
          <p:cNvPr id="65" name="Rectangle 64"/>
          <p:cNvSpPr/>
          <p:nvPr/>
        </p:nvSpPr>
        <p:spPr>
          <a:xfrm>
            <a:off x="6821423" y="2724912"/>
            <a:ext cx="2084831" cy="640080"/>
          </a:xfrm>
          <a:prstGeom prst="rect">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894575" y="2761488"/>
            <a:ext cx="1938527" cy="237744"/>
          </a:xfrm>
          <a:prstGeom prst="rect">
            <a:avLst/>
          </a:prstGeom>
          <a:noFill/>
        </p:spPr>
        <p:txBody>
          <a:bodyPr wrap="square">
            <a:spAutoFit/>
          </a:bodyPr>
          <a:lstStyle/>
          <a:p>
            <a:pPr algn="l"/>
            <a:r>
              <a:rPr sz="1000" b="1" i="0">
                <a:solidFill>
                  <a:srgbClr val="FFFFFF"/>
                </a:solidFill>
                <a:latin typeface="Calibri"/>
              </a:rPr>
              <a:t>incident</a:t>
            </a:r>
          </a:p>
        </p:txBody>
      </p:sp>
      <p:sp>
        <p:nvSpPr>
          <p:cNvPr id="67" name="TextBox 66"/>
          <p:cNvSpPr txBox="1"/>
          <p:nvPr/>
        </p:nvSpPr>
        <p:spPr>
          <a:xfrm>
            <a:off x="6894575" y="3026664"/>
            <a:ext cx="1938527" cy="274320"/>
          </a:xfrm>
          <a:prstGeom prst="rect">
            <a:avLst/>
          </a:prstGeom>
          <a:noFill/>
        </p:spPr>
        <p:txBody>
          <a:bodyPr wrap="square">
            <a:spAutoFit/>
          </a:bodyPr>
          <a:lstStyle/>
          <a:p>
            <a:pPr algn="l"/>
            <a:r>
              <a:rPr sz="900" b="0" i="0">
                <a:solidFill>
                  <a:srgbClr val="FFFFFF"/>
                </a:solidFill>
                <a:latin typeface="Calibri"/>
              </a:rPr>
              <a:t>Partial closure, asymmetric demand</a:t>
            </a:r>
          </a:p>
        </p:txBody>
      </p:sp>
      <p:sp>
        <p:nvSpPr>
          <p:cNvPr id="68" name="TextBox 67"/>
          <p:cNvSpPr txBox="1"/>
          <p:nvPr/>
        </p:nvSpPr>
        <p:spPr>
          <a:xfrm>
            <a:off x="4663440" y="3410712"/>
            <a:ext cx="4389120" cy="274320"/>
          </a:xfrm>
          <a:prstGeom prst="rect">
            <a:avLst/>
          </a:prstGeom>
          <a:noFill/>
        </p:spPr>
        <p:txBody>
          <a:bodyPr wrap="square">
            <a:spAutoFit/>
          </a:bodyPr>
          <a:lstStyle/>
          <a:p>
            <a:pPr algn="l"/>
            <a:r>
              <a:rPr sz="1000" b="0" i="1">
                <a:solidFill>
                  <a:srgbClr val="555555"/>
                </a:solidFill>
                <a:latin typeface="Calibri"/>
              </a:rPr>
              <a:t>Curriculum: Stage 1 (low+normal) → Stage 2 (+rush) → Stage 3 (all 6)</a:t>
            </a:r>
          </a:p>
        </p:txBody>
      </p:sp>
      <p:sp>
        <p:nvSpPr>
          <p:cNvPr id="69" name="TextBox 68"/>
          <p:cNvSpPr txBox="1"/>
          <p:nvPr/>
        </p:nvSpPr>
        <p:spPr>
          <a:xfrm>
            <a:off x="137160" y="4443984"/>
            <a:ext cx="8869680" cy="274320"/>
          </a:xfrm>
          <a:prstGeom prst="rect">
            <a:avLst/>
          </a:prstGeom>
          <a:noFill/>
        </p:spPr>
        <p:txBody>
          <a:bodyPr wrap="square">
            <a:spAutoFit/>
          </a:bodyPr>
          <a:lstStyle/>
          <a:p>
            <a:pPr algn="ctr"/>
            <a:r>
              <a:rPr sz="1000" b="0" i="1">
                <a:solidFill>
                  <a:srgbClr val="555555"/>
                </a:solidFill>
                <a:latin typeface="Calibri"/>
              </a:rPr>
              <a:t>Network: Actor + Centralised Critic — 2 hidden layers × 128 units, tanh activations, orthogonal init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30543BC9-0A36-D103-DFD4-306B575710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26B2C97-FB7C-79E1-420B-896F537AB6E1}"/>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8</a:t>
            </a:r>
          </a:p>
        </p:txBody>
      </p:sp>
      <p:sp>
        <p:nvSpPr>
          <p:cNvPr id="5" name="Title 1">
            <a:extLst>
              <a:ext uri="{FF2B5EF4-FFF2-40B4-BE49-F238E27FC236}">
                <a16:creationId xmlns:a16="http://schemas.microsoft.com/office/drawing/2014/main" id="{28D268CF-EE2B-BFAD-1990-E839782D14C1}"/>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MAPPO TRAINING CONVERGENCE</a:t>
            </a:r>
          </a:p>
        </p:txBody>
      </p:sp>
      <p:pic>
        <p:nvPicPr>
          <p:cNvPr id="6" name="Content Placeholder 4">
            <a:extLst>
              <a:ext uri="{FF2B5EF4-FFF2-40B4-BE49-F238E27FC236}">
                <a16:creationId xmlns:a16="http://schemas.microsoft.com/office/drawing/2014/main" id="{A98033F3-9D23-2E4B-5173-10B144B3F820}"/>
              </a:ext>
            </a:extLst>
          </p:cNvPr>
          <p:cNvPicPr>
            <a:picLocks noGrp="1" noChangeAspect="1"/>
          </p:cNvPicPr>
          <p:nvPr>
            <p:ph idx="1"/>
          </p:nvPr>
        </p:nvPicPr>
        <p:blipFill>
          <a:blip r:embed="rId3"/>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9FE04023-D31B-790E-00C7-F44B62D856DD}"/>
              </a:ext>
            </a:extLst>
          </p:cNvPr>
          <p:cNvSpPr>
            <a:spLocks noGrp="1"/>
          </p:cNvSpPr>
          <p:nvPr>
            <p:ph type="sldNum" sz="quarter" idx="12"/>
          </p:nvPr>
        </p:nvSpPr>
        <p:spPr/>
        <p:txBody>
          <a:bodyPr/>
          <a:lstStyle/>
          <a:p>
            <a:fld id="{21004690-02AB-4EF8-9513-CB283ECF7991}" type="slidenum">
              <a:rPr lang="en-BW" smtClean="0"/>
              <a:t>2</a:t>
            </a:fld>
            <a:endParaRPr lang="en-BW"/>
          </a:p>
        </p:txBody>
      </p:sp>
      <p:pic>
        <p:nvPicPr>
          <p:cNvPr id="9" name="Picture 8">
            <a:extLst>
              <a:ext uri="{FF2B5EF4-FFF2-40B4-BE49-F238E27FC236}">
                <a16:creationId xmlns:a16="http://schemas.microsoft.com/office/drawing/2014/main" id="{AE7B97A8-40E2-366C-963C-E078DED597C8}"/>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C9F311F-2556-2CCF-E041-21C75B441D44}"/>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43D21A0A-29EE-FFA8-3B33-06CC5056E226}"/>
              </a:ext>
            </a:extLst>
          </p:cNvPr>
          <p:cNvSpPr txBox="1"/>
          <p:nvPr/>
        </p:nvSpPr>
        <p:spPr>
          <a:xfrm>
            <a:off x="947970" y="1768388"/>
            <a:ext cx="5846022" cy="2241960"/>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DEFINITION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PROJECT OBJECTIVES</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METHODOLOGY</a:t>
            </a:r>
          </a:p>
        </p:txBody>
      </p:sp>
      <p:sp>
        <p:nvSpPr>
          <p:cNvPr id="11" name="Rectangle 10"/>
          <p:cNvSpPr/>
          <p:nvPr/>
        </p:nvSpPr>
        <p:spPr>
          <a:xfrm>
            <a:off x="109728" y="987552"/>
            <a:ext cx="2148840" cy="2514600"/>
          </a:xfrm>
          <a:prstGeom prst="rect">
            <a:avLst/>
          </a:prstGeom>
          <a:solidFill>
            <a:srgbClr val="068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1168" y="1060704"/>
            <a:ext cx="1965960" cy="384048"/>
          </a:xfrm>
          <a:prstGeom prst="rect">
            <a:avLst/>
          </a:prstGeom>
          <a:noFill/>
        </p:spPr>
        <p:txBody>
          <a:bodyPr wrap="square">
            <a:spAutoFit/>
          </a:bodyPr>
          <a:lstStyle/>
          <a:p>
            <a:pPr algn="ctr"/>
            <a:r>
              <a:rPr sz="1100" b="1" i="0">
                <a:solidFill>
                  <a:srgbClr val="FFFFFF"/>
                </a:solidFill>
                <a:latin typeface="Calibri"/>
              </a:rPr>
              <a:t>Mean Training Reward</a:t>
            </a:r>
          </a:p>
        </p:txBody>
      </p:sp>
      <p:sp>
        <p:nvSpPr>
          <p:cNvPr id="13" name="Rectangle 12"/>
          <p:cNvSpPr/>
          <p:nvPr/>
        </p:nvSpPr>
        <p:spPr>
          <a:xfrm>
            <a:off x="201168" y="1463040"/>
            <a:ext cx="1965960" cy="190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1554480"/>
            <a:ext cx="1965960" cy="1856232"/>
          </a:xfrm>
          <a:prstGeom prst="rect">
            <a:avLst/>
          </a:prstGeom>
          <a:noFill/>
        </p:spPr>
        <p:txBody>
          <a:bodyPr wrap="square">
            <a:spAutoFit/>
          </a:bodyPr>
          <a:lstStyle/>
          <a:p>
            <a:pPr algn="l"/>
            <a:r>
              <a:rPr sz="1000" b="0" i="0">
                <a:solidFill>
                  <a:srgbClr val="FFFFFF"/>
                </a:solidFill>
                <a:latin typeface="Calibri"/>
              </a:rPr>
              <a:t>−15 → −9 over 1.5M steps
Steep rise first 200k steps
Plateaus near −9 from 1M+
Oscillations = multi-agent non-stationarity</a:t>
            </a:r>
          </a:p>
        </p:txBody>
      </p:sp>
      <p:sp>
        <p:nvSpPr>
          <p:cNvPr id="15" name="Rectangle 14"/>
          <p:cNvSpPr/>
          <p:nvPr/>
        </p:nvSpPr>
        <p:spPr>
          <a:xfrm>
            <a:off x="2386584" y="987552"/>
            <a:ext cx="2148840" cy="25146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78024" y="1060704"/>
            <a:ext cx="1965960" cy="384048"/>
          </a:xfrm>
          <a:prstGeom prst="rect">
            <a:avLst/>
          </a:prstGeom>
          <a:noFill/>
        </p:spPr>
        <p:txBody>
          <a:bodyPr wrap="square">
            <a:spAutoFit/>
          </a:bodyPr>
          <a:lstStyle/>
          <a:p>
            <a:pPr algn="ctr"/>
            <a:r>
              <a:rPr sz="1100" b="1" i="0">
                <a:solidFill>
                  <a:srgbClr val="FFFFFF"/>
                </a:solidFill>
                <a:latin typeface="Calibri"/>
              </a:rPr>
              <a:t>Evaluation Reward
(most important)</a:t>
            </a:r>
          </a:p>
        </p:txBody>
      </p:sp>
      <p:sp>
        <p:nvSpPr>
          <p:cNvPr id="17" name="Rectangle 16"/>
          <p:cNvSpPr/>
          <p:nvPr/>
        </p:nvSpPr>
        <p:spPr>
          <a:xfrm>
            <a:off x="2478024" y="1463040"/>
            <a:ext cx="1965960" cy="190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78024" y="1554480"/>
            <a:ext cx="1965960" cy="1856232"/>
          </a:xfrm>
          <a:prstGeom prst="rect">
            <a:avLst/>
          </a:prstGeom>
          <a:noFill/>
        </p:spPr>
        <p:txBody>
          <a:bodyPr wrap="square">
            <a:spAutoFit/>
          </a:bodyPr>
          <a:lstStyle/>
          <a:p>
            <a:pPr algn="l"/>
            <a:r>
              <a:rPr sz="1000" b="0" i="0">
                <a:solidFill>
                  <a:srgbClr val="FFFFFF"/>
                </a:solidFill>
                <a:latin typeface="Calibri"/>
              </a:rPr>
              <a:t>−9 → near −2
78% reduction in penalty
Classic sigmoid learning curve
Clean plateau beyond 1M steps
Confirms stable cooperative policy</a:t>
            </a:r>
          </a:p>
        </p:txBody>
      </p:sp>
      <p:sp>
        <p:nvSpPr>
          <p:cNvPr id="19" name="Rectangle 18"/>
          <p:cNvSpPr/>
          <p:nvPr/>
        </p:nvSpPr>
        <p:spPr>
          <a:xfrm>
            <a:off x="4663440" y="987552"/>
            <a:ext cx="2148840" cy="25146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0" y="1060704"/>
            <a:ext cx="1965960" cy="384048"/>
          </a:xfrm>
          <a:prstGeom prst="rect">
            <a:avLst/>
          </a:prstGeom>
          <a:noFill/>
        </p:spPr>
        <p:txBody>
          <a:bodyPr wrap="square">
            <a:spAutoFit/>
          </a:bodyPr>
          <a:lstStyle/>
          <a:p>
            <a:pPr algn="ctr"/>
            <a:r>
              <a:rPr sz="1100" b="1" i="0">
                <a:solidFill>
                  <a:srgbClr val="FFFFFF"/>
                </a:solidFill>
                <a:latin typeface="Calibri"/>
              </a:rPr>
              <a:t>Centralised Critic Loss</a:t>
            </a:r>
          </a:p>
        </p:txBody>
      </p:sp>
      <p:sp>
        <p:nvSpPr>
          <p:cNvPr id="21" name="Rectangle 20"/>
          <p:cNvSpPr/>
          <p:nvPr/>
        </p:nvSpPr>
        <p:spPr>
          <a:xfrm>
            <a:off x="4754880" y="1463040"/>
            <a:ext cx="1965960" cy="190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0" y="1554480"/>
            <a:ext cx="1965960" cy="1856232"/>
          </a:xfrm>
          <a:prstGeom prst="rect">
            <a:avLst/>
          </a:prstGeom>
          <a:noFill/>
        </p:spPr>
        <p:txBody>
          <a:bodyPr wrap="square">
            <a:spAutoFit/>
          </a:bodyPr>
          <a:lstStyle/>
          <a:p>
            <a:pPr algn="l"/>
            <a:r>
              <a:rPr sz="1000" b="0" i="0">
                <a:solidFill>
                  <a:srgbClr val="FFFFFF"/>
                </a:solidFill>
                <a:latin typeface="Calibri"/>
              </a:rPr>
              <a:t>Starts at ~4.5 (uninitialised)
Drops sharply to ~1.5
Stabilises at 1.4–1.6
Prerequisite for reliable
advantage estimation</a:t>
            </a:r>
          </a:p>
        </p:txBody>
      </p:sp>
      <p:sp>
        <p:nvSpPr>
          <p:cNvPr id="23" name="Rectangle 22"/>
          <p:cNvSpPr/>
          <p:nvPr/>
        </p:nvSpPr>
        <p:spPr>
          <a:xfrm>
            <a:off x="6940296" y="987552"/>
            <a:ext cx="2148840" cy="2514600"/>
          </a:xfrm>
          <a:prstGeom prst="rect">
            <a:avLst/>
          </a:prstGeom>
          <a:solidFill>
            <a:srgbClr val="FB8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31736" y="1060704"/>
            <a:ext cx="1965960" cy="384048"/>
          </a:xfrm>
          <a:prstGeom prst="rect">
            <a:avLst/>
          </a:prstGeom>
          <a:noFill/>
        </p:spPr>
        <p:txBody>
          <a:bodyPr wrap="square">
            <a:spAutoFit/>
          </a:bodyPr>
          <a:lstStyle/>
          <a:p>
            <a:pPr algn="ctr"/>
            <a:r>
              <a:rPr sz="1100" b="1" i="0">
                <a:solidFill>
                  <a:srgbClr val="FFFFFF"/>
                </a:solidFill>
                <a:latin typeface="Calibri"/>
              </a:rPr>
              <a:t>Policy Entropy</a:t>
            </a:r>
          </a:p>
        </p:txBody>
      </p:sp>
      <p:sp>
        <p:nvSpPr>
          <p:cNvPr id="25" name="Rectangle 24"/>
          <p:cNvSpPr/>
          <p:nvPr/>
        </p:nvSpPr>
        <p:spPr>
          <a:xfrm>
            <a:off x="7031736" y="1463040"/>
            <a:ext cx="1965960" cy="190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31736" y="1554480"/>
            <a:ext cx="1965960" cy="1856232"/>
          </a:xfrm>
          <a:prstGeom prst="rect">
            <a:avLst/>
          </a:prstGeom>
          <a:noFill/>
        </p:spPr>
        <p:txBody>
          <a:bodyPr wrap="square">
            <a:spAutoFit/>
          </a:bodyPr>
          <a:lstStyle/>
          <a:p>
            <a:pPr algn="l"/>
            <a:r>
              <a:rPr sz="1000" b="0" i="0">
                <a:solidFill>
                  <a:srgbClr val="FFFFFF"/>
                </a:solidFill>
                <a:latin typeface="Calibri"/>
              </a:rPr>
              <a:t>0.95 → ~0.3 at convergence
Near-uniform → confident
Retains residual entropy
Healthy MAPPO profile —
not collapsed to zero</a:t>
            </a:r>
          </a:p>
        </p:txBody>
      </p:sp>
      <p:sp>
        <p:nvSpPr>
          <p:cNvPr id="27" name="Rectangle 26"/>
          <p:cNvSpPr/>
          <p:nvPr/>
        </p:nvSpPr>
        <p:spPr>
          <a:xfrm>
            <a:off x="109728" y="3703320"/>
            <a:ext cx="8924544" cy="1463040"/>
          </a:xfrm>
          <a:prstGeom prst="rect">
            <a:avLst/>
          </a:prstGeom>
          <a:solidFill>
            <a:srgbClr val="F0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1168" y="3767328"/>
            <a:ext cx="3657600" cy="256032"/>
          </a:xfrm>
          <a:prstGeom prst="rect">
            <a:avLst/>
          </a:prstGeom>
          <a:noFill/>
        </p:spPr>
        <p:txBody>
          <a:bodyPr wrap="square">
            <a:spAutoFit/>
          </a:bodyPr>
          <a:lstStyle/>
          <a:p>
            <a:pPr algn="l"/>
            <a:r>
              <a:rPr sz="1100" b="1" i="0">
                <a:solidFill>
                  <a:srgbClr val="1A1A2E"/>
                </a:solidFill>
                <a:latin typeface="Calibri"/>
              </a:rPr>
              <a:t>Actor Loss Arc</a:t>
            </a:r>
          </a:p>
        </p:txBody>
      </p:sp>
      <p:sp>
        <p:nvSpPr>
          <p:cNvPr id="29" name="TextBox 28"/>
          <p:cNvSpPr txBox="1"/>
          <p:nvPr/>
        </p:nvSpPr>
        <p:spPr>
          <a:xfrm>
            <a:off x="201168" y="4050791"/>
            <a:ext cx="4206240" cy="1024128"/>
          </a:xfrm>
          <a:prstGeom prst="rect">
            <a:avLst/>
          </a:prstGeom>
          <a:noFill/>
        </p:spPr>
        <p:txBody>
          <a:bodyPr wrap="square">
            <a:spAutoFit/>
          </a:bodyPr>
          <a:lstStyle/>
          <a:p>
            <a:pPr algn="l"/>
            <a:r>
              <a:rPr sz="1000" b="0" i="0">
                <a:solidFill>
                  <a:srgbClr val="1A1A2E"/>
                </a:solidFill>
                <a:latin typeface="Calibri"/>
              </a:rPr>
              <a:t>Begins near −0.004, rises to −0.002 mid-training (large gradients early on), then returns to −0.003 as PPO clipping activates less often. No spikes or sign changes — clipping prevented all destabilising updates.</a:t>
            </a:r>
          </a:p>
        </p:txBody>
      </p:sp>
      <p:sp>
        <p:nvSpPr>
          <p:cNvPr id="30" name="TextBox 29"/>
          <p:cNvSpPr txBox="1"/>
          <p:nvPr/>
        </p:nvSpPr>
        <p:spPr>
          <a:xfrm>
            <a:off x="4617720" y="3840480"/>
            <a:ext cx="4389120" cy="1143000"/>
          </a:xfrm>
          <a:prstGeom prst="rect">
            <a:avLst/>
          </a:prstGeom>
          <a:noFill/>
        </p:spPr>
        <p:txBody>
          <a:bodyPr wrap="square">
            <a:spAutoFit/>
          </a:bodyPr>
          <a:lstStyle/>
          <a:p>
            <a:pPr algn="ctr"/>
            <a:r>
              <a:rPr sz="1200" b="1" i="0">
                <a:solidFill>
                  <a:srgbClr val="0070C0"/>
                </a:solidFill>
                <a:latin typeface="Calibri"/>
              </a:rPr>
              <a:t>Key takeaway: evaluation reward plateau at −2 vs −9 at start is the strongest evidence the agents reached a stable, generalisable cooperative policy.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30543BC9-0A36-D103-DFD4-306B575710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26B2C97-FB7C-79E1-420B-896F537AB6E1}"/>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9</a:t>
            </a:r>
          </a:p>
        </p:txBody>
      </p:sp>
      <p:sp>
        <p:nvSpPr>
          <p:cNvPr id="5" name="Title 1">
            <a:extLst>
              <a:ext uri="{FF2B5EF4-FFF2-40B4-BE49-F238E27FC236}">
                <a16:creationId xmlns:a16="http://schemas.microsoft.com/office/drawing/2014/main" id="{28D268CF-EE2B-BFAD-1990-E839782D14C1}"/>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MAPPO EVALUATION — WAITING TIME &amp; QUEUE LENGTH</a:t>
            </a:r>
          </a:p>
        </p:txBody>
      </p:sp>
      <p:pic>
        <p:nvPicPr>
          <p:cNvPr id="6" name="Content Placeholder 4">
            <a:extLst>
              <a:ext uri="{FF2B5EF4-FFF2-40B4-BE49-F238E27FC236}">
                <a16:creationId xmlns:a16="http://schemas.microsoft.com/office/drawing/2014/main" id="{A98033F3-9D23-2E4B-5173-10B144B3F820}"/>
              </a:ext>
            </a:extLst>
          </p:cNvPr>
          <p:cNvPicPr>
            <a:picLocks noGrp="1" noChangeAspect="1"/>
          </p:cNvPicPr>
          <p:nvPr>
            <p:ph idx="1"/>
          </p:nvPr>
        </p:nvPicPr>
        <p:blipFill>
          <a:blip r:embed="rId3"/>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9FE04023-D31B-790E-00C7-F44B62D856DD}"/>
              </a:ext>
            </a:extLst>
          </p:cNvPr>
          <p:cNvSpPr>
            <a:spLocks noGrp="1"/>
          </p:cNvSpPr>
          <p:nvPr>
            <p:ph type="sldNum" sz="quarter" idx="12"/>
          </p:nvPr>
        </p:nvSpPr>
        <p:spPr/>
        <p:txBody>
          <a:bodyPr/>
          <a:lstStyle/>
          <a:p>
            <a:fld id="{21004690-02AB-4EF8-9513-CB283ECF7991}" type="slidenum">
              <a:rPr lang="en-BW" smtClean="0"/>
              <a:t>2</a:t>
            </a:fld>
            <a:endParaRPr lang="en-BW"/>
          </a:p>
        </p:txBody>
      </p:sp>
      <p:pic>
        <p:nvPicPr>
          <p:cNvPr id="9" name="Picture 8">
            <a:extLst>
              <a:ext uri="{FF2B5EF4-FFF2-40B4-BE49-F238E27FC236}">
                <a16:creationId xmlns:a16="http://schemas.microsoft.com/office/drawing/2014/main" id="{AE7B97A8-40E2-366C-963C-E078DED597C8}"/>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C9F311F-2556-2CCF-E041-21C75B441D44}"/>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43D21A0A-29EE-FFA8-3B33-06CC5056E226}"/>
              </a:ext>
            </a:extLst>
          </p:cNvPr>
          <p:cNvSpPr txBox="1"/>
          <p:nvPr/>
        </p:nvSpPr>
        <p:spPr>
          <a:xfrm>
            <a:off x="947970" y="1768388"/>
            <a:ext cx="5846022" cy="2241960"/>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DEFINITION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PROJECT OBJECTIVES</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METHODOLOGY</a:t>
            </a:r>
          </a:p>
        </p:txBody>
      </p:sp>
      <p:sp>
        <p:nvSpPr>
          <p:cNvPr id="11" name="TextBox 10"/>
          <p:cNvSpPr txBox="1"/>
          <p:nvPr/>
        </p:nvSpPr>
        <p:spPr>
          <a:xfrm>
            <a:off x="137160" y="960120"/>
            <a:ext cx="8869680" cy="228600"/>
          </a:xfrm>
          <a:prstGeom prst="rect">
            <a:avLst/>
          </a:prstGeom>
          <a:noFill/>
        </p:spPr>
        <p:txBody>
          <a:bodyPr wrap="square">
            <a:spAutoFit/>
          </a:bodyPr>
          <a:lstStyle/>
          <a:p>
            <a:pPr algn="ctr"/>
            <a:r>
              <a:rPr sz="1100" b="0" i="1">
                <a:solidFill>
                  <a:srgbClr val="555555"/>
                </a:solidFill>
                <a:latin typeface="Calibri"/>
              </a:rPr>
              <a:t>All metrics at TL_A (junction 6073919354)  •  n=3 episodes per cell</a:t>
            </a:r>
          </a:p>
        </p:txBody>
      </p:sp>
      <p:sp>
        <p:nvSpPr>
          <p:cNvPr id="12" name="TextBox 11"/>
          <p:cNvSpPr txBox="1"/>
          <p:nvPr/>
        </p:nvSpPr>
        <p:spPr>
          <a:xfrm>
            <a:off x="137160" y="1234440"/>
            <a:ext cx="4480560" cy="256032"/>
          </a:xfrm>
          <a:prstGeom prst="rect">
            <a:avLst/>
          </a:prstGeom>
          <a:noFill/>
        </p:spPr>
        <p:txBody>
          <a:bodyPr wrap="square">
            <a:spAutoFit/>
          </a:bodyPr>
          <a:lstStyle/>
          <a:p>
            <a:pPr algn="l"/>
            <a:r>
              <a:rPr sz="1100" b="1" i="0">
                <a:solidFill>
                  <a:srgbClr val="0070C0"/>
                </a:solidFill>
                <a:latin typeface="Calibri"/>
              </a:rPr>
              <a:t>Mean Waiting Time per Lane (s)</a:t>
            </a:r>
          </a:p>
        </p:txBody>
      </p:sp>
      <p:sp>
        <p:nvSpPr>
          <p:cNvPr id="13" name="Rectangle 12"/>
          <p:cNvSpPr/>
          <p:nvPr/>
        </p:nvSpPr>
        <p:spPr>
          <a:xfrm>
            <a:off x="137160" y="1508760"/>
            <a:ext cx="141732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 y="1536192"/>
            <a:ext cx="1325880" cy="265176"/>
          </a:xfrm>
          <a:prstGeom prst="rect">
            <a:avLst/>
          </a:prstGeom>
          <a:noFill/>
        </p:spPr>
        <p:txBody>
          <a:bodyPr wrap="square">
            <a:spAutoFit/>
          </a:bodyPr>
          <a:lstStyle/>
          <a:p>
            <a:pPr algn="ctr"/>
            <a:r>
              <a:rPr sz="1000" b="1" i="0">
                <a:solidFill>
                  <a:srgbClr val="FFFFFF"/>
                </a:solidFill>
                <a:latin typeface="Calibri"/>
              </a:rPr>
              <a:t>Scenario</a:t>
            </a:r>
          </a:p>
        </p:txBody>
      </p:sp>
      <p:sp>
        <p:nvSpPr>
          <p:cNvPr id="15" name="Rectangle 14"/>
          <p:cNvSpPr/>
          <p:nvPr/>
        </p:nvSpPr>
        <p:spPr>
          <a:xfrm>
            <a:off x="1554480" y="1508760"/>
            <a:ext cx="77724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00200" y="1536192"/>
            <a:ext cx="685800" cy="265176"/>
          </a:xfrm>
          <a:prstGeom prst="rect">
            <a:avLst/>
          </a:prstGeom>
          <a:noFill/>
        </p:spPr>
        <p:txBody>
          <a:bodyPr wrap="square">
            <a:spAutoFit/>
          </a:bodyPr>
          <a:lstStyle/>
          <a:p>
            <a:pPr algn="ctr"/>
            <a:r>
              <a:rPr sz="1000" b="1" i="0">
                <a:solidFill>
                  <a:srgbClr val="FFFFFF"/>
                </a:solidFill>
                <a:latin typeface="Calibri"/>
              </a:rPr>
              <a:t>MAPPO</a:t>
            </a:r>
          </a:p>
        </p:txBody>
      </p:sp>
      <p:sp>
        <p:nvSpPr>
          <p:cNvPr id="17" name="Rectangle 16"/>
          <p:cNvSpPr/>
          <p:nvPr/>
        </p:nvSpPr>
        <p:spPr>
          <a:xfrm>
            <a:off x="2331720" y="1508760"/>
            <a:ext cx="77724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77440" y="1536192"/>
            <a:ext cx="685800" cy="265176"/>
          </a:xfrm>
          <a:prstGeom prst="rect">
            <a:avLst/>
          </a:prstGeom>
          <a:noFill/>
        </p:spPr>
        <p:txBody>
          <a:bodyPr wrap="square">
            <a:spAutoFit/>
          </a:bodyPr>
          <a:lstStyle/>
          <a:p>
            <a:pPr algn="ctr"/>
            <a:r>
              <a:rPr sz="1000" b="1" i="0">
                <a:solidFill>
                  <a:srgbClr val="FFFFFF"/>
                </a:solidFill>
                <a:latin typeface="Calibri"/>
              </a:rPr>
              <a:t>Fixed</a:t>
            </a:r>
          </a:p>
        </p:txBody>
      </p:sp>
      <p:sp>
        <p:nvSpPr>
          <p:cNvPr id="19" name="Rectangle 18"/>
          <p:cNvSpPr/>
          <p:nvPr/>
        </p:nvSpPr>
        <p:spPr>
          <a:xfrm>
            <a:off x="3108960" y="1508760"/>
            <a:ext cx="91440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54680" y="1536192"/>
            <a:ext cx="822960" cy="265176"/>
          </a:xfrm>
          <a:prstGeom prst="rect">
            <a:avLst/>
          </a:prstGeom>
          <a:noFill/>
        </p:spPr>
        <p:txBody>
          <a:bodyPr wrap="square">
            <a:spAutoFit/>
          </a:bodyPr>
          <a:lstStyle/>
          <a:p>
            <a:pPr algn="ctr"/>
            <a:r>
              <a:rPr sz="1000" b="1" i="0">
                <a:solidFill>
                  <a:srgbClr val="FFFFFF"/>
                </a:solidFill>
                <a:latin typeface="Calibri"/>
              </a:rPr>
              <a:t>vs Fixed</a:t>
            </a:r>
          </a:p>
        </p:txBody>
      </p:sp>
      <p:sp>
        <p:nvSpPr>
          <p:cNvPr id="21" name="Rectangle 20"/>
          <p:cNvSpPr/>
          <p:nvPr/>
        </p:nvSpPr>
        <p:spPr>
          <a:xfrm>
            <a:off x="137160" y="1828800"/>
            <a:ext cx="14173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856232"/>
            <a:ext cx="1325880" cy="265176"/>
          </a:xfrm>
          <a:prstGeom prst="rect">
            <a:avLst/>
          </a:prstGeom>
          <a:noFill/>
        </p:spPr>
        <p:txBody>
          <a:bodyPr wrap="square">
            <a:spAutoFit/>
          </a:bodyPr>
          <a:lstStyle/>
          <a:p>
            <a:pPr algn="ctr"/>
            <a:r>
              <a:rPr sz="1000" b="0" i="0">
                <a:solidFill>
                  <a:srgbClr val="1A1A2E"/>
                </a:solidFill>
                <a:latin typeface="Calibri"/>
              </a:rPr>
              <a:t>low</a:t>
            </a:r>
          </a:p>
        </p:txBody>
      </p:sp>
      <p:sp>
        <p:nvSpPr>
          <p:cNvPr id="23" name="Rectangle 22"/>
          <p:cNvSpPr/>
          <p:nvPr/>
        </p:nvSpPr>
        <p:spPr>
          <a:xfrm>
            <a:off x="1554480" y="1828800"/>
            <a:ext cx="77724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1856232"/>
            <a:ext cx="685800" cy="265176"/>
          </a:xfrm>
          <a:prstGeom prst="rect">
            <a:avLst/>
          </a:prstGeom>
          <a:noFill/>
        </p:spPr>
        <p:txBody>
          <a:bodyPr wrap="square">
            <a:spAutoFit/>
          </a:bodyPr>
          <a:lstStyle/>
          <a:p>
            <a:pPr algn="ctr"/>
            <a:r>
              <a:rPr sz="1000" b="0" i="0">
                <a:solidFill>
                  <a:srgbClr val="1A1A2E"/>
                </a:solidFill>
                <a:latin typeface="Calibri"/>
              </a:rPr>
              <a:t>0.06</a:t>
            </a:r>
          </a:p>
        </p:txBody>
      </p:sp>
      <p:sp>
        <p:nvSpPr>
          <p:cNvPr id="25" name="Rectangle 24"/>
          <p:cNvSpPr/>
          <p:nvPr/>
        </p:nvSpPr>
        <p:spPr>
          <a:xfrm>
            <a:off x="2331720" y="1828800"/>
            <a:ext cx="77724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77440" y="1856232"/>
            <a:ext cx="685800" cy="265176"/>
          </a:xfrm>
          <a:prstGeom prst="rect">
            <a:avLst/>
          </a:prstGeom>
          <a:noFill/>
        </p:spPr>
        <p:txBody>
          <a:bodyPr wrap="square">
            <a:spAutoFit/>
          </a:bodyPr>
          <a:lstStyle/>
          <a:p>
            <a:pPr algn="ctr"/>
            <a:r>
              <a:rPr sz="1000" b="0" i="0">
                <a:solidFill>
                  <a:srgbClr val="1A1A2E"/>
                </a:solidFill>
                <a:latin typeface="Calibri"/>
              </a:rPr>
              <a:t>0.97</a:t>
            </a:r>
          </a:p>
        </p:txBody>
      </p:sp>
      <p:sp>
        <p:nvSpPr>
          <p:cNvPr id="27" name="Rectangle 26"/>
          <p:cNvSpPr/>
          <p:nvPr/>
        </p:nvSpPr>
        <p:spPr>
          <a:xfrm>
            <a:off x="3108960" y="1828800"/>
            <a:ext cx="91440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54680" y="1856232"/>
            <a:ext cx="822960" cy="265176"/>
          </a:xfrm>
          <a:prstGeom prst="rect">
            <a:avLst/>
          </a:prstGeom>
          <a:noFill/>
        </p:spPr>
        <p:txBody>
          <a:bodyPr wrap="square">
            <a:spAutoFit/>
          </a:bodyPr>
          <a:lstStyle/>
          <a:p>
            <a:pPr algn="ctr"/>
            <a:r>
              <a:rPr sz="1000" b="1" i="0">
                <a:solidFill>
                  <a:srgbClr val="068A4C"/>
                </a:solidFill>
                <a:latin typeface="Calibri"/>
              </a:rPr>
              <a:t>−94.3%</a:t>
            </a:r>
          </a:p>
        </p:txBody>
      </p:sp>
      <p:sp>
        <p:nvSpPr>
          <p:cNvPr id="29" name="Rectangle 28"/>
          <p:cNvSpPr/>
          <p:nvPr/>
        </p:nvSpPr>
        <p:spPr>
          <a:xfrm>
            <a:off x="137160" y="2148840"/>
            <a:ext cx="14173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82880" y="2176272"/>
            <a:ext cx="1325880" cy="265176"/>
          </a:xfrm>
          <a:prstGeom prst="rect">
            <a:avLst/>
          </a:prstGeom>
          <a:noFill/>
        </p:spPr>
        <p:txBody>
          <a:bodyPr wrap="square">
            <a:spAutoFit/>
          </a:bodyPr>
          <a:lstStyle/>
          <a:p>
            <a:pPr algn="ctr"/>
            <a:r>
              <a:rPr sz="1000" b="0" i="0">
                <a:solidFill>
                  <a:srgbClr val="1A1A2E"/>
                </a:solidFill>
                <a:latin typeface="Calibri"/>
              </a:rPr>
              <a:t>normal</a:t>
            </a:r>
          </a:p>
        </p:txBody>
      </p:sp>
      <p:sp>
        <p:nvSpPr>
          <p:cNvPr id="31" name="Rectangle 30"/>
          <p:cNvSpPr/>
          <p:nvPr/>
        </p:nvSpPr>
        <p:spPr>
          <a:xfrm>
            <a:off x="1554480" y="2148840"/>
            <a:ext cx="77724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00200" y="2176272"/>
            <a:ext cx="685800" cy="265176"/>
          </a:xfrm>
          <a:prstGeom prst="rect">
            <a:avLst/>
          </a:prstGeom>
          <a:noFill/>
        </p:spPr>
        <p:txBody>
          <a:bodyPr wrap="square">
            <a:spAutoFit/>
          </a:bodyPr>
          <a:lstStyle/>
          <a:p>
            <a:pPr algn="ctr"/>
            <a:r>
              <a:rPr sz="1000" b="0" i="0">
                <a:solidFill>
                  <a:srgbClr val="1A1A2E"/>
                </a:solidFill>
                <a:latin typeface="Calibri"/>
              </a:rPr>
              <a:t>0.19</a:t>
            </a:r>
          </a:p>
        </p:txBody>
      </p:sp>
      <p:sp>
        <p:nvSpPr>
          <p:cNvPr id="33" name="Rectangle 32"/>
          <p:cNvSpPr/>
          <p:nvPr/>
        </p:nvSpPr>
        <p:spPr>
          <a:xfrm>
            <a:off x="2331720" y="2148840"/>
            <a:ext cx="77724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77440" y="2176272"/>
            <a:ext cx="685800" cy="265176"/>
          </a:xfrm>
          <a:prstGeom prst="rect">
            <a:avLst/>
          </a:prstGeom>
          <a:noFill/>
        </p:spPr>
        <p:txBody>
          <a:bodyPr wrap="square">
            <a:spAutoFit/>
          </a:bodyPr>
          <a:lstStyle/>
          <a:p>
            <a:pPr algn="ctr"/>
            <a:r>
              <a:rPr sz="1000" b="0" i="0">
                <a:solidFill>
                  <a:srgbClr val="1A1A2E"/>
                </a:solidFill>
                <a:latin typeface="Calibri"/>
              </a:rPr>
              <a:t>2.18</a:t>
            </a:r>
          </a:p>
        </p:txBody>
      </p:sp>
      <p:sp>
        <p:nvSpPr>
          <p:cNvPr id="35" name="Rectangle 34"/>
          <p:cNvSpPr/>
          <p:nvPr/>
        </p:nvSpPr>
        <p:spPr>
          <a:xfrm>
            <a:off x="3108960" y="2148840"/>
            <a:ext cx="91440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154680" y="2176272"/>
            <a:ext cx="822960" cy="265176"/>
          </a:xfrm>
          <a:prstGeom prst="rect">
            <a:avLst/>
          </a:prstGeom>
          <a:noFill/>
        </p:spPr>
        <p:txBody>
          <a:bodyPr wrap="square">
            <a:spAutoFit/>
          </a:bodyPr>
          <a:lstStyle/>
          <a:p>
            <a:pPr algn="ctr"/>
            <a:r>
              <a:rPr sz="1000" b="1" i="0">
                <a:solidFill>
                  <a:srgbClr val="068A4C"/>
                </a:solidFill>
                <a:latin typeface="Calibri"/>
              </a:rPr>
              <a:t>−91.4%</a:t>
            </a:r>
          </a:p>
        </p:txBody>
      </p:sp>
      <p:sp>
        <p:nvSpPr>
          <p:cNvPr id="37" name="Rectangle 36"/>
          <p:cNvSpPr/>
          <p:nvPr/>
        </p:nvSpPr>
        <p:spPr>
          <a:xfrm>
            <a:off x="137160" y="2468880"/>
            <a:ext cx="14173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82880" y="2496312"/>
            <a:ext cx="1325880" cy="265176"/>
          </a:xfrm>
          <a:prstGeom prst="rect">
            <a:avLst/>
          </a:prstGeom>
          <a:noFill/>
        </p:spPr>
        <p:txBody>
          <a:bodyPr wrap="square">
            <a:spAutoFit/>
          </a:bodyPr>
          <a:lstStyle/>
          <a:p>
            <a:pPr algn="ctr"/>
            <a:r>
              <a:rPr sz="1000" b="0" i="0">
                <a:solidFill>
                  <a:srgbClr val="1A1A2E"/>
                </a:solidFill>
                <a:latin typeface="Calibri"/>
              </a:rPr>
              <a:t>rush_hour_am</a:t>
            </a:r>
          </a:p>
        </p:txBody>
      </p:sp>
      <p:sp>
        <p:nvSpPr>
          <p:cNvPr id="39" name="Rectangle 38"/>
          <p:cNvSpPr/>
          <p:nvPr/>
        </p:nvSpPr>
        <p:spPr>
          <a:xfrm>
            <a:off x="1554480" y="2468880"/>
            <a:ext cx="77724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600200" y="2496312"/>
            <a:ext cx="685800" cy="265176"/>
          </a:xfrm>
          <a:prstGeom prst="rect">
            <a:avLst/>
          </a:prstGeom>
          <a:noFill/>
        </p:spPr>
        <p:txBody>
          <a:bodyPr wrap="square">
            <a:spAutoFit/>
          </a:bodyPr>
          <a:lstStyle/>
          <a:p>
            <a:pPr algn="ctr"/>
            <a:r>
              <a:rPr sz="1000" b="0" i="0">
                <a:solidFill>
                  <a:srgbClr val="1A1A2E"/>
                </a:solidFill>
                <a:latin typeface="Calibri"/>
              </a:rPr>
              <a:t>4.02</a:t>
            </a:r>
          </a:p>
        </p:txBody>
      </p:sp>
      <p:sp>
        <p:nvSpPr>
          <p:cNvPr id="41" name="Rectangle 40"/>
          <p:cNvSpPr/>
          <p:nvPr/>
        </p:nvSpPr>
        <p:spPr>
          <a:xfrm>
            <a:off x="2331720" y="2468880"/>
            <a:ext cx="77724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377440" y="2496312"/>
            <a:ext cx="685800" cy="265176"/>
          </a:xfrm>
          <a:prstGeom prst="rect">
            <a:avLst/>
          </a:prstGeom>
          <a:noFill/>
        </p:spPr>
        <p:txBody>
          <a:bodyPr wrap="square">
            <a:spAutoFit/>
          </a:bodyPr>
          <a:lstStyle/>
          <a:p>
            <a:pPr algn="ctr"/>
            <a:r>
              <a:rPr sz="1000" b="0" i="0">
                <a:solidFill>
                  <a:srgbClr val="1A1A2E"/>
                </a:solidFill>
                <a:latin typeface="Calibri"/>
              </a:rPr>
              <a:t>5.90</a:t>
            </a:r>
          </a:p>
        </p:txBody>
      </p:sp>
      <p:sp>
        <p:nvSpPr>
          <p:cNvPr id="43" name="Rectangle 42"/>
          <p:cNvSpPr/>
          <p:nvPr/>
        </p:nvSpPr>
        <p:spPr>
          <a:xfrm>
            <a:off x="3108960" y="2468880"/>
            <a:ext cx="91440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154680" y="2496312"/>
            <a:ext cx="822960" cy="265176"/>
          </a:xfrm>
          <a:prstGeom prst="rect">
            <a:avLst/>
          </a:prstGeom>
          <a:noFill/>
        </p:spPr>
        <p:txBody>
          <a:bodyPr wrap="square">
            <a:spAutoFit/>
          </a:bodyPr>
          <a:lstStyle/>
          <a:p>
            <a:pPr algn="ctr"/>
            <a:r>
              <a:rPr sz="1000" b="1" i="0">
                <a:solidFill>
                  <a:srgbClr val="068A4C"/>
                </a:solidFill>
                <a:latin typeface="Calibri"/>
              </a:rPr>
              <a:t>−31.8%</a:t>
            </a:r>
          </a:p>
        </p:txBody>
      </p:sp>
      <p:sp>
        <p:nvSpPr>
          <p:cNvPr id="45" name="Rectangle 44"/>
          <p:cNvSpPr/>
          <p:nvPr/>
        </p:nvSpPr>
        <p:spPr>
          <a:xfrm>
            <a:off x="137160" y="2788920"/>
            <a:ext cx="14173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82880" y="2816352"/>
            <a:ext cx="1325880" cy="265176"/>
          </a:xfrm>
          <a:prstGeom prst="rect">
            <a:avLst/>
          </a:prstGeom>
          <a:noFill/>
        </p:spPr>
        <p:txBody>
          <a:bodyPr wrap="square">
            <a:spAutoFit/>
          </a:bodyPr>
          <a:lstStyle/>
          <a:p>
            <a:pPr algn="ctr"/>
            <a:r>
              <a:rPr sz="1000" b="0" i="0">
                <a:solidFill>
                  <a:srgbClr val="1A1A2E"/>
                </a:solidFill>
                <a:latin typeface="Calibri"/>
              </a:rPr>
              <a:t>rush_hour_pm</a:t>
            </a:r>
          </a:p>
        </p:txBody>
      </p:sp>
      <p:sp>
        <p:nvSpPr>
          <p:cNvPr id="47" name="Rectangle 46"/>
          <p:cNvSpPr/>
          <p:nvPr/>
        </p:nvSpPr>
        <p:spPr>
          <a:xfrm>
            <a:off x="1554480" y="2788920"/>
            <a:ext cx="77724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600200" y="2816352"/>
            <a:ext cx="685800" cy="265176"/>
          </a:xfrm>
          <a:prstGeom prst="rect">
            <a:avLst/>
          </a:prstGeom>
          <a:noFill/>
        </p:spPr>
        <p:txBody>
          <a:bodyPr wrap="square">
            <a:spAutoFit/>
          </a:bodyPr>
          <a:lstStyle/>
          <a:p>
            <a:pPr algn="ctr"/>
            <a:r>
              <a:rPr sz="1000" b="0" i="0">
                <a:solidFill>
                  <a:srgbClr val="1A1A2E"/>
                </a:solidFill>
                <a:latin typeface="Calibri"/>
              </a:rPr>
              <a:t>0.07</a:t>
            </a:r>
          </a:p>
        </p:txBody>
      </p:sp>
      <p:sp>
        <p:nvSpPr>
          <p:cNvPr id="49" name="Rectangle 48"/>
          <p:cNvSpPr/>
          <p:nvPr/>
        </p:nvSpPr>
        <p:spPr>
          <a:xfrm>
            <a:off x="2331720" y="2788920"/>
            <a:ext cx="77724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377440" y="2816352"/>
            <a:ext cx="685800" cy="265176"/>
          </a:xfrm>
          <a:prstGeom prst="rect">
            <a:avLst/>
          </a:prstGeom>
          <a:noFill/>
        </p:spPr>
        <p:txBody>
          <a:bodyPr wrap="square">
            <a:spAutoFit/>
          </a:bodyPr>
          <a:lstStyle/>
          <a:p>
            <a:pPr algn="ctr"/>
            <a:r>
              <a:rPr sz="1000" b="0" i="0">
                <a:solidFill>
                  <a:srgbClr val="1A1A2E"/>
                </a:solidFill>
                <a:latin typeface="Calibri"/>
              </a:rPr>
              <a:t>2.49</a:t>
            </a:r>
          </a:p>
        </p:txBody>
      </p:sp>
      <p:sp>
        <p:nvSpPr>
          <p:cNvPr id="51" name="Rectangle 50"/>
          <p:cNvSpPr/>
          <p:nvPr/>
        </p:nvSpPr>
        <p:spPr>
          <a:xfrm>
            <a:off x="3108960" y="2788920"/>
            <a:ext cx="91440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154680" y="2816352"/>
            <a:ext cx="822960" cy="265176"/>
          </a:xfrm>
          <a:prstGeom prst="rect">
            <a:avLst/>
          </a:prstGeom>
          <a:noFill/>
        </p:spPr>
        <p:txBody>
          <a:bodyPr wrap="square">
            <a:spAutoFit/>
          </a:bodyPr>
          <a:lstStyle/>
          <a:p>
            <a:pPr algn="ctr"/>
            <a:r>
              <a:rPr sz="1000" b="1" i="0">
                <a:solidFill>
                  <a:srgbClr val="068A4C"/>
                </a:solidFill>
                <a:latin typeface="Calibri"/>
              </a:rPr>
              <a:t>−97.3%</a:t>
            </a:r>
          </a:p>
        </p:txBody>
      </p:sp>
      <p:sp>
        <p:nvSpPr>
          <p:cNvPr id="53" name="Rectangle 52"/>
          <p:cNvSpPr/>
          <p:nvPr/>
        </p:nvSpPr>
        <p:spPr>
          <a:xfrm>
            <a:off x="137160" y="3108960"/>
            <a:ext cx="14173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82880" y="3136392"/>
            <a:ext cx="1325880" cy="265176"/>
          </a:xfrm>
          <a:prstGeom prst="rect">
            <a:avLst/>
          </a:prstGeom>
          <a:noFill/>
        </p:spPr>
        <p:txBody>
          <a:bodyPr wrap="square">
            <a:spAutoFit/>
          </a:bodyPr>
          <a:lstStyle/>
          <a:p>
            <a:pPr algn="ctr"/>
            <a:r>
              <a:rPr sz="1000" b="0" i="0">
                <a:solidFill>
                  <a:srgbClr val="1A1A2E"/>
                </a:solidFill>
                <a:latin typeface="Calibri"/>
              </a:rPr>
              <a:t>holiday</a:t>
            </a:r>
          </a:p>
        </p:txBody>
      </p:sp>
      <p:sp>
        <p:nvSpPr>
          <p:cNvPr id="55" name="Rectangle 54"/>
          <p:cNvSpPr/>
          <p:nvPr/>
        </p:nvSpPr>
        <p:spPr>
          <a:xfrm>
            <a:off x="1554480" y="3108960"/>
            <a:ext cx="77724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600200" y="3136392"/>
            <a:ext cx="685800" cy="265176"/>
          </a:xfrm>
          <a:prstGeom prst="rect">
            <a:avLst/>
          </a:prstGeom>
          <a:noFill/>
        </p:spPr>
        <p:txBody>
          <a:bodyPr wrap="square">
            <a:spAutoFit/>
          </a:bodyPr>
          <a:lstStyle/>
          <a:p>
            <a:pPr algn="ctr"/>
            <a:r>
              <a:rPr sz="1000" b="0" i="0">
                <a:solidFill>
                  <a:srgbClr val="1A1A2E"/>
                </a:solidFill>
                <a:latin typeface="Calibri"/>
              </a:rPr>
              <a:t>0.35</a:t>
            </a:r>
          </a:p>
        </p:txBody>
      </p:sp>
      <p:sp>
        <p:nvSpPr>
          <p:cNvPr id="57" name="Rectangle 56"/>
          <p:cNvSpPr/>
          <p:nvPr/>
        </p:nvSpPr>
        <p:spPr>
          <a:xfrm>
            <a:off x="2331720" y="3108960"/>
            <a:ext cx="77724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377440" y="3136392"/>
            <a:ext cx="685800" cy="265176"/>
          </a:xfrm>
          <a:prstGeom prst="rect">
            <a:avLst/>
          </a:prstGeom>
          <a:noFill/>
        </p:spPr>
        <p:txBody>
          <a:bodyPr wrap="square">
            <a:spAutoFit/>
          </a:bodyPr>
          <a:lstStyle/>
          <a:p>
            <a:pPr algn="ctr"/>
            <a:r>
              <a:rPr sz="1000" b="0" i="0">
                <a:solidFill>
                  <a:srgbClr val="1A1A2E"/>
                </a:solidFill>
                <a:latin typeface="Calibri"/>
              </a:rPr>
              <a:t>5.73</a:t>
            </a:r>
          </a:p>
        </p:txBody>
      </p:sp>
      <p:sp>
        <p:nvSpPr>
          <p:cNvPr id="59" name="Rectangle 58"/>
          <p:cNvSpPr/>
          <p:nvPr/>
        </p:nvSpPr>
        <p:spPr>
          <a:xfrm>
            <a:off x="3108960" y="3108960"/>
            <a:ext cx="91440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154680" y="3136392"/>
            <a:ext cx="822960" cy="265176"/>
          </a:xfrm>
          <a:prstGeom prst="rect">
            <a:avLst/>
          </a:prstGeom>
          <a:noFill/>
        </p:spPr>
        <p:txBody>
          <a:bodyPr wrap="square">
            <a:spAutoFit/>
          </a:bodyPr>
          <a:lstStyle/>
          <a:p>
            <a:pPr algn="ctr"/>
            <a:r>
              <a:rPr sz="1000" b="1" i="0">
                <a:solidFill>
                  <a:srgbClr val="068A4C"/>
                </a:solidFill>
                <a:latin typeface="Calibri"/>
              </a:rPr>
              <a:t>−93.9%</a:t>
            </a:r>
          </a:p>
        </p:txBody>
      </p:sp>
      <p:sp>
        <p:nvSpPr>
          <p:cNvPr id="61" name="Rectangle 60"/>
          <p:cNvSpPr/>
          <p:nvPr/>
        </p:nvSpPr>
        <p:spPr>
          <a:xfrm>
            <a:off x="137160" y="3429000"/>
            <a:ext cx="14173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82880" y="3456432"/>
            <a:ext cx="1325880" cy="265176"/>
          </a:xfrm>
          <a:prstGeom prst="rect">
            <a:avLst/>
          </a:prstGeom>
          <a:noFill/>
        </p:spPr>
        <p:txBody>
          <a:bodyPr wrap="square">
            <a:spAutoFit/>
          </a:bodyPr>
          <a:lstStyle/>
          <a:p>
            <a:pPr algn="ctr"/>
            <a:r>
              <a:rPr sz="1000" b="0" i="0">
                <a:solidFill>
                  <a:srgbClr val="1A1A2E"/>
                </a:solidFill>
                <a:latin typeface="Calibri"/>
              </a:rPr>
              <a:t>incident</a:t>
            </a:r>
          </a:p>
        </p:txBody>
      </p:sp>
      <p:sp>
        <p:nvSpPr>
          <p:cNvPr id="63" name="Rectangle 62"/>
          <p:cNvSpPr/>
          <p:nvPr/>
        </p:nvSpPr>
        <p:spPr>
          <a:xfrm>
            <a:off x="1554480" y="3429000"/>
            <a:ext cx="77724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600200" y="3456432"/>
            <a:ext cx="685800" cy="265176"/>
          </a:xfrm>
          <a:prstGeom prst="rect">
            <a:avLst/>
          </a:prstGeom>
          <a:noFill/>
        </p:spPr>
        <p:txBody>
          <a:bodyPr wrap="square">
            <a:spAutoFit/>
          </a:bodyPr>
          <a:lstStyle/>
          <a:p>
            <a:pPr algn="ctr"/>
            <a:r>
              <a:rPr sz="1000" b="0" i="0">
                <a:solidFill>
                  <a:srgbClr val="1A1A2E"/>
                </a:solidFill>
                <a:latin typeface="Calibri"/>
              </a:rPr>
              <a:t>0.09</a:t>
            </a:r>
          </a:p>
        </p:txBody>
      </p:sp>
      <p:sp>
        <p:nvSpPr>
          <p:cNvPr id="65" name="Rectangle 64"/>
          <p:cNvSpPr/>
          <p:nvPr/>
        </p:nvSpPr>
        <p:spPr>
          <a:xfrm>
            <a:off x="2331720" y="3429000"/>
            <a:ext cx="77724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377440" y="3456432"/>
            <a:ext cx="685800" cy="265176"/>
          </a:xfrm>
          <a:prstGeom prst="rect">
            <a:avLst/>
          </a:prstGeom>
          <a:noFill/>
        </p:spPr>
        <p:txBody>
          <a:bodyPr wrap="square">
            <a:spAutoFit/>
          </a:bodyPr>
          <a:lstStyle/>
          <a:p>
            <a:pPr algn="ctr"/>
            <a:r>
              <a:rPr sz="1000" b="0" i="0">
                <a:solidFill>
                  <a:srgbClr val="1A1A2E"/>
                </a:solidFill>
                <a:latin typeface="Calibri"/>
              </a:rPr>
              <a:t>1.34</a:t>
            </a:r>
          </a:p>
        </p:txBody>
      </p:sp>
      <p:sp>
        <p:nvSpPr>
          <p:cNvPr id="67" name="Rectangle 66"/>
          <p:cNvSpPr/>
          <p:nvPr/>
        </p:nvSpPr>
        <p:spPr>
          <a:xfrm>
            <a:off x="3108960" y="3429000"/>
            <a:ext cx="91440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54680" y="3456432"/>
            <a:ext cx="822960" cy="265176"/>
          </a:xfrm>
          <a:prstGeom prst="rect">
            <a:avLst/>
          </a:prstGeom>
          <a:noFill/>
        </p:spPr>
        <p:txBody>
          <a:bodyPr wrap="square">
            <a:spAutoFit/>
          </a:bodyPr>
          <a:lstStyle/>
          <a:p>
            <a:pPr algn="ctr"/>
            <a:r>
              <a:rPr sz="1000" b="1" i="0">
                <a:solidFill>
                  <a:srgbClr val="068A4C"/>
                </a:solidFill>
                <a:latin typeface="Calibri"/>
              </a:rPr>
              <a:t>−93.5%</a:t>
            </a:r>
          </a:p>
        </p:txBody>
      </p:sp>
      <p:sp>
        <p:nvSpPr>
          <p:cNvPr id="69" name="TextBox 68"/>
          <p:cNvSpPr txBox="1"/>
          <p:nvPr/>
        </p:nvSpPr>
        <p:spPr>
          <a:xfrm>
            <a:off x="4754880" y="1234440"/>
            <a:ext cx="4297680" cy="256032"/>
          </a:xfrm>
          <a:prstGeom prst="rect">
            <a:avLst/>
          </a:prstGeom>
          <a:noFill/>
        </p:spPr>
        <p:txBody>
          <a:bodyPr wrap="square">
            <a:spAutoFit/>
          </a:bodyPr>
          <a:lstStyle/>
          <a:p>
            <a:pPr algn="l"/>
            <a:r>
              <a:rPr sz="1100" b="1" i="0">
                <a:solidFill>
                  <a:srgbClr val="0070C0"/>
                </a:solidFill>
                <a:latin typeface="Calibri"/>
              </a:rPr>
              <a:t>Mean Queue Length (halting veh / lane)</a:t>
            </a:r>
          </a:p>
        </p:txBody>
      </p:sp>
      <p:sp>
        <p:nvSpPr>
          <p:cNvPr id="70" name="Rectangle 69"/>
          <p:cNvSpPr/>
          <p:nvPr/>
        </p:nvSpPr>
        <p:spPr>
          <a:xfrm>
            <a:off x="4754880" y="1508760"/>
            <a:ext cx="141732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800600" y="1536192"/>
            <a:ext cx="1325880" cy="265176"/>
          </a:xfrm>
          <a:prstGeom prst="rect">
            <a:avLst/>
          </a:prstGeom>
          <a:noFill/>
        </p:spPr>
        <p:txBody>
          <a:bodyPr wrap="square">
            <a:spAutoFit/>
          </a:bodyPr>
          <a:lstStyle/>
          <a:p>
            <a:pPr algn="ctr"/>
            <a:r>
              <a:rPr sz="1000" b="1" i="0">
                <a:solidFill>
                  <a:srgbClr val="FFFFFF"/>
                </a:solidFill>
                <a:latin typeface="Calibri"/>
              </a:rPr>
              <a:t>Scenario</a:t>
            </a:r>
          </a:p>
        </p:txBody>
      </p:sp>
      <p:sp>
        <p:nvSpPr>
          <p:cNvPr id="72" name="Rectangle 71"/>
          <p:cNvSpPr/>
          <p:nvPr/>
        </p:nvSpPr>
        <p:spPr>
          <a:xfrm>
            <a:off x="6172200" y="1508760"/>
            <a:ext cx="77724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17920" y="1536192"/>
            <a:ext cx="685800" cy="265176"/>
          </a:xfrm>
          <a:prstGeom prst="rect">
            <a:avLst/>
          </a:prstGeom>
          <a:noFill/>
        </p:spPr>
        <p:txBody>
          <a:bodyPr wrap="square">
            <a:spAutoFit/>
          </a:bodyPr>
          <a:lstStyle/>
          <a:p>
            <a:pPr algn="ctr"/>
            <a:r>
              <a:rPr sz="1000" b="1" i="0">
                <a:solidFill>
                  <a:srgbClr val="FFFFFF"/>
                </a:solidFill>
                <a:latin typeface="Calibri"/>
              </a:rPr>
              <a:t>MAPPO</a:t>
            </a:r>
          </a:p>
        </p:txBody>
      </p:sp>
      <p:sp>
        <p:nvSpPr>
          <p:cNvPr id="74" name="Rectangle 73"/>
          <p:cNvSpPr/>
          <p:nvPr/>
        </p:nvSpPr>
        <p:spPr>
          <a:xfrm>
            <a:off x="6949440" y="1508760"/>
            <a:ext cx="77724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995160" y="1536192"/>
            <a:ext cx="685800" cy="265176"/>
          </a:xfrm>
          <a:prstGeom prst="rect">
            <a:avLst/>
          </a:prstGeom>
          <a:noFill/>
        </p:spPr>
        <p:txBody>
          <a:bodyPr wrap="square">
            <a:spAutoFit/>
          </a:bodyPr>
          <a:lstStyle/>
          <a:p>
            <a:pPr algn="ctr"/>
            <a:r>
              <a:rPr sz="1000" b="1" i="0">
                <a:solidFill>
                  <a:srgbClr val="FFFFFF"/>
                </a:solidFill>
                <a:latin typeface="Calibri"/>
              </a:rPr>
              <a:t>Fixed</a:t>
            </a:r>
          </a:p>
        </p:txBody>
      </p:sp>
      <p:sp>
        <p:nvSpPr>
          <p:cNvPr id="76" name="Rectangle 75"/>
          <p:cNvSpPr/>
          <p:nvPr/>
        </p:nvSpPr>
        <p:spPr>
          <a:xfrm>
            <a:off x="7726680" y="1508760"/>
            <a:ext cx="100584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772400" y="1536192"/>
            <a:ext cx="914400" cy="265176"/>
          </a:xfrm>
          <a:prstGeom prst="rect">
            <a:avLst/>
          </a:prstGeom>
          <a:noFill/>
        </p:spPr>
        <p:txBody>
          <a:bodyPr wrap="square">
            <a:spAutoFit/>
          </a:bodyPr>
          <a:lstStyle/>
          <a:p>
            <a:pPr algn="ctr"/>
            <a:r>
              <a:rPr sz="1000" b="1" i="0">
                <a:solidFill>
                  <a:srgbClr val="FFFFFF"/>
                </a:solidFill>
                <a:latin typeface="Calibri"/>
              </a:rPr>
              <a:t>vs Fixed</a:t>
            </a:r>
          </a:p>
        </p:txBody>
      </p:sp>
      <p:sp>
        <p:nvSpPr>
          <p:cNvPr id="78" name="Rectangle 77"/>
          <p:cNvSpPr/>
          <p:nvPr/>
        </p:nvSpPr>
        <p:spPr>
          <a:xfrm>
            <a:off x="4754880" y="1828800"/>
            <a:ext cx="14173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800600" y="1856232"/>
            <a:ext cx="1325880" cy="265176"/>
          </a:xfrm>
          <a:prstGeom prst="rect">
            <a:avLst/>
          </a:prstGeom>
          <a:noFill/>
        </p:spPr>
        <p:txBody>
          <a:bodyPr wrap="square">
            <a:spAutoFit/>
          </a:bodyPr>
          <a:lstStyle/>
          <a:p>
            <a:pPr algn="ctr"/>
            <a:r>
              <a:rPr sz="1000" b="0" i="0">
                <a:solidFill>
                  <a:srgbClr val="1A1A2E"/>
                </a:solidFill>
                <a:latin typeface="Calibri"/>
              </a:rPr>
              <a:t>low</a:t>
            </a:r>
          </a:p>
        </p:txBody>
      </p:sp>
      <p:sp>
        <p:nvSpPr>
          <p:cNvPr id="80" name="Rectangle 79"/>
          <p:cNvSpPr/>
          <p:nvPr/>
        </p:nvSpPr>
        <p:spPr>
          <a:xfrm>
            <a:off x="6172200" y="1828800"/>
            <a:ext cx="77724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217920" y="1856232"/>
            <a:ext cx="685800" cy="265176"/>
          </a:xfrm>
          <a:prstGeom prst="rect">
            <a:avLst/>
          </a:prstGeom>
          <a:noFill/>
        </p:spPr>
        <p:txBody>
          <a:bodyPr wrap="square">
            <a:spAutoFit/>
          </a:bodyPr>
          <a:lstStyle/>
          <a:p>
            <a:pPr algn="ctr"/>
            <a:r>
              <a:rPr sz="1000" b="0" i="0">
                <a:solidFill>
                  <a:srgbClr val="1A1A2E"/>
                </a:solidFill>
                <a:latin typeface="Calibri"/>
              </a:rPr>
              <a:t>0.01</a:t>
            </a:r>
          </a:p>
        </p:txBody>
      </p:sp>
      <p:sp>
        <p:nvSpPr>
          <p:cNvPr id="82" name="Rectangle 81"/>
          <p:cNvSpPr/>
          <p:nvPr/>
        </p:nvSpPr>
        <p:spPr>
          <a:xfrm>
            <a:off x="6949440" y="1828800"/>
            <a:ext cx="77724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995160" y="1856232"/>
            <a:ext cx="685800" cy="265176"/>
          </a:xfrm>
          <a:prstGeom prst="rect">
            <a:avLst/>
          </a:prstGeom>
          <a:noFill/>
        </p:spPr>
        <p:txBody>
          <a:bodyPr wrap="square">
            <a:spAutoFit/>
          </a:bodyPr>
          <a:lstStyle/>
          <a:p>
            <a:pPr algn="ctr"/>
            <a:r>
              <a:rPr sz="1000" b="0" i="0">
                <a:solidFill>
                  <a:srgbClr val="1A1A2E"/>
                </a:solidFill>
                <a:latin typeface="Calibri"/>
              </a:rPr>
              <a:t>0.04</a:t>
            </a:r>
          </a:p>
        </p:txBody>
      </p:sp>
      <p:sp>
        <p:nvSpPr>
          <p:cNvPr id="84" name="Rectangle 83"/>
          <p:cNvSpPr/>
          <p:nvPr/>
        </p:nvSpPr>
        <p:spPr>
          <a:xfrm>
            <a:off x="7726680" y="1828800"/>
            <a:ext cx="100584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772400" y="1856232"/>
            <a:ext cx="914400" cy="265176"/>
          </a:xfrm>
          <a:prstGeom prst="rect">
            <a:avLst/>
          </a:prstGeom>
          <a:noFill/>
        </p:spPr>
        <p:txBody>
          <a:bodyPr wrap="square">
            <a:spAutoFit/>
          </a:bodyPr>
          <a:lstStyle/>
          <a:p>
            <a:pPr algn="ctr"/>
            <a:r>
              <a:rPr sz="1000" b="1" i="0">
                <a:solidFill>
                  <a:srgbClr val="068A4C"/>
                </a:solidFill>
                <a:latin typeface="Calibri"/>
              </a:rPr>
              <a:t>−69.5%</a:t>
            </a:r>
          </a:p>
        </p:txBody>
      </p:sp>
      <p:sp>
        <p:nvSpPr>
          <p:cNvPr id="86" name="Rectangle 85"/>
          <p:cNvSpPr/>
          <p:nvPr/>
        </p:nvSpPr>
        <p:spPr>
          <a:xfrm>
            <a:off x="4754880" y="2148840"/>
            <a:ext cx="14173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800600" y="2176272"/>
            <a:ext cx="1325880" cy="265176"/>
          </a:xfrm>
          <a:prstGeom prst="rect">
            <a:avLst/>
          </a:prstGeom>
          <a:noFill/>
        </p:spPr>
        <p:txBody>
          <a:bodyPr wrap="square">
            <a:spAutoFit/>
          </a:bodyPr>
          <a:lstStyle/>
          <a:p>
            <a:pPr algn="ctr"/>
            <a:r>
              <a:rPr sz="1000" b="0" i="0">
                <a:solidFill>
                  <a:srgbClr val="1A1A2E"/>
                </a:solidFill>
                <a:latin typeface="Calibri"/>
              </a:rPr>
              <a:t>normal</a:t>
            </a:r>
          </a:p>
        </p:txBody>
      </p:sp>
      <p:sp>
        <p:nvSpPr>
          <p:cNvPr id="88" name="Rectangle 87"/>
          <p:cNvSpPr/>
          <p:nvPr/>
        </p:nvSpPr>
        <p:spPr>
          <a:xfrm>
            <a:off x="6172200" y="2148840"/>
            <a:ext cx="77724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217920" y="2176272"/>
            <a:ext cx="685800" cy="265176"/>
          </a:xfrm>
          <a:prstGeom prst="rect">
            <a:avLst/>
          </a:prstGeom>
          <a:noFill/>
        </p:spPr>
        <p:txBody>
          <a:bodyPr wrap="square">
            <a:spAutoFit/>
          </a:bodyPr>
          <a:lstStyle/>
          <a:p>
            <a:pPr algn="ctr"/>
            <a:r>
              <a:rPr sz="1000" b="0" i="0">
                <a:solidFill>
                  <a:srgbClr val="1A1A2E"/>
                </a:solidFill>
                <a:latin typeface="Calibri"/>
              </a:rPr>
              <a:t>0.02</a:t>
            </a:r>
          </a:p>
        </p:txBody>
      </p:sp>
      <p:sp>
        <p:nvSpPr>
          <p:cNvPr id="90" name="Rectangle 89"/>
          <p:cNvSpPr/>
          <p:nvPr/>
        </p:nvSpPr>
        <p:spPr>
          <a:xfrm>
            <a:off x="6949440" y="2148840"/>
            <a:ext cx="77724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995160" y="2176272"/>
            <a:ext cx="685800" cy="265176"/>
          </a:xfrm>
          <a:prstGeom prst="rect">
            <a:avLst/>
          </a:prstGeom>
          <a:noFill/>
        </p:spPr>
        <p:txBody>
          <a:bodyPr wrap="square">
            <a:spAutoFit/>
          </a:bodyPr>
          <a:lstStyle/>
          <a:p>
            <a:pPr algn="ctr"/>
            <a:r>
              <a:rPr sz="1000" b="0" i="0">
                <a:solidFill>
                  <a:srgbClr val="1A1A2E"/>
                </a:solidFill>
                <a:latin typeface="Calibri"/>
              </a:rPr>
              <a:t>0.10</a:t>
            </a:r>
          </a:p>
        </p:txBody>
      </p:sp>
      <p:sp>
        <p:nvSpPr>
          <p:cNvPr id="92" name="Rectangle 91"/>
          <p:cNvSpPr/>
          <p:nvPr/>
        </p:nvSpPr>
        <p:spPr>
          <a:xfrm>
            <a:off x="7726680" y="2148840"/>
            <a:ext cx="100584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772400" y="2176272"/>
            <a:ext cx="914400" cy="265176"/>
          </a:xfrm>
          <a:prstGeom prst="rect">
            <a:avLst/>
          </a:prstGeom>
          <a:noFill/>
        </p:spPr>
        <p:txBody>
          <a:bodyPr wrap="square">
            <a:spAutoFit/>
          </a:bodyPr>
          <a:lstStyle/>
          <a:p>
            <a:pPr algn="ctr"/>
            <a:r>
              <a:rPr sz="1000" b="1" i="0">
                <a:solidFill>
                  <a:srgbClr val="068A4C"/>
                </a:solidFill>
                <a:latin typeface="Calibri"/>
              </a:rPr>
              <a:t>−75.3%</a:t>
            </a:r>
          </a:p>
        </p:txBody>
      </p:sp>
      <p:sp>
        <p:nvSpPr>
          <p:cNvPr id="94" name="Rectangle 93"/>
          <p:cNvSpPr/>
          <p:nvPr/>
        </p:nvSpPr>
        <p:spPr>
          <a:xfrm>
            <a:off x="4754880" y="2468880"/>
            <a:ext cx="14173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800600" y="2496312"/>
            <a:ext cx="1325880" cy="265176"/>
          </a:xfrm>
          <a:prstGeom prst="rect">
            <a:avLst/>
          </a:prstGeom>
          <a:noFill/>
        </p:spPr>
        <p:txBody>
          <a:bodyPr wrap="square">
            <a:spAutoFit/>
          </a:bodyPr>
          <a:lstStyle/>
          <a:p>
            <a:pPr algn="ctr"/>
            <a:r>
              <a:rPr sz="1000" b="0" i="0">
                <a:solidFill>
                  <a:srgbClr val="1A1A2E"/>
                </a:solidFill>
                <a:latin typeface="Calibri"/>
              </a:rPr>
              <a:t>rush_hour_am</a:t>
            </a:r>
          </a:p>
        </p:txBody>
      </p:sp>
      <p:sp>
        <p:nvSpPr>
          <p:cNvPr id="96" name="Rectangle 95"/>
          <p:cNvSpPr/>
          <p:nvPr/>
        </p:nvSpPr>
        <p:spPr>
          <a:xfrm>
            <a:off x="6172200" y="2468880"/>
            <a:ext cx="77724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217920" y="2496312"/>
            <a:ext cx="685800" cy="265176"/>
          </a:xfrm>
          <a:prstGeom prst="rect">
            <a:avLst/>
          </a:prstGeom>
          <a:noFill/>
        </p:spPr>
        <p:txBody>
          <a:bodyPr wrap="square">
            <a:spAutoFit/>
          </a:bodyPr>
          <a:lstStyle/>
          <a:p>
            <a:pPr algn="ctr"/>
            <a:r>
              <a:rPr sz="1000" b="0" i="0">
                <a:solidFill>
                  <a:srgbClr val="1A1A2E"/>
                </a:solidFill>
                <a:latin typeface="Calibri"/>
              </a:rPr>
              <a:t>0.29</a:t>
            </a:r>
          </a:p>
        </p:txBody>
      </p:sp>
      <p:sp>
        <p:nvSpPr>
          <p:cNvPr id="98" name="Rectangle 97"/>
          <p:cNvSpPr/>
          <p:nvPr/>
        </p:nvSpPr>
        <p:spPr>
          <a:xfrm>
            <a:off x="6949440" y="2468880"/>
            <a:ext cx="77724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995160" y="2496312"/>
            <a:ext cx="685800" cy="265176"/>
          </a:xfrm>
          <a:prstGeom prst="rect">
            <a:avLst/>
          </a:prstGeom>
          <a:noFill/>
        </p:spPr>
        <p:txBody>
          <a:bodyPr wrap="square">
            <a:spAutoFit/>
          </a:bodyPr>
          <a:lstStyle/>
          <a:p>
            <a:pPr algn="ctr"/>
            <a:r>
              <a:rPr sz="1000" b="0" i="0">
                <a:solidFill>
                  <a:srgbClr val="1A1A2E"/>
                </a:solidFill>
                <a:latin typeface="Calibri"/>
              </a:rPr>
              <a:t>0.29</a:t>
            </a:r>
          </a:p>
        </p:txBody>
      </p:sp>
      <p:sp>
        <p:nvSpPr>
          <p:cNvPr id="100" name="Rectangle 99"/>
          <p:cNvSpPr/>
          <p:nvPr/>
        </p:nvSpPr>
        <p:spPr>
          <a:xfrm>
            <a:off x="7726680" y="2468880"/>
            <a:ext cx="100584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772400" y="2496312"/>
            <a:ext cx="914400" cy="265176"/>
          </a:xfrm>
          <a:prstGeom prst="rect">
            <a:avLst/>
          </a:prstGeom>
          <a:noFill/>
        </p:spPr>
        <p:txBody>
          <a:bodyPr wrap="square">
            <a:spAutoFit/>
          </a:bodyPr>
          <a:lstStyle/>
          <a:p>
            <a:pPr algn="ctr"/>
            <a:r>
              <a:rPr sz="1000" b="1" i="0">
                <a:solidFill>
                  <a:srgbClr val="068A4C"/>
                </a:solidFill>
                <a:latin typeface="Calibri"/>
              </a:rPr>
              <a:t>+2.1%</a:t>
            </a:r>
          </a:p>
        </p:txBody>
      </p:sp>
      <p:sp>
        <p:nvSpPr>
          <p:cNvPr id="102" name="Rectangle 101"/>
          <p:cNvSpPr/>
          <p:nvPr/>
        </p:nvSpPr>
        <p:spPr>
          <a:xfrm>
            <a:off x="4754880" y="2788920"/>
            <a:ext cx="14173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800600" y="2816352"/>
            <a:ext cx="1325880" cy="265176"/>
          </a:xfrm>
          <a:prstGeom prst="rect">
            <a:avLst/>
          </a:prstGeom>
          <a:noFill/>
        </p:spPr>
        <p:txBody>
          <a:bodyPr wrap="square">
            <a:spAutoFit/>
          </a:bodyPr>
          <a:lstStyle/>
          <a:p>
            <a:pPr algn="ctr"/>
            <a:r>
              <a:rPr sz="1000" b="0" i="0">
                <a:solidFill>
                  <a:srgbClr val="1A1A2E"/>
                </a:solidFill>
                <a:latin typeface="Calibri"/>
              </a:rPr>
              <a:t>rush_hour_pm</a:t>
            </a:r>
          </a:p>
        </p:txBody>
      </p:sp>
      <p:sp>
        <p:nvSpPr>
          <p:cNvPr id="104" name="Rectangle 103"/>
          <p:cNvSpPr/>
          <p:nvPr/>
        </p:nvSpPr>
        <p:spPr>
          <a:xfrm>
            <a:off x="6172200" y="2788920"/>
            <a:ext cx="77724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217920" y="2816352"/>
            <a:ext cx="685800" cy="265176"/>
          </a:xfrm>
          <a:prstGeom prst="rect">
            <a:avLst/>
          </a:prstGeom>
          <a:noFill/>
        </p:spPr>
        <p:txBody>
          <a:bodyPr wrap="square">
            <a:spAutoFit/>
          </a:bodyPr>
          <a:lstStyle/>
          <a:p>
            <a:pPr algn="ctr"/>
            <a:r>
              <a:rPr sz="1000" b="0" i="0">
                <a:solidFill>
                  <a:srgbClr val="1A1A2E"/>
                </a:solidFill>
                <a:latin typeface="Calibri"/>
              </a:rPr>
              <a:t>0.02</a:t>
            </a:r>
          </a:p>
        </p:txBody>
      </p:sp>
      <p:sp>
        <p:nvSpPr>
          <p:cNvPr id="106" name="Rectangle 105"/>
          <p:cNvSpPr/>
          <p:nvPr/>
        </p:nvSpPr>
        <p:spPr>
          <a:xfrm>
            <a:off x="6949440" y="2788920"/>
            <a:ext cx="77724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995160" y="2816352"/>
            <a:ext cx="685800" cy="265176"/>
          </a:xfrm>
          <a:prstGeom prst="rect">
            <a:avLst/>
          </a:prstGeom>
          <a:noFill/>
        </p:spPr>
        <p:txBody>
          <a:bodyPr wrap="square">
            <a:spAutoFit/>
          </a:bodyPr>
          <a:lstStyle/>
          <a:p>
            <a:pPr algn="ctr"/>
            <a:r>
              <a:rPr sz="1000" b="0" i="0">
                <a:solidFill>
                  <a:srgbClr val="1A1A2E"/>
                </a:solidFill>
                <a:latin typeface="Calibri"/>
              </a:rPr>
              <a:t>0.10</a:t>
            </a:r>
          </a:p>
        </p:txBody>
      </p:sp>
      <p:sp>
        <p:nvSpPr>
          <p:cNvPr id="108" name="Rectangle 107"/>
          <p:cNvSpPr/>
          <p:nvPr/>
        </p:nvSpPr>
        <p:spPr>
          <a:xfrm>
            <a:off x="7726680" y="2788920"/>
            <a:ext cx="100584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772400" y="2816352"/>
            <a:ext cx="914400" cy="265176"/>
          </a:xfrm>
          <a:prstGeom prst="rect">
            <a:avLst/>
          </a:prstGeom>
          <a:noFill/>
        </p:spPr>
        <p:txBody>
          <a:bodyPr wrap="square">
            <a:spAutoFit/>
          </a:bodyPr>
          <a:lstStyle/>
          <a:p>
            <a:pPr algn="ctr"/>
            <a:r>
              <a:rPr sz="1000" b="1" i="0">
                <a:solidFill>
                  <a:srgbClr val="068A4C"/>
                </a:solidFill>
                <a:latin typeface="Calibri"/>
              </a:rPr>
              <a:t>−84.1%</a:t>
            </a:r>
          </a:p>
        </p:txBody>
      </p:sp>
      <p:sp>
        <p:nvSpPr>
          <p:cNvPr id="110" name="Rectangle 109"/>
          <p:cNvSpPr/>
          <p:nvPr/>
        </p:nvSpPr>
        <p:spPr>
          <a:xfrm>
            <a:off x="4754880" y="3108960"/>
            <a:ext cx="14173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800600" y="3136392"/>
            <a:ext cx="1325880" cy="265176"/>
          </a:xfrm>
          <a:prstGeom prst="rect">
            <a:avLst/>
          </a:prstGeom>
          <a:noFill/>
        </p:spPr>
        <p:txBody>
          <a:bodyPr wrap="square">
            <a:spAutoFit/>
          </a:bodyPr>
          <a:lstStyle/>
          <a:p>
            <a:pPr algn="ctr"/>
            <a:r>
              <a:rPr sz="1000" b="0" i="0">
                <a:solidFill>
                  <a:srgbClr val="1A1A2E"/>
                </a:solidFill>
                <a:latin typeface="Calibri"/>
              </a:rPr>
              <a:t>holiday</a:t>
            </a:r>
          </a:p>
        </p:txBody>
      </p:sp>
      <p:sp>
        <p:nvSpPr>
          <p:cNvPr id="112" name="Rectangle 111"/>
          <p:cNvSpPr/>
          <p:nvPr/>
        </p:nvSpPr>
        <p:spPr>
          <a:xfrm>
            <a:off x="6172200" y="3108960"/>
            <a:ext cx="77724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6217920" y="3136392"/>
            <a:ext cx="685800" cy="265176"/>
          </a:xfrm>
          <a:prstGeom prst="rect">
            <a:avLst/>
          </a:prstGeom>
          <a:noFill/>
        </p:spPr>
        <p:txBody>
          <a:bodyPr wrap="square">
            <a:spAutoFit/>
          </a:bodyPr>
          <a:lstStyle/>
          <a:p>
            <a:pPr algn="ctr"/>
            <a:r>
              <a:rPr sz="1000" b="0" i="0">
                <a:solidFill>
                  <a:srgbClr val="1A1A2E"/>
                </a:solidFill>
                <a:latin typeface="Calibri"/>
              </a:rPr>
              <a:t>0.06</a:t>
            </a:r>
          </a:p>
        </p:txBody>
      </p:sp>
      <p:sp>
        <p:nvSpPr>
          <p:cNvPr id="114" name="Rectangle 113"/>
          <p:cNvSpPr/>
          <p:nvPr/>
        </p:nvSpPr>
        <p:spPr>
          <a:xfrm>
            <a:off x="6949440" y="3108960"/>
            <a:ext cx="77724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6995160" y="3136392"/>
            <a:ext cx="685800" cy="265176"/>
          </a:xfrm>
          <a:prstGeom prst="rect">
            <a:avLst/>
          </a:prstGeom>
          <a:noFill/>
        </p:spPr>
        <p:txBody>
          <a:bodyPr wrap="square">
            <a:spAutoFit/>
          </a:bodyPr>
          <a:lstStyle/>
          <a:p>
            <a:pPr algn="ctr"/>
            <a:r>
              <a:rPr sz="1000" b="0" i="0">
                <a:solidFill>
                  <a:srgbClr val="1A1A2E"/>
                </a:solidFill>
                <a:latin typeface="Calibri"/>
              </a:rPr>
              <a:t>0.24</a:t>
            </a:r>
          </a:p>
        </p:txBody>
      </p:sp>
      <p:sp>
        <p:nvSpPr>
          <p:cNvPr id="116" name="Rectangle 115"/>
          <p:cNvSpPr/>
          <p:nvPr/>
        </p:nvSpPr>
        <p:spPr>
          <a:xfrm>
            <a:off x="7726680" y="3108960"/>
            <a:ext cx="100584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7772400" y="3136392"/>
            <a:ext cx="914400" cy="265176"/>
          </a:xfrm>
          <a:prstGeom prst="rect">
            <a:avLst/>
          </a:prstGeom>
          <a:noFill/>
        </p:spPr>
        <p:txBody>
          <a:bodyPr wrap="square">
            <a:spAutoFit/>
          </a:bodyPr>
          <a:lstStyle/>
          <a:p>
            <a:pPr algn="ctr"/>
            <a:r>
              <a:rPr sz="1000" b="1" i="0">
                <a:solidFill>
                  <a:srgbClr val="068A4C"/>
                </a:solidFill>
                <a:latin typeface="Calibri"/>
              </a:rPr>
              <a:t>−75.9%</a:t>
            </a:r>
          </a:p>
        </p:txBody>
      </p:sp>
      <p:sp>
        <p:nvSpPr>
          <p:cNvPr id="118" name="Rectangle 117"/>
          <p:cNvSpPr/>
          <p:nvPr/>
        </p:nvSpPr>
        <p:spPr>
          <a:xfrm>
            <a:off x="4754880" y="3429000"/>
            <a:ext cx="14173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800600" y="3456432"/>
            <a:ext cx="1325880" cy="265176"/>
          </a:xfrm>
          <a:prstGeom prst="rect">
            <a:avLst/>
          </a:prstGeom>
          <a:noFill/>
        </p:spPr>
        <p:txBody>
          <a:bodyPr wrap="square">
            <a:spAutoFit/>
          </a:bodyPr>
          <a:lstStyle/>
          <a:p>
            <a:pPr algn="ctr"/>
            <a:r>
              <a:rPr sz="1000" b="0" i="0">
                <a:solidFill>
                  <a:srgbClr val="1A1A2E"/>
                </a:solidFill>
                <a:latin typeface="Calibri"/>
              </a:rPr>
              <a:t>incident</a:t>
            </a:r>
          </a:p>
        </p:txBody>
      </p:sp>
      <p:sp>
        <p:nvSpPr>
          <p:cNvPr id="120" name="Rectangle 119"/>
          <p:cNvSpPr/>
          <p:nvPr/>
        </p:nvSpPr>
        <p:spPr>
          <a:xfrm>
            <a:off x="6172200" y="3429000"/>
            <a:ext cx="77724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217920" y="3456432"/>
            <a:ext cx="685800" cy="265176"/>
          </a:xfrm>
          <a:prstGeom prst="rect">
            <a:avLst/>
          </a:prstGeom>
          <a:noFill/>
        </p:spPr>
        <p:txBody>
          <a:bodyPr wrap="square">
            <a:spAutoFit/>
          </a:bodyPr>
          <a:lstStyle/>
          <a:p>
            <a:pPr algn="ctr"/>
            <a:r>
              <a:rPr sz="1000" b="0" i="0">
                <a:solidFill>
                  <a:srgbClr val="1A1A2E"/>
                </a:solidFill>
                <a:latin typeface="Calibri"/>
              </a:rPr>
              <a:t>0.02</a:t>
            </a:r>
          </a:p>
        </p:txBody>
      </p:sp>
      <p:sp>
        <p:nvSpPr>
          <p:cNvPr id="122" name="Rectangle 121"/>
          <p:cNvSpPr/>
          <p:nvPr/>
        </p:nvSpPr>
        <p:spPr>
          <a:xfrm>
            <a:off x="6949440" y="3429000"/>
            <a:ext cx="77724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6995160" y="3456432"/>
            <a:ext cx="685800" cy="265176"/>
          </a:xfrm>
          <a:prstGeom prst="rect">
            <a:avLst/>
          </a:prstGeom>
          <a:noFill/>
        </p:spPr>
        <p:txBody>
          <a:bodyPr wrap="square">
            <a:spAutoFit/>
          </a:bodyPr>
          <a:lstStyle/>
          <a:p>
            <a:pPr algn="ctr"/>
            <a:r>
              <a:rPr sz="1000" b="0" i="0">
                <a:solidFill>
                  <a:srgbClr val="1A1A2E"/>
                </a:solidFill>
                <a:latin typeface="Calibri"/>
              </a:rPr>
              <a:t>0.06</a:t>
            </a:r>
          </a:p>
        </p:txBody>
      </p:sp>
      <p:sp>
        <p:nvSpPr>
          <p:cNvPr id="124" name="Rectangle 123"/>
          <p:cNvSpPr/>
          <p:nvPr/>
        </p:nvSpPr>
        <p:spPr>
          <a:xfrm>
            <a:off x="7726680" y="3429000"/>
            <a:ext cx="100584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7772400" y="3456432"/>
            <a:ext cx="914400" cy="265176"/>
          </a:xfrm>
          <a:prstGeom prst="rect">
            <a:avLst/>
          </a:prstGeom>
          <a:noFill/>
        </p:spPr>
        <p:txBody>
          <a:bodyPr wrap="square">
            <a:spAutoFit/>
          </a:bodyPr>
          <a:lstStyle/>
          <a:p>
            <a:pPr algn="ctr"/>
            <a:r>
              <a:rPr sz="1000" b="1" i="0">
                <a:solidFill>
                  <a:srgbClr val="068A4C"/>
                </a:solidFill>
                <a:latin typeface="Calibri"/>
              </a:rPr>
              <a:t>−70.5%</a:t>
            </a:r>
          </a:p>
        </p:txBody>
      </p:sp>
      <p:sp>
        <p:nvSpPr>
          <p:cNvPr id="126" name="Rectangle 125"/>
          <p:cNvSpPr/>
          <p:nvPr/>
        </p:nvSpPr>
        <p:spPr>
          <a:xfrm>
            <a:off x="109728" y="4069080"/>
            <a:ext cx="8924544" cy="1143000"/>
          </a:xfrm>
          <a:prstGeom prst="rect">
            <a:avLst/>
          </a:prstGeom>
          <a:solidFill>
            <a:srgbClr val="F0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01168" y="4133087"/>
            <a:ext cx="8778240" cy="256032"/>
          </a:xfrm>
          <a:prstGeom prst="rect">
            <a:avLst/>
          </a:prstGeom>
          <a:noFill/>
        </p:spPr>
        <p:txBody>
          <a:bodyPr wrap="square">
            <a:spAutoFit/>
          </a:bodyPr>
          <a:lstStyle/>
          <a:p>
            <a:pPr algn="l"/>
            <a:r>
              <a:rPr sz="1100" b="1" i="0">
                <a:solidFill>
                  <a:srgbClr val="1A1A2E"/>
                </a:solidFill>
                <a:latin typeface="Calibri"/>
              </a:rPr>
              <a:t>Key Insights</a:t>
            </a:r>
          </a:p>
        </p:txBody>
      </p:sp>
      <p:sp>
        <p:nvSpPr>
          <p:cNvPr id="128" name="TextBox 127"/>
          <p:cNvSpPr txBox="1"/>
          <p:nvPr/>
        </p:nvSpPr>
        <p:spPr>
          <a:xfrm>
            <a:off x="201168" y="4407408"/>
            <a:ext cx="8778240" cy="685800"/>
          </a:xfrm>
          <a:prstGeom prst="rect">
            <a:avLst/>
          </a:prstGeom>
          <a:noFill/>
        </p:spPr>
        <p:txBody>
          <a:bodyPr wrap="square">
            <a:spAutoFit/>
          </a:bodyPr>
          <a:lstStyle/>
          <a:p>
            <a:r>
              <a:rPr sz="1100" b="0">
                <a:solidFill>
                  <a:srgbClr val="1A1A2E"/>
                </a:solidFill>
                <a:latin typeface="Calibri"/>
              </a:rPr>
              <a:t>•  Waiting time reduced 31.8%–97.3% across ALL six scenarios</a:t>
            </a:r>
          </a:p>
          <a:p>
            <a:r>
              <a:rPr sz="1100" b="0">
                <a:solidFill>
                  <a:srgbClr val="1A1A2E"/>
                </a:solidFill>
                <a:latin typeface="Calibri"/>
              </a:rPr>
              <a:t>•  rush_hour_am: queue is demand-bound (both 0.29) — but MAPPO still cuts wait 31.8% and boosts throughput +20.9%</a:t>
            </a:r>
          </a:p>
          <a:p>
            <a:r>
              <a:rPr sz="1100" b="0">
                <a:solidFill>
                  <a:srgbClr val="1A1A2E"/>
                </a:solidFill>
                <a:latin typeface="Calibri"/>
              </a:rPr>
              <a:t>•  holiday + incident: largest absolute wait reductions — MAPPO drops empty phases, extends congested ones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30543BC9-0A36-D103-DFD4-306B575710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26B2C97-FB7C-79E1-420B-896F537AB6E1}"/>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10</a:t>
            </a:r>
          </a:p>
        </p:txBody>
      </p:sp>
      <p:sp>
        <p:nvSpPr>
          <p:cNvPr id="5" name="Title 1">
            <a:extLst>
              <a:ext uri="{FF2B5EF4-FFF2-40B4-BE49-F238E27FC236}">
                <a16:creationId xmlns:a16="http://schemas.microsoft.com/office/drawing/2014/main" id="{28D268CF-EE2B-BFAD-1990-E839782D14C1}"/>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EVALUATION — THROUGHPUT &amp; CONTROLLER COMPARISON</a:t>
            </a:r>
          </a:p>
        </p:txBody>
      </p:sp>
      <p:pic>
        <p:nvPicPr>
          <p:cNvPr id="6" name="Content Placeholder 4">
            <a:extLst>
              <a:ext uri="{FF2B5EF4-FFF2-40B4-BE49-F238E27FC236}">
                <a16:creationId xmlns:a16="http://schemas.microsoft.com/office/drawing/2014/main" id="{A98033F3-9D23-2E4B-5173-10B144B3F820}"/>
              </a:ext>
            </a:extLst>
          </p:cNvPr>
          <p:cNvPicPr>
            <a:picLocks noGrp="1" noChangeAspect="1"/>
          </p:cNvPicPr>
          <p:nvPr>
            <p:ph idx="1"/>
          </p:nvPr>
        </p:nvPicPr>
        <p:blipFill>
          <a:blip r:embed="rId3"/>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9FE04023-D31B-790E-00C7-F44B62D856DD}"/>
              </a:ext>
            </a:extLst>
          </p:cNvPr>
          <p:cNvSpPr>
            <a:spLocks noGrp="1"/>
          </p:cNvSpPr>
          <p:nvPr>
            <p:ph type="sldNum" sz="quarter" idx="12"/>
          </p:nvPr>
        </p:nvSpPr>
        <p:spPr/>
        <p:txBody>
          <a:bodyPr/>
          <a:lstStyle/>
          <a:p>
            <a:fld id="{21004690-02AB-4EF8-9513-CB283ECF7991}" type="slidenum">
              <a:rPr lang="en-BW" smtClean="0"/>
              <a:t>2</a:t>
            </a:fld>
            <a:endParaRPr lang="en-BW"/>
          </a:p>
        </p:txBody>
      </p:sp>
      <p:pic>
        <p:nvPicPr>
          <p:cNvPr id="9" name="Picture 8">
            <a:extLst>
              <a:ext uri="{FF2B5EF4-FFF2-40B4-BE49-F238E27FC236}">
                <a16:creationId xmlns:a16="http://schemas.microsoft.com/office/drawing/2014/main" id="{AE7B97A8-40E2-366C-963C-E078DED597C8}"/>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C9F311F-2556-2CCF-E041-21C75B441D44}"/>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43D21A0A-29EE-FFA8-3B33-06CC5056E226}"/>
              </a:ext>
            </a:extLst>
          </p:cNvPr>
          <p:cNvSpPr txBox="1"/>
          <p:nvPr/>
        </p:nvSpPr>
        <p:spPr>
          <a:xfrm>
            <a:off x="947970" y="1768388"/>
            <a:ext cx="5846022" cy="2241960"/>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DEFINITION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PROJECT OBJECTIVES</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METHODOLOGY</a:t>
            </a:r>
          </a:p>
        </p:txBody>
      </p:sp>
      <p:sp>
        <p:nvSpPr>
          <p:cNvPr id="11" name="TextBox 10"/>
          <p:cNvSpPr txBox="1"/>
          <p:nvPr/>
        </p:nvSpPr>
        <p:spPr>
          <a:xfrm>
            <a:off x="137160" y="960120"/>
            <a:ext cx="5166360" cy="256032"/>
          </a:xfrm>
          <a:prstGeom prst="rect">
            <a:avLst/>
          </a:prstGeom>
          <a:noFill/>
        </p:spPr>
        <p:txBody>
          <a:bodyPr wrap="square">
            <a:spAutoFit/>
          </a:bodyPr>
          <a:lstStyle/>
          <a:p>
            <a:pPr algn="l"/>
            <a:r>
              <a:rPr sz="1100" b="1" i="0">
                <a:solidFill>
                  <a:srgbClr val="0070C0"/>
                </a:solidFill>
                <a:latin typeface="Calibri"/>
              </a:rPr>
              <a:t>Total Throughput (vehicles crossing TL_A per episode)</a:t>
            </a:r>
          </a:p>
        </p:txBody>
      </p:sp>
      <p:sp>
        <p:nvSpPr>
          <p:cNvPr id="12" name="Rectangle 11"/>
          <p:cNvSpPr/>
          <p:nvPr/>
        </p:nvSpPr>
        <p:spPr>
          <a:xfrm>
            <a:off x="137160" y="1261872"/>
            <a:ext cx="141732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80" y="1289304"/>
            <a:ext cx="1325880" cy="265176"/>
          </a:xfrm>
          <a:prstGeom prst="rect">
            <a:avLst/>
          </a:prstGeom>
          <a:noFill/>
        </p:spPr>
        <p:txBody>
          <a:bodyPr wrap="square">
            <a:spAutoFit/>
          </a:bodyPr>
          <a:lstStyle/>
          <a:p>
            <a:pPr algn="ctr"/>
            <a:r>
              <a:rPr sz="1000" b="1" i="0">
                <a:solidFill>
                  <a:srgbClr val="FFFFFF"/>
                </a:solidFill>
                <a:latin typeface="Calibri"/>
              </a:rPr>
              <a:t>Scenario</a:t>
            </a:r>
          </a:p>
        </p:txBody>
      </p:sp>
      <p:sp>
        <p:nvSpPr>
          <p:cNvPr id="14" name="Rectangle 13"/>
          <p:cNvSpPr/>
          <p:nvPr/>
        </p:nvSpPr>
        <p:spPr>
          <a:xfrm>
            <a:off x="1554480" y="1261872"/>
            <a:ext cx="73152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00200" y="1289304"/>
            <a:ext cx="640080" cy="265176"/>
          </a:xfrm>
          <a:prstGeom prst="rect">
            <a:avLst/>
          </a:prstGeom>
          <a:noFill/>
        </p:spPr>
        <p:txBody>
          <a:bodyPr wrap="square">
            <a:spAutoFit/>
          </a:bodyPr>
          <a:lstStyle/>
          <a:p>
            <a:pPr algn="ctr"/>
            <a:r>
              <a:rPr sz="1000" b="1" i="0">
                <a:solidFill>
                  <a:srgbClr val="FFFFFF"/>
                </a:solidFill>
                <a:latin typeface="Calibri"/>
              </a:rPr>
              <a:t>MAPPO</a:t>
            </a:r>
          </a:p>
        </p:txBody>
      </p:sp>
      <p:sp>
        <p:nvSpPr>
          <p:cNvPr id="16" name="Rectangle 15"/>
          <p:cNvSpPr/>
          <p:nvPr/>
        </p:nvSpPr>
        <p:spPr>
          <a:xfrm>
            <a:off x="2286000" y="1261872"/>
            <a:ext cx="73152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31720" y="1289304"/>
            <a:ext cx="640080" cy="265176"/>
          </a:xfrm>
          <a:prstGeom prst="rect">
            <a:avLst/>
          </a:prstGeom>
          <a:noFill/>
        </p:spPr>
        <p:txBody>
          <a:bodyPr wrap="square">
            <a:spAutoFit/>
          </a:bodyPr>
          <a:lstStyle/>
          <a:p>
            <a:pPr algn="ctr"/>
            <a:r>
              <a:rPr sz="1000" b="1" i="0">
                <a:solidFill>
                  <a:srgbClr val="FFFFFF"/>
                </a:solidFill>
                <a:latin typeface="Calibri"/>
              </a:rPr>
              <a:t>Fixed</a:t>
            </a:r>
          </a:p>
        </p:txBody>
      </p:sp>
      <p:sp>
        <p:nvSpPr>
          <p:cNvPr id="18" name="Rectangle 17"/>
          <p:cNvSpPr/>
          <p:nvPr/>
        </p:nvSpPr>
        <p:spPr>
          <a:xfrm>
            <a:off x="3017520" y="1261872"/>
            <a:ext cx="210312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63240" y="1289304"/>
            <a:ext cx="2011680" cy="265176"/>
          </a:xfrm>
          <a:prstGeom prst="rect">
            <a:avLst/>
          </a:prstGeom>
          <a:noFill/>
        </p:spPr>
        <p:txBody>
          <a:bodyPr wrap="square">
            <a:spAutoFit/>
          </a:bodyPr>
          <a:lstStyle/>
          <a:p>
            <a:pPr algn="ctr"/>
            <a:r>
              <a:rPr sz="1000" b="1" i="0">
                <a:solidFill>
                  <a:srgbClr val="FFFFFF"/>
                </a:solidFill>
                <a:latin typeface="Calibri"/>
              </a:rPr>
              <a:t>vs Fixed</a:t>
            </a:r>
          </a:p>
        </p:txBody>
      </p:sp>
      <p:sp>
        <p:nvSpPr>
          <p:cNvPr id="20" name="Rectangle 19"/>
          <p:cNvSpPr/>
          <p:nvPr/>
        </p:nvSpPr>
        <p:spPr>
          <a:xfrm>
            <a:off x="137160" y="1581912"/>
            <a:ext cx="14173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2880" y="1609344"/>
            <a:ext cx="1325880" cy="265176"/>
          </a:xfrm>
          <a:prstGeom prst="rect">
            <a:avLst/>
          </a:prstGeom>
          <a:noFill/>
        </p:spPr>
        <p:txBody>
          <a:bodyPr wrap="square">
            <a:spAutoFit/>
          </a:bodyPr>
          <a:lstStyle/>
          <a:p>
            <a:pPr algn="ctr"/>
            <a:r>
              <a:rPr sz="1000" b="0" i="0">
                <a:solidFill>
                  <a:srgbClr val="1A1A2E"/>
                </a:solidFill>
                <a:latin typeface="Calibri"/>
              </a:rPr>
              <a:t>low</a:t>
            </a:r>
          </a:p>
        </p:txBody>
      </p:sp>
      <p:sp>
        <p:nvSpPr>
          <p:cNvPr id="22" name="Rectangle 21"/>
          <p:cNvSpPr/>
          <p:nvPr/>
        </p:nvSpPr>
        <p:spPr>
          <a:xfrm>
            <a:off x="1554480" y="1581912"/>
            <a:ext cx="7315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00200" y="1609344"/>
            <a:ext cx="640080" cy="265176"/>
          </a:xfrm>
          <a:prstGeom prst="rect">
            <a:avLst/>
          </a:prstGeom>
          <a:noFill/>
        </p:spPr>
        <p:txBody>
          <a:bodyPr wrap="square">
            <a:spAutoFit/>
          </a:bodyPr>
          <a:lstStyle/>
          <a:p>
            <a:pPr algn="ctr"/>
            <a:r>
              <a:rPr sz="1000" b="0" i="0">
                <a:solidFill>
                  <a:srgbClr val="1A1A2E"/>
                </a:solidFill>
                <a:latin typeface="Calibri"/>
              </a:rPr>
              <a:t>13.67</a:t>
            </a:r>
          </a:p>
        </p:txBody>
      </p:sp>
      <p:sp>
        <p:nvSpPr>
          <p:cNvPr id="24" name="Rectangle 23"/>
          <p:cNvSpPr/>
          <p:nvPr/>
        </p:nvSpPr>
        <p:spPr>
          <a:xfrm>
            <a:off x="2286000" y="1581912"/>
            <a:ext cx="7315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31720" y="1609344"/>
            <a:ext cx="640080" cy="265176"/>
          </a:xfrm>
          <a:prstGeom prst="rect">
            <a:avLst/>
          </a:prstGeom>
          <a:noFill/>
        </p:spPr>
        <p:txBody>
          <a:bodyPr wrap="square">
            <a:spAutoFit/>
          </a:bodyPr>
          <a:lstStyle/>
          <a:p>
            <a:pPr algn="ctr"/>
            <a:r>
              <a:rPr sz="1000" b="0" i="0">
                <a:solidFill>
                  <a:srgbClr val="1A1A2E"/>
                </a:solidFill>
                <a:latin typeface="Calibri"/>
              </a:rPr>
              <a:t>13.67</a:t>
            </a:r>
          </a:p>
        </p:txBody>
      </p:sp>
      <p:sp>
        <p:nvSpPr>
          <p:cNvPr id="26" name="Rectangle 25"/>
          <p:cNvSpPr/>
          <p:nvPr/>
        </p:nvSpPr>
        <p:spPr>
          <a:xfrm>
            <a:off x="3017520" y="1581912"/>
            <a:ext cx="21031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63240" y="1609344"/>
            <a:ext cx="2011680" cy="265176"/>
          </a:xfrm>
          <a:prstGeom prst="rect">
            <a:avLst/>
          </a:prstGeom>
          <a:noFill/>
        </p:spPr>
        <p:txBody>
          <a:bodyPr wrap="square">
            <a:spAutoFit/>
          </a:bodyPr>
          <a:lstStyle/>
          <a:p>
            <a:pPr algn="ctr"/>
            <a:r>
              <a:rPr sz="1000" b="1" i="0">
                <a:solidFill>
                  <a:srgbClr val="068A4C"/>
                </a:solidFill>
                <a:latin typeface="Calibri"/>
              </a:rPr>
              <a:t>0.0% (demand-limited)</a:t>
            </a:r>
          </a:p>
        </p:txBody>
      </p:sp>
      <p:sp>
        <p:nvSpPr>
          <p:cNvPr id="28" name="Rectangle 27"/>
          <p:cNvSpPr/>
          <p:nvPr/>
        </p:nvSpPr>
        <p:spPr>
          <a:xfrm>
            <a:off x="137160" y="1901952"/>
            <a:ext cx="14173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2880" y="1929384"/>
            <a:ext cx="1325880" cy="265176"/>
          </a:xfrm>
          <a:prstGeom prst="rect">
            <a:avLst/>
          </a:prstGeom>
          <a:noFill/>
        </p:spPr>
        <p:txBody>
          <a:bodyPr wrap="square">
            <a:spAutoFit/>
          </a:bodyPr>
          <a:lstStyle/>
          <a:p>
            <a:pPr algn="ctr"/>
            <a:r>
              <a:rPr sz="1000" b="0" i="0">
                <a:solidFill>
                  <a:srgbClr val="1A1A2E"/>
                </a:solidFill>
                <a:latin typeface="Calibri"/>
              </a:rPr>
              <a:t>normal</a:t>
            </a:r>
          </a:p>
        </p:txBody>
      </p:sp>
      <p:sp>
        <p:nvSpPr>
          <p:cNvPr id="30" name="Rectangle 29"/>
          <p:cNvSpPr/>
          <p:nvPr/>
        </p:nvSpPr>
        <p:spPr>
          <a:xfrm>
            <a:off x="1554480" y="1901952"/>
            <a:ext cx="7315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00200" y="1929384"/>
            <a:ext cx="640080" cy="265176"/>
          </a:xfrm>
          <a:prstGeom prst="rect">
            <a:avLst/>
          </a:prstGeom>
          <a:noFill/>
        </p:spPr>
        <p:txBody>
          <a:bodyPr wrap="square">
            <a:spAutoFit/>
          </a:bodyPr>
          <a:lstStyle/>
          <a:p>
            <a:pPr algn="ctr"/>
            <a:r>
              <a:rPr sz="1000" b="0" i="0">
                <a:solidFill>
                  <a:srgbClr val="1A1A2E"/>
                </a:solidFill>
                <a:latin typeface="Calibri"/>
              </a:rPr>
              <a:t>20.33</a:t>
            </a:r>
          </a:p>
        </p:txBody>
      </p:sp>
      <p:sp>
        <p:nvSpPr>
          <p:cNvPr id="32" name="Rectangle 31"/>
          <p:cNvSpPr/>
          <p:nvPr/>
        </p:nvSpPr>
        <p:spPr>
          <a:xfrm>
            <a:off x="2286000" y="1901952"/>
            <a:ext cx="7315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31720" y="1929384"/>
            <a:ext cx="640080" cy="265176"/>
          </a:xfrm>
          <a:prstGeom prst="rect">
            <a:avLst/>
          </a:prstGeom>
          <a:noFill/>
        </p:spPr>
        <p:txBody>
          <a:bodyPr wrap="square">
            <a:spAutoFit/>
          </a:bodyPr>
          <a:lstStyle/>
          <a:p>
            <a:pPr algn="ctr"/>
            <a:r>
              <a:rPr sz="1000" b="0" i="0">
                <a:solidFill>
                  <a:srgbClr val="1A1A2E"/>
                </a:solidFill>
                <a:latin typeface="Calibri"/>
              </a:rPr>
              <a:t>22.33</a:t>
            </a:r>
          </a:p>
        </p:txBody>
      </p:sp>
      <p:sp>
        <p:nvSpPr>
          <p:cNvPr id="34" name="Rectangle 33"/>
          <p:cNvSpPr/>
          <p:nvPr/>
        </p:nvSpPr>
        <p:spPr>
          <a:xfrm>
            <a:off x="3017520" y="1901952"/>
            <a:ext cx="21031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063240" y="1929384"/>
            <a:ext cx="2011680" cy="265176"/>
          </a:xfrm>
          <a:prstGeom prst="rect">
            <a:avLst/>
          </a:prstGeom>
          <a:noFill/>
        </p:spPr>
        <p:txBody>
          <a:bodyPr wrap="square">
            <a:spAutoFit/>
          </a:bodyPr>
          <a:lstStyle/>
          <a:p>
            <a:pPr algn="ctr"/>
            <a:r>
              <a:rPr sz="1000" b="1" i="0">
                <a:solidFill>
                  <a:srgbClr val="068A4C"/>
                </a:solidFill>
                <a:latin typeface="Calibri"/>
              </a:rPr>
              <a:t>−9.0% (wait traded)</a:t>
            </a:r>
          </a:p>
        </p:txBody>
      </p:sp>
      <p:sp>
        <p:nvSpPr>
          <p:cNvPr id="36" name="Rectangle 35"/>
          <p:cNvSpPr/>
          <p:nvPr/>
        </p:nvSpPr>
        <p:spPr>
          <a:xfrm>
            <a:off x="137160" y="2221992"/>
            <a:ext cx="14173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82880" y="2249424"/>
            <a:ext cx="1325880" cy="265176"/>
          </a:xfrm>
          <a:prstGeom prst="rect">
            <a:avLst/>
          </a:prstGeom>
          <a:noFill/>
        </p:spPr>
        <p:txBody>
          <a:bodyPr wrap="square">
            <a:spAutoFit/>
          </a:bodyPr>
          <a:lstStyle/>
          <a:p>
            <a:pPr algn="ctr"/>
            <a:r>
              <a:rPr sz="1000" b="0" i="0">
                <a:solidFill>
                  <a:srgbClr val="1A1A2E"/>
                </a:solidFill>
                <a:latin typeface="Calibri"/>
              </a:rPr>
              <a:t>rush_hour_am</a:t>
            </a:r>
          </a:p>
        </p:txBody>
      </p:sp>
      <p:sp>
        <p:nvSpPr>
          <p:cNvPr id="38" name="Rectangle 37"/>
          <p:cNvSpPr/>
          <p:nvPr/>
        </p:nvSpPr>
        <p:spPr>
          <a:xfrm>
            <a:off x="1554480" y="2221992"/>
            <a:ext cx="7315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00200" y="2249424"/>
            <a:ext cx="640080" cy="265176"/>
          </a:xfrm>
          <a:prstGeom prst="rect">
            <a:avLst/>
          </a:prstGeom>
          <a:noFill/>
        </p:spPr>
        <p:txBody>
          <a:bodyPr wrap="square">
            <a:spAutoFit/>
          </a:bodyPr>
          <a:lstStyle/>
          <a:p>
            <a:pPr algn="ctr"/>
            <a:r>
              <a:rPr sz="1000" b="0" i="0">
                <a:solidFill>
                  <a:srgbClr val="1A1A2E"/>
                </a:solidFill>
                <a:latin typeface="Calibri"/>
              </a:rPr>
              <a:t>90.67</a:t>
            </a:r>
          </a:p>
        </p:txBody>
      </p:sp>
      <p:sp>
        <p:nvSpPr>
          <p:cNvPr id="40" name="Rectangle 39"/>
          <p:cNvSpPr/>
          <p:nvPr/>
        </p:nvSpPr>
        <p:spPr>
          <a:xfrm>
            <a:off x="2286000" y="2221992"/>
            <a:ext cx="7315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31720" y="2249424"/>
            <a:ext cx="640080" cy="265176"/>
          </a:xfrm>
          <a:prstGeom prst="rect">
            <a:avLst/>
          </a:prstGeom>
          <a:noFill/>
        </p:spPr>
        <p:txBody>
          <a:bodyPr wrap="square">
            <a:spAutoFit/>
          </a:bodyPr>
          <a:lstStyle/>
          <a:p>
            <a:pPr algn="ctr"/>
            <a:r>
              <a:rPr sz="1000" b="0" i="0">
                <a:solidFill>
                  <a:srgbClr val="1A1A2E"/>
                </a:solidFill>
                <a:latin typeface="Calibri"/>
              </a:rPr>
              <a:t>75.00</a:t>
            </a:r>
          </a:p>
        </p:txBody>
      </p:sp>
      <p:sp>
        <p:nvSpPr>
          <p:cNvPr id="42" name="Rectangle 41"/>
          <p:cNvSpPr/>
          <p:nvPr/>
        </p:nvSpPr>
        <p:spPr>
          <a:xfrm>
            <a:off x="3017520" y="2221992"/>
            <a:ext cx="21031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063240" y="2249424"/>
            <a:ext cx="2011680" cy="265176"/>
          </a:xfrm>
          <a:prstGeom prst="rect">
            <a:avLst/>
          </a:prstGeom>
          <a:noFill/>
        </p:spPr>
        <p:txBody>
          <a:bodyPr wrap="square">
            <a:spAutoFit/>
          </a:bodyPr>
          <a:lstStyle/>
          <a:p>
            <a:pPr algn="ctr"/>
            <a:r>
              <a:rPr sz="1000" b="1" i="0">
                <a:solidFill>
                  <a:srgbClr val="068A4C"/>
                </a:solidFill>
                <a:latin typeface="Calibri"/>
              </a:rPr>
              <a:t>+20.9%</a:t>
            </a:r>
          </a:p>
        </p:txBody>
      </p:sp>
      <p:sp>
        <p:nvSpPr>
          <p:cNvPr id="44" name="Rectangle 43"/>
          <p:cNvSpPr/>
          <p:nvPr/>
        </p:nvSpPr>
        <p:spPr>
          <a:xfrm>
            <a:off x="137160" y="2542032"/>
            <a:ext cx="14173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82880" y="2569464"/>
            <a:ext cx="1325880" cy="265176"/>
          </a:xfrm>
          <a:prstGeom prst="rect">
            <a:avLst/>
          </a:prstGeom>
          <a:noFill/>
        </p:spPr>
        <p:txBody>
          <a:bodyPr wrap="square">
            <a:spAutoFit/>
          </a:bodyPr>
          <a:lstStyle/>
          <a:p>
            <a:pPr algn="ctr"/>
            <a:r>
              <a:rPr sz="1000" b="0" i="0">
                <a:solidFill>
                  <a:srgbClr val="1A1A2E"/>
                </a:solidFill>
                <a:latin typeface="Calibri"/>
              </a:rPr>
              <a:t>rush_hour_pm</a:t>
            </a:r>
          </a:p>
        </p:txBody>
      </p:sp>
      <p:sp>
        <p:nvSpPr>
          <p:cNvPr id="46" name="Rectangle 45"/>
          <p:cNvSpPr/>
          <p:nvPr/>
        </p:nvSpPr>
        <p:spPr>
          <a:xfrm>
            <a:off x="1554480" y="2542032"/>
            <a:ext cx="7315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600200" y="2569464"/>
            <a:ext cx="640080" cy="265176"/>
          </a:xfrm>
          <a:prstGeom prst="rect">
            <a:avLst/>
          </a:prstGeom>
          <a:noFill/>
        </p:spPr>
        <p:txBody>
          <a:bodyPr wrap="square">
            <a:spAutoFit/>
          </a:bodyPr>
          <a:lstStyle/>
          <a:p>
            <a:pPr algn="ctr"/>
            <a:r>
              <a:rPr sz="1000" b="0" i="0">
                <a:solidFill>
                  <a:srgbClr val="1A1A2E"/>
                </a:solidFill>
                <a:latin typeface="Calibri"/>
              </a:rPr>
              <a:t>13.67</a:t>
            </a:r>
          </a:p>
        </p:txBody>
      </p:sp>
      <p:sp>
        <p:nvSpPr>
          <p:cNvPr id="48" name="Rectangle 47"/>
          <p:cNvSpPr/>
          <p:nvPr/>
        </p:nvSpPr>
        <p:spPr>
          <a:xfrm>
            <a:off x="2286000" y="2542032"/>
            <a:ext cx="7315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31720" y="2569464"/>
            <a:ext cx="640080" cy="265176"/>
          </a:xfrm>
          <a:prstGeom prst="rect">
            <a:avLst/>
          </a:prstGeom>
          <a:noFill/>
        </p:spPr>
        <p:txBody>
          <a:bodyPr wrap="square">
            <a:spAutoFit/>
          </a:bodyPr>
          <a:lstStyle/>
          <a:p>
            <a:pPr algn="ctr"/>
            <a:r>
              <a:rPr sz="1000" b="0" i="0">
                <a:solidFill>
                  <a:srgbClr val="1A1A2E"/>
                </a:solidFill>
                <a:latin typeface="Calibri"/>
              </a:rPr>
              <a:t>12.33</a:t>
            </a:r>
          </a:p>
        </p:txBody>
      </p:sp>
      <p:sp>
        <p:nvSpPr>
          <p:cNvPr id="50" name="Rectangle 49"/>
          <p:cNvSpPr/>
          <p:nvPr/>
        </p:nvSpPr>
        <p:spPr>
          <a:xfrm>
            <a:off x="3017520" y="2542032"/>
            <a:ext cx="21031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063240" y="2569464"/>
            <a:ext cx="2011680" cy="265176"/>
          </a:xfrm>
          <a:prstGeom prst="rect">
            <a:avLst/>
          </a:prstGeom>
          <a:noFill/>
        </p:spPr>
        <p:txBody>
          <a:bodyPr wrap="square">
            <a:spAutoFit/>
          </a:bodyPr>
          <a:lstStyle/>
          <a:p>
            <a:pPr algn="ctr"/>
            <a:r>
              <a:rPr sz="1000" b="1" i="0">
                <a:solidFill>
                  <a:srgbClr val="068A4C"/>
                </a:solidFill>
                <a:latin typeface="Calibri"/>
              </a:rPr>
              <a:t>+10.8%</a:t>
            </a:r>
          </a:p>
        </p:txBody>
      </p:sp>
      <p:sp>
        <p:nvSpPr>
          <p:cNvPr id="52" name="Rectangle 51"/>
          <p:cNvSpPr/>
          <p:nvPr/>
        </p:nvSpPr>
        <p:spPr>
          <a:xfrm>
            <a:off x="137160" y="2862072"/>
            <a:ext cx="14173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82880" y="2889504"/>
            <a:ext cx="1325880" cy="265176"/>
          </a:xfrm>
          <a:prstGeom prst="rect">
            <a:avLst/>
          </a:prstGeom>
          <a:noFill/>
        </p:spPr>
        <p:txBody>
          <a:bodyPr wrap="square">
            <a:spAutoFit/>
          </a:bodyPr>
          <a:lstStyle/>
          <a:p>
            <a:pPr algn="ctr"/>
            <a:r>
              <a:rPr sz="1000" b="0" i="0">
                <a:solidFill>
                  <a:srgbClr val="1A1A2E"/>
                </a:solidFill>
                <a:latin typeface="Calibri"/>
              </a:rPr>
              <a:t>holiday</a:t>
            </a:r>
          </a:p>
        </p:txBody>
      </p:sp>
      <p:sp>
        <p:nvSpPr>
          <p:cNvPr id="54" name="Rectangle 53"/>
          <p:cNvSpPr/>
          <p:nvPr/>
        </p:nvSpPr>
        <p:spPr>
          <a:xfrm>
            <a:off x="1554480" y="2862072"/>
            <a:ext cx="7315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0200" y="2889504"/>
            <a:ext cx="640080" cy="265176"/>
          </a:xfrm>
          <a:prstGeom prst="rect">
            <a:avLst/>
          </a:prstGeom>
          <a:noFill/>
        </p:spPr>
        <p:txBody>
          <a:bodyPr wrap="square">
            <a:spAutoFit/>
          </a:bodyPr>
          <a:lstStyle/>
          <a:p>
            <a:pPr algn="ctr"/>
            <a:r>
              <a:rPr sz="1000" b="0" i="0">
                <a:solidFill>
                  <a:srgbClr val="1A1A2E"/>
                </a:solidFill>
                <a:latin typeface="Calibri"/>
              </a:rPr>
              <a:t>81.67</a:t>
            </a:r>
          </a:p>
        </p:txBody>
      </p:sp>
      <p:sp>
        <p:nvSpPr>
          <p:cNvPr id="56" name="Rectangle 55"/>
          <p:cNvSpPr/>
          <p:nvPr/>
        </p:nvSpPr>
        <p:spPr>
          <a:xfrm>
            <a:off x="2286000" y="2862072"/>
            <a:ext cx="7315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331720" y="2889504"/>
            <a:ext cx="640080" cy="265176"/>
          </a:xfrm>
          <a:prstGeom prst="rect">
            <a:avLst/>
          </a:prstGeom>
          <a:noFill/>
        </p:spPr>
        <p:txBody>
          <a:bodyPr wrap="square">
            <a:spAutoFit/>
          </a:bodyPr>
          <a:lstStyle/>
          <a:p>
            <a:pPr algn="ctr"/>
            <a:r>
              <a:rPr sz="1000" b="0" i="0">
                <a:solidFill>
                  <a:srgbClr val="1A1A2E"/>
                </a:solidFill>
                <a:latin typeface="Calibri"/>
              </a:rPr>
              <a:t>64.33</a:t>
            </a:r>
          </a:p>
        </p:txBody>
      </p:sp>
      <p:sp>
        <p:nvSpPr>
          <p:cNvPr id="58" name="Rectangle 57"/>
          <p:cNvSpPr/>
          <p:nvPr/>
        </p:nvSpPr>
        <p:spPr>
          <a:xfrm>
            <a:off x="3017520" y="2862072"/>
            <a:ext cx="21031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063240" y="2889504"/>
            <a:ext cx="2011680" cy="265176"/>
          </a:xfrm>
          <a:prstGeom prst="rect">
            <a:avLst/>
          </a:prstGeom>
          <a:noFill/>
        </p:spPr>
        <p:txBody>
          <a:bodyPr wrap="square">
            <a:spAutoFit/>
          </a:bodyPr>
          <a:lstStyle/>
          <a:p>
            <a:pPr algn="ctr"/>
            <a:r>
              <a:rPr sz="1000" b="1" i="0">
                <a:solidFill>
                  <a:srgbClr val="068A4C"/>
                </a:solidFill>
                <a:latin typeface="Calibri"/>
              </a:rPr>
              <a:t>+26.9%</a:t>
            </a:r>
          </a:p>
        </p:txBody>
      </p:sp>
      <p:sp>
        <p:nvSpPr>
          <p:cNvPr id="60" name="Rectangle 59"/>
          <p:cNvSpPr/>
          <p:nvPr/>
        </p:nvSpPr>
        <p:spPr>
          <a:xfrm>
            <a:off x="137160" y="3182112"/>
            <a:ext cx="14173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82880" y="3209544"/>
            <a:ext cx="1325880" cy="265176"/>
          </a:xfrm>
          <a:prstGeom prst="rect">
            <a:avLst/>
          </a:prstGeom>
          <a:noFill/>
        </p:spPr>
        <p:txBody>
          <a:bodyPr wrap="square">
            <a:spAutoFit/>
          </a:bodyPr>
          <a:lstStyle/>
          <a:p>
            <a:pPr algn="ctr"/>
            <a:r>
              <a:rPr sz="1000" b="0" i="0">
                <a:solidFill>
                  <a:srgbClr val="1A1A2E"/>
                </a:solidFill>
                <a:latin typeface="Calibri"/>
              </a:rPr>
              <a:t>incident</a:t>
            </a:r>
          </a:p>
        </p:txBody>
      </p:sp>
      <p:sp>
        <p:nvSpPr>
          <p:cNvPr id="62" name="Rectangle 61"/>
          <p:cNvSpPr/>
          <p:nvPr/>
        </p:nvSpPr>
        <p:spPr>
          <a:xfrm>
            <a:off x="1554480" y="3182112"/>
            <a:ext cx="7315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600200" y="3209544"/>
            <a:ext cx="640080" cy="265176"/>
          </a:xfrm>
          <a:prstGeom prst="rect">
            <a:avLst/>
          </a:prstGeom>
          <a:noFill/>
        </p:spPr>
        <p:txBody>
          <a:bodyPr wrap="square">
            <a:spAutoFit/>
          </a:bodyPr>
          <a:lstStyle/>
          <a:p>
            <a:pPr algn="ctr"/>
            <a:r>
              <a:rPr sz="1000" b="0" i="0">
                <a:solidFill>
                  <a:srgbClr val="1A1A2E"/>
                </a:solidFill>
                <a:latin typeface="Calibri"/>
              </a:rPr>
              <a:t>18.00</a:t>
            </a:r>
          </a:p>
        </p:txBody>
      </p:sp>
      <p:sp>
        <p:nvSpPr>
          <p:cNvPr id="64" name="Rectangle 63"/>
          <p:cNvSpPr/>
          <p:nvPr/>
        </p:nvSpPr>
        <p:spPr>
          <a:xfrm>
            <a:off x="2286000" y="3182112"/>
            <a:ext cx="7315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331720" y="3209544"/>
            <a:ext cx="640080" cy="265176"/>
          </a:xfrm>
          <a:prstGeom prst="rect">
            <a:avLst/>
          </a:prstGeom>
          <a:noFill/>
        </p:spPr>
        <p:txBody>
          <a:bodyPr wrap="square">
            <a:spAutoFit/>
          </a:bodyPr>
          <a:lstStyle/>
          <a:p>
            <a:pPr algn="ctr"/>
            <a:r>
              <a:rPr sz="1000" b="0" i="0">
                <a:solidFill>
                  <a:srgbClr val="1A1A2E"/>
                </a:solidFill>
                <a:latin typeface="Calibri"/>
              </a:rPr>
              <a:t>20.00</a:t>
            </a:r>
          </a:p>
        </p:txBody>
      </p:sp>
      <p:sp>
        <p:nvSpPr>
          <p:cNvPr id="66" name="Rectangle 65"/>
          <p:cNvSpPr/>
          <p:nvPr/>
        </p:nvSpPr>
        <p:spPr>
          <a:xfrm>
            <a:off x="3017520" y="3182112"/>
            <a:ext cx="21031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063240" y="3209544"/>
            <a:ext cx="2011680" cy="265176"/>
          </a:xfrm>
          <a:prstGeom prst="rect">
            <a:avLst/>
          </a:prstGeom>
          <a:noFill/>
        </p:spPr>
        <p:txBody>
          <a:bodyPr wrap="square">
            <a:spAutoFit/>
          </a:bodyPr>
          <a:lstStyle/>
          <a:p>
            <a:pPr algn="ctr"/>
            <a:r>
              <a:rPr sz="1000" b="1" i="0">
                <a:solidFill>
                  <a:srgbClr val="068A4C"/>
                </a:solidFill>
                <a:latin typeface="Calibri"/>
              </a:rPr>
              <a:t>−10.0% (wait traded)</a:t>
            </a:r>
          </a:p>
        </p:txBody>
      </p:sp>
      <p:sp>
        <p:nvSpPr>
          <p:cNvPr id="68" name="Rectangle 67"/>
          <p:cNvSpPr/>
          <p:nvPr/>
        </p:nvSpPr>
        <p:spPr>
          <a:xfrm>
            <a:off x="5440680" y="960120"/>
            <a:ext cx="1170432" cy="3200400"/>
          </a:xfrm>
          <a:prstGeom prst="rect">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504688" y="1024128"/>
            <a:ext cx="1042415" cy="365760"/>
          </a:xfrm>
          <a:prstGeom prst="rect">
            <a:avLst/>
          </a:prstGeom>
          <a:noFill/>
        </p:spPr>
        <p:txBody>
          <a:bodyPr wrap="square">
            <a:spAutoFit/>
          </a:bodyPr>
          <a:lstStyle/>
          <a:p>
            <a:pPr algn="ctr"/>
            <a:r>
              <a:rPr sz="900" b="1" i="0">
                <a:solidFill>
                  <a:srgbClr val="FFFFFF"/>
                </a:solidFill>
                <a:latin typeface="Calibri"/>
              </a:rPr>
              <a:t>FIXED-TIME</a:t>
            </a:r>
          </a:p>
        </p:txBody>
      </p:sp>
      <p:sp>
        <p:nvSpPr>
          <p:cNvPr id="70" name="Rectangle 69"/>
          <p:cNvSpPr/>
          <p:nvPr/>
        </p:nvSpPr>
        <p:spPr>
          <a:xfrm>
            <a:off x="5504688" y="1417320"/>
            <a:ext cx="1042415" cy="190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504688" y="1508760"/>
            <a:ext cx="1042415" cy="2423160"/>
          </a:xfrm>
          <a:prstGeom prst="rect">
            <a:avLst/>
          </a:prstGeom>
          <a:noFill/>
        </p:spPr>
        <p:txBody>
          <a:bodyPr wrap="square">
            <a:spAutoFit/>
          </a:bodyPr>
          <a:lstStyle/>
          <a:p>
            <a:pPr algn="l"/>
            <a:r>
              <a:rPr sz="900" b="0" i="0">
                <a:solidFill>
                  <a:srgbClr val="FFFFFF"/>
                </a:solidFill>
                <a:latin typeface="Calibri"/>
              </a:rPr>
              <a:t>Pre-timed cycles
No queue awareness
Baseline — worst overall</a:t>
            </a:r>
          </a:p>
        </p:txBody>
      </p:sp>
      <p:sp>
        <p:nvSpPr>
          <p:cNvPr id="72" name="Rectangle 71"/>
          <p:cNvSpPr/>
          <p:nvPr/>
        </p:nvSpPr>
        <p:spPr>
          <a:xfrm>
            <a:off x="6702552" y="960120"/>
            <a:ext cx="1170432" cy="3200400"/>
          </a:xfrm>
          <a:prstGeom prst="rect">
            <a:avLst/>
          </a:prstGeom>
          <a:solidFill>
            <a:srgbClr val="FB8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766560" y="1024128"/>
            <a:ext cx="1042415" cy="365760"/>
          </a:xfrm>
          <a:prstGeom prst="rect">
            <a:avLst/>
          </a:prstGeom>
          <a:noFill/>
        </p:spPr>
        <p:txBody>
          <a:bodyPr wrap="square">
            <a:spAutoFit/>
          </a:bodyPr>
          <a:lstStyle/>
          <a:p>
            <a:pPr algn="ctr"/>
            <a:r>
              <a:rPr sz="900" b="1" i="0">
                <a:solidFill>
                  <a:srgbClr val="FFFFFF"/>
                </a:solidFill>
                <a:latin typeface="Calibri"/>
              </a:rPr>
              <a:t>SPPO (SA-PPO)</a:t>
            </a:r>
          </a:p>
        </p:txBody>
      </p:sp>
      <p:sp>
        <p:nvSpPr>
          <p:cNvPr id="74" name="Rectangle 73"/>
          <p:cNvSpPr/>
          <p:nvPr/>
        </p:nvSpPr>
        <p:spPr>
          <a:xfrm>
            <a:off x="6766560" y="1417320"/>
            <a:ext cx="1042415" cy="190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766560" y="1508760"/>
            <a:ext cx="1042415" cy="2423160"/>
          </a:xfrm>
          <a:prstGeom prst="rect">
            <a:avLst/>
          </a:prstGeom>
          <a:noFill/>
        </p:spPr>
        <p:txBody>
          <a:bodyPr wrap="square">
            <a:spAutoFit/>
          </a:bodyPr>
          <a:lstStyle/>
          <a:p>
            <a:pPr algn="l"/>
            <a:r>
              <a:rPr sz="900" b="0" i="0">
                <a:solidFill>
                  <a:srgbClr val="FFFFFF"/>
                </a:solidFill>
                <a:latin typeface="Calibri"/>
              </a:rPr>
              <a:t>PPO on single junction
Local obs only
Better than Fixed;
no corridor coordination</a:t>
            </a:r>
          </a:p>
        </p:txBody>
      </p:sp>
      <p:sp>
        <p:nvSpPr>
          <p:cNvPr id="76" name="Rectangle 75"/>
          <p:cNvSpPr/>
          <p:nvPr/>
        </p:nvSpPr>
        <p:spPr>
          <a:xfrm>
            <a:off x="7964424" y="960120"/>
            <a:ext cx="1170432" cy="3200400"/>
          </a:xfrm>
          <a:prstGeom prst="rect">
            <a:avLst/>
          </a:prstGeom>
          <a:solidFill>
            <a:srgbClr val="068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028432" y="1024128"/>
            <a:ext cx="1042415" cy="365760"/>
          </a:xfrm>
          <a:prstGeom prst="rect">
            <a:avLst/>
          </a:prstGeom>
          <a:noFill/>
        </p:spPr>
        <p:txBody>
          <a:bodyPr wrap="square">
            <a:spAutoFit/>
          </a:bodyPr>
          <a:lstStyle/>
          <a:p>
            <a:pPr algn="ctr"/>
            <a:r>
              <a:rPr sz="900" b="1" i="0">
                <a:solidFill>
                  <a:srgbClr val="FFFFFF"/>
                </a:solidFill>
                <a:latin typeface="Calibri"/>
              </a:rPr>
              <a:t>MAPPO</a:t>
            </a:r>
          </a:p>
        </p:txBody>
      </p:sp>
      <p:sp>
        <p:nvSpPr>
          <p:cNvPr id="78" name="Rectangle 77"/>
          <p:cNvSpPr/>
          <p:nvPr/>
        </p:nvSpPr>
        <p:spPr>
          <a:xfrm>
            <a:off x="8028432" y="1417320"/>
            <a:ext cx="1042415" cy="190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028432" y="1508760"/>
            <a:ext cx="1042415" cy="2423160"/>
          </a:xfrm>
          <a:prstGeom prst="rect">
            <a:avLst/>
          </a:prstGeom>
          <a:noFill/>
        </p:spPr>
        <p:txBody>
          <a:bodyPr wrap="square">
            <a:spAutoFit/>
          </a:bodyPr>
          <a:lstStyle/>
          <a:p>
            <a:pPr algn="l"/>
            <a:r>
              <a:rPr sz="900" b="0" i="0">
                <a:solidFill>
                  <a:srgbClr val="FFFFFF"/>
                </a:solidFill>
                <a:latin typeface="Calibri"/>
              </a:rPr>
              <a:t>3 cooperative agents
CTDE — global reward
Best on all metrics
(except demand-limited low)</a:t>
            </a:r>
          </a:p>
        </p:txBody>
      </p:sp>
      <p:sp>
        <p:nvSpPr>
          <p:cNvPr id="80" name="TextBox 79"/>
          <p:cNvSpPr txBox="1"/>
          <p:nvPr/>
        </p:nvSpPr>
        <p:spPr>
          <a:xfrm>
            <a:off x="137160" y="4343400"/>
            <a:ext cx="8869680" cy="347472"/>
          </a:xfrm>
          <a:prstGeom prst="rect">
            <a:avLst/>
          </a:prstGeom>
          <a:noFill/>
        </p:spPr>
        <p:txBody>
          <a:bodyPr wrap="square">
            <a:spAutoFit/>
          </a:bodyPr>
          <a:lstStyle/>
          <a:p>
            <a:pPr algn="ctr"/>
            <a:r>
              <a:rPr sz="1400" b="1" i="0">
                <a:solidFill>
                  <a:srgbClr val="1A1A2E"/>
                </a:solidFill>
                <a:latin typeface="Calibri"/>
              </a:rPr>
              <a:t>Performance hierarchy:  MAPPO  &gt;  SPPO  &gt;  Fixed-Time</a:t>
            </a:r>
          </a:p>
        </p:txBody>
      </p:sp>
      <p:sp>
        <p:nvSpPr>
          <p:cNvPr id="81" name="TextBox 80"/>
          <p:cNvSpPr txBox="1"/>
          <p:nvPr/>
        </p:nvSpPr>
        <p:spPr>
          <a:xfrm>
            <a:off x="137160" y="4736592"/>
            <a:ext cx="8869680" cy="502920"/>
          </a:xfrm>
          <a:prstGeom prst="rect">
            <a:avLst/>
          </a:prstGeom>
          <a:noFill/>
        </p:spPr>
        <p:txBody>
          <a:bodyPr wrap="square">
            <a:spAutoFit/>
          </a:bodyPr>
          <a:lstStyle/>
          <a:p>
            <a:pPr algn="ctr"/>
            <a:r>
              <a:rPr sz="1100" b="0" i="0">
                <a:solidFill>
                  <a:srgbClr val="1A1A2E"/>
                </a:solidFill>
                <a:latin typeface="Calibri"/>
              </a:rPr>
              <a:t>Per-step time-series at TL_A confirm consistently lower waiting times, queues, stop ratios and pressures under MAPPO throughout the full 1,800-second simulation. MAPPO also exhibits emergent cross-junction coordination: green wave progression, incident-adaptive phase consolidation, holiday through-phase extension.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30543BC9-0A36-D103-DFD4-306B575710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26B2C97-FB7C-79E1-420B-896F537AB6E1}"/>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11</a:t>
            </a:r>
          </a:p>
        </p:txBody>
      </p:sp>
      <p:sp>
        <p:nvSpPr>
          <p:cNvPr id="5" name="Title 1">
            <a:extLst>
              <a:ext uri="{FF2B5EF4-FFF2-40B4-BE49-F238E27FC236}">
                <a16:creationId xmlns:a16="http://schemas.microsoft.com/office/drawing/2014/main" id="{28D268CF-EE2B-BFAD-1990-E839782D14C1}"/>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YOLOV8 VEHICLE DETECTION MODULE</a:t>
            </a:r>
          </a:p>
        </p:txBody>
      </p:sp>
      <p:pic>
        <p:nvPicPr>
          <p:cNvPr id="6" name="Content Placeholder 4">
            <a:extLst>
              <a:ext uri="{FF2B5EF4-FFF2-40B4-BE49-F238E27FC236}">
                <a16:creationId xmlns:a16="http://schemas.microsoft.com/office/drawing/2014/main" id="{A98033F3-9D23-2E4B-5173-10B144B3F820}"/>
              </a:ext>
            </a:extLst>
          </p:cNvPr>
          <p:cNvPicPr>
            <a:picLocks noGrp="1" noChangeAspect="1"/>
          </p:cNvPicPr>
          <p:nvPr>
            <p:ph idx="1"/>
          </p:nvPr>
        </p:nvPicPr>
        <p:blipFill>
          <a:blip r:embed="rId3"/>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9FE04023-D31B-790E-00C7-F44B62D856DD}"/>
              </a:ext>
            </a:extLst>
          </p:cNvPr>
          <p:cNvSpPr>
            <a:spLocks noGrp="1"/>
          </p:cNvSpPr>
          <p:nvPr>
            <p:ph type="sldNum" sz="quarter" idx="12"/>
          </p:nvPr>
        </p:nvSpPr>
        <p:spPr/>
        <p:txBody>
          <a:bodyPr/>
          <a:lstStyle/>
          <a:p>
            <a:fld id="{21004690-02AB-4EF8-9513-CB283ECF7991}" type="slidenum">
              <a:rPr lang="en-BW" smtClean="0"/>
              <a:t>2</a:t>
            </a:fld>
            <a:endParaRPr lang="en-BW"/>
          </a:p>
        </p:txBody>
      </p:sp>
      <p:pic>
        <p:nvPicPr>
          <p:cNvPr id="9" name="Picture 8">
            <a:extLst>
              <a:ext uri="{FF2B5EF4-FFF2-40B4-BE49-F238E27FC236}">
                <a16:creationId xmlns:a16="http://schemas.microsoft.com/office/drawing/2014/main" id="{AE7B97A8-40E2-366C-963C-E078DED597C8}"/>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C9F311F-2556-2CCF-E041-21C75B441D44}"/>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43D21A0A-29EE-FFA8-3B33-06CC5056E226}"/>
              </a:ext>
            </a:extLst>
          </p:cNvPr>
          <p:cNvSpPr txBox="1"/>
          <p:nvPr/>
        </p:nvSpPr>
        <p:spPr>
          <a:xfrm>
            <a:off x="947970" y="1768388"/>
            <a:ext cx="5846022" cy="2241960"/>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DEFINITION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PROJECT OBJECTIVES</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METHODOLOGY</a:t>
            </a:r>
          </a:p>
        </p:txBody>
      </p:sp>
      <p:sp>
        <p:nvSpPr>
          <p:cNvPr id="11" name="TextBox 10"/>
          <p:cNvSpPr txBox="1"/>
          <p:nvPr/>
        </p:nvSpPr>
        <p:spPr>
          <a:xfrm>
            <a:off x="137160" y="960120"/>
            <a:ext cx="5074920" cy="2377440"/>
          </a:xfrm>
          <a:prstGeom prst="rect">
            <a:avLst/>
          </a:prstGeom>
          <a:noFill/>
        </p:spPr>
        <p:txBody>
          <a:bodyPr wrap="square">
            <a:spAutoFit/>
          </a:bodyPr>
          <a:lstStyle/>
          <a:p>
            <a:r>
              <a:rPr sz="1200" b="0">
                <a:solidFill>
                  <a:srgbClr val="1A1A2E"/>
                </a:solidFill>
                <a:latin typeface="Calibri"/>
              </a:rPr>
              <a:t>•  Anchor-free detection head — better small-object recall, fewer hyperparameters</a:t>
            </a:r>
          </a:p>
          <a:p>
            <a:r>
              <a:rPr sz="1200" b="0">
                <a:solidFill>
                  <a:srgbClr val="1A1A2E"/>
                </a:solidFill>
                <a:latin typeface="Calibri"/>
              </a:rPr>
              <a:t>•  Single-stage (one forward pass) — &gt;100 FPS on mid-range GPU</a:t>
            </a:r>
          </a:p>
          <a:p>
            <a:r>
              <a:rPr sz="1200" b="0">
                <a:solidFill>
                  <a:srgbClr val="1A1A2E"/>
                </a:solidFill>
                <a:latin typeface="Calibri"/>
              </a:rPr>
              <a:t>•  Instance-level bounding boxes — separates overlapping vehicles</a:t>
            </a:r>
          </a:p>
          <a:p>
            <a:r>
              <a:rPr sz="1200" b="0">
                <a:solidFill>
                  <a:srgbClr val="1A1A2E"/>
                </a:solidFill>
                <a:latin typeface="Calibri"/>
              </a:rPr>
              <a:t>•  Outperforms classical OpenCV MOG2 on all criteria for outdoor intersections</a:t>
            </a:r>
          </a:p>
          <a:p>
            <a:r>
              <a:rPr sz="1200" b="0">
                <a:solidFill>
                  <a:srgbClr val="1A1A2E"/>
                </a:solidFill>
                <a:latin typeface="Calibri"/>
              </a:rPr>
              <a:t>•  Validated on sample Palapye traffic footage (independent validation)</a:t>
            </a:r>
          </a:p>
          <a:p>
            <a:r>
              <a:rPr sz="1200" b="0">
                <a:solidFill>
                  <a:srgbClr val="1A1A2E"/>
                </a:solidFill>
                <a:latin typeface="Calibri"/>
              </a:rPr>
              <a:t>•  Queue length estimated from stationary bounding-box count per approach arm</a:t>
            </a:r>
          </a:p>
        </p:txBody>
      </p:sp>
      <p:sp>
        <p:nvSpPr>
          <p:cNvPr id="12" name="Rectangle 11"/>
          <p:cNvSpPr/>
          <p:nvPr/>
        </p:nvSpPr>
        <p:spPr>
          <a:xfrm>
            <a:off x="137160" y="3401568"/>
            <a:ext cx="196596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80" y="3429000"/>
            <a:ext cx="1874520" cy="265176"/>
          </a:xfrm>
          <a:prstGeom prst="rect">
            <a:avLst/>
          </a:prstGeom>
          <a:noFill/>
        </p:spPr>
        <p:txBody>
          <a:bodyPr wrap="square">
            <a:spAutoFit/>
          </a:bodyPr>
          <a:lstStyle/>
          <a:p>
            <a:pPr algn="ctr"/>
            <a:r>
              <a:rPr sz="1000" b="1" i="0">
                <a:solidFill>
                  <a:srgbClr val="FFFFFF"/>
                </a:solidFill>
                <a:latin typeface="Calibri"/>
              </a:rPr>
              <a:t>Criterion</a:t>
            </a:r>
          </a:p>
        </p:txBody>
      </p:sp>
      <p:sp>
        <p:nvSpPr>
          <p:cNvPr id="14" name="Rectangle 13"/>
          <p:cNvSpPr/>
          <p:nvPr/>
        </p:nvSpPr>
        <p:spPr>
          <a:xfrm>
            <a:off x="2103120" y="3401568"/>
            <a:ext cx="141732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48840" y="3429000"/>
            <a:ext cx="1325880" cy="265176"/>
          </a:xfrm>
          <a:prstGeom prst="rect">
            <a:avLst/>
          </a:prstGeom>
          <a:noFill/>
        </p:spPr>
        <p:txBody>
          <a:bodyPr wrap="square">
            <a:spAutoFit/>
          </a:bodyPr>
          <a:lstStyle/>
          <a:p>
            <a:pPr algn="ctr"/>
            <a:r>
              <a:rPr sz="1000" b="1" i="0">
                <a:solidFill>
                  <a:srgbClr val="FFFFFF"/>
                </a:solidFill>
                <a:latin typeface="Calibri"/>
              </a:rPr>
              <a:t>OpenCV MOG2</a:t>
            </a:r>
          </a:p>
        </p:txBody>
      </p:sp>
      <p:sp>
        <p:nvSpPr>
          <p:cNvPr id="16" name="Rectangle 15"/>
          <p:cNvSpPr/>
          <p:nvPr/>
        </p:nvSpPr>
        <p:spPr>
          <a:xfrm>
            <a:off x="3520440" y="3401568"/>
            <a:ext cx="150876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66160" y="3429000"/>
            <a:ext cx="1417320" cy="265176"/>
          </a:xfrm>
          <a:prstGeom prst="rect">
            <a:avLst/>
          </a:prstGeom>
          <a:noFill/>
        </p:spPr>
        <p:txBody>
          <a:bodyPr wrap="square">
            <a:spAutoFit/>
          </a:bodyPr>
          <a:lstStyle/>
          <a:p>
            <a:pPr algn="ctr"/>
            <a:r>
              <a:rPr sz="1000" b="1" i="0">
                <a:solidFill>
                  <a:srgbClr val="FFFFFF"/>
                </a:solidFill>
                <a:latin typeface="Calibri"/>
              </a:rPr>
              <a:t>YOLOv8</a:t>
            </a:r>
          </a:p>
        </p:txBody>
      </p:sp>
      <p:sp>
        <p:nvSpPr>
          <p:cNvPr id="18" name="Rectangle 17"/>
          <p:cNvSpPr/>
          <p:nvPr/>
        </p:nvSpPr>
        <p:spPr>
          <a:xfrm>
            <a:off x="137160" y="3721608"/>
            <a:ext cx="196596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2880" y="3749040"/>
            <a:ext cx="1874520" cy="265176"/>
          </a:xfrm>
          <a:prstGeom prst="rect">
            <a:avLst/>
          </a:prstGeom>
          <a:noFill/>
        </p:spPr>
        <p:txBody>
          <a:bodyPr wrap="square">
            <a:spAutoFit/>
          </a:bodyPr>
          <a:lstStyle/>
          <a:p>
            <a:pPr algn="ctr"/>
            <a:r>
              <a:rPr sz="1000" b="0" i="0">
                <a:solidFill>
                  <a:srgbClr val="1A1A2E"/>
                </a:solidFill>
                <a:latin typeface="Calibri"/>
              </a:rPr>
              <a:t>Lighting robustness</a:t>
            </a:r>
          </a:p>
        </p:txBody>
      </p:sp>
      <p:sp>
        <p:nvSpPr>
          <p:cNvPr id="20" name="Rectangle 19"/>
          <p:cNvSpPr/>
          <p:nvPr/>
        </p:nvSpPr>
        <p:spPr>
          <a:xfrm>
            <a:off x="2103120" y="3721608"/>
            <a:ext cx="14173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48840" y="3749040"/>
            <a:ext cx="1325880" cy="265176"/>
          </a:xfrm>
          <a:prstGeom prst="rect">
            <a:avLst/>
          </a:prstGeom>
          <a:noFill/>
        </p:spPr>
        <p:txBody>
          <a:bodyPr wrap="square">
            <a:spAutoFit/>
          </a:bodyPr>
          <a:lstStyle/>
          <a:p>
            <a:pPr algn="ctr"/>
            <a:r>
              <a:rPr sz="1000" b="0" i="0">
                <a:solidFill>
                  <a:srgbClr val="1A1A2E"/>
                </a:solidFill>
                <a:latin typeface="Calibri"/>
              </a:rPr>
              <a:t>Poor</a:t>
            </a:r>
          </a:p>
        </p:txBody>
      </p:sp>
      <p:sp>
        <p:nvSpPr>
          <p:cNvPr id="22" name="Rectangle 21"/>
          <p:cNvSpPr/>
          <p:nvPr/>
        </p:nvSpPr>
        <p:spPr>
          <a:xfrm>
            <a:off x="3520440" y="3721608"/>
            <a:ext cx="150876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66160" y="3749040"/>
            <a:ext cx="1417320" cy="265176"/>
          </a:xfrm>
          <a:prstGeom prst="rect">
            <a:avLst/>
          </a:prstGeom>
          <a:noFill/>
        </p:spPr>
        <p:txBody>
          <a:bodyPr wrap="square">
            <a:spAutoFit/>
          </a:bodyPr>
          <a:lstStyle/>
          <a:p>
            <a:pPr algn="ctr"/>
            <a:r>
              <a:rPr sz="1000" b="1" i="0">
                <a:solidFill>
                  <a:srgbClr val="1A1A2E"/>
                </a:solidFill>
                <a:latin typeface="Calibri"/>
              </a:rPr>
              <a:t>Good</a:t>
            </a:r>
          </a:p>
        </p:txBody>
      </p:sp>
      <p:sp>
        <p:nvSpPr>
          <p:cNvPr id="24" name="Rectangle 23"/>
          <p:cNvSpPr/>
          <p:nvPr/>
        </p:nvSpPr>
        <p:spPr>
          <a:xfrm>
            <a:off x="137160" y="4041648"/>
            <a:ext cx="196596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2880" y="4069080"/>
            <a:ext cx="1874520" cy="265176"/>
          </a:xfrm>
          <a:prstGeom prst="rect">
            <a:avLst/>
          </a:prstGeom>
          <a:noFill/>
        </p:spPr>
        <p:txBody>
          <a:bodyPr wrap="square">
            <a:spAutoFit/>
          </a:bodyPr>
          <a:lstStyle/>
          <a:p>
            <a:pPr algn="ctr"/>
            <a:r>
              <a:rPr sz="1000" b="0" i="0">
                <a:solidFill>
                  <a:srgbClr val="1A1A2E"/>
                </a:solidFill>
                <a:latin typeface="Calibri"/>
              </a:rPr>
              <a:t>Occlusion handling</a:t>
            </a:r>
          </a:p>
        </p:txBody>
      </p:sp>
      <p:sp>
        <p:nvSpPr>
          <p:cNvPr id="26" name="Rectangle 25"/>
          <p:cNvSpPr/>
          <p:nvPr/>
        </p:nvSpPr>
        <p:spPr>
          <a:xfrm>
            <a:off x="2103120" y="4041648"/>
            <a:ext cx="14173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148840" y="4069080"/>
            <a:ext cx="1325880" cy="265176"/>
          </a:xfrm>
          <a:prstGeom prst="rect">
            <a:avLst/>
          </a:prstGeom>
          <a:noFill/>
        </p:spPr>
        <p:txBody>
          <a:bodyPr wrap="square">
            <a:spAutoFit/>
          </a:bodyPr>
          <a:lstStyle/>
          <a:p>
            <a:pPr algn="ctr"/>
            <a:r>
              <a:rPr sz="1000" b="0" i="0">
                <a:solidFill>
                  <a:srgbClr val="1A1A2E"/>
                </a:solidFill>
                <a:latin typeface="Calibri"/>
              </a:rPr>
              <a:t>Poor</a:t>
            </a:r>
          </a:p>
        </p:txBody>
      </p:sp>
      <p:sp>
        <p:nvSpPr>
          <p:cNvPr id="28" name="Rectangle 27"/>
          <p:cNvSpPr/>
          <p:nvPr/>
        </p:nvSpPr>
        <p:spPr>
          <a:xfrm>
            <a:off x="3520440" y="4041648"/>
            <a:ext cx="150876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66160" y="4069080"/>
            <a:ext cx="1417320" cy="265176"/>
          </a:xfrm>
          <a:prstGeom prst="rect">
            <a:avLst/>
          </a:prstGeom>
          <a:noFill/>
        </p:spPr>
        <p:txBody>
          <a:bodyPr wrap="square">
            <a:spAutoFit/>
          </a:bodyPr>
          <a:lstStyle/>
          <a:p>
            <a:pPr algn="ctr"/>
            <a:r>
              <a:rPr sz="1000" b="1" i="0">
                <a:solidFill>
                  <a:srgbClr val="1A1A2E"/>
                </a:solidFill>
                <a:latin typeface="Calibri"/>
              </a:rPr>
              <a:t>Good</a:t>
            </a:r>
          </a:p>
        </p:txBody>
      </p:sp>
      <p:sp>
        <p:nvSpPr>
          <p:cNvPr id="30" name="Rectangle 29"/>
          <p:cNvSpPr/>
          <p:nvPr/>
        </p:nvSpPr>
        <p:spPr>
          <a:xfrm>
            <a:off x="137160" y="4361688"/>
            <a:ext cx="196596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2880" y="4389120"/>
            <a:ext cx="1874520" cy="265176"/>
          </a:xfrm>
          <a:prstGeom prst="rect">
            <a:avLst/>
          </a:prstGeom>
          <a:noFill/>
        </p:spPr>
        <p:txBody>
          <a:bodyPr wrap="square">
            <a:spAutoFit/>
          </a:bodyPr>
          <a:lstStyle/>
          <a:p>
            <a:pPr algn="ctr"/>
            <a:r>
              <a:rPr sz="1000" b="0" i="0">
                <a:solidFill>
                  <a:srgbClr val="1A1A2E"/>
                </a:solidFill>
                <a:latin typeface="Calibri"/>
              </a:rPr>
              <a:t>Detection accuracy</a:t>
            </a:r>
          </a:p>
        </p:txBody>
      </p:sp>
      <p:sp>
        <p:nvSpPr>
          <p:cNvPr id="32" name="Rectangle 31"/>
          <p:cNvSpPr/>
          <p:nvPr/>
        </p:nvSpPr>
        <p:spPr>
          <a:xfrm>
            <a:off x="2103120" y="4361688"/>
            <a:ext cx="14173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48840" y="4389120"/>
            <a:ext cx="1325880" cy="265176"/>
          </a:xfrm>
          <a:prstGeom prst="rect">
            <a:avLst/>
          </a:prstGeom>
          <a:noFill/>
        </p:spPr>
        <p:txBody>
          <a:bodyPr wrap="square">
            <a:spAutoFit/>
          </a:bodyPr>
          <a:lstStyle/>
          <a:p>
            <a:pPr algn="ctr"/>
            <a:r>
              <a:rPr sz="1000" b="0" i="0">
                <a:solidFill>
                  <a:srgbClr val="1A1A2E"/>
                </a:solidFill>
                <a:latin typeface="Calibri"/>
              </a:rPr>
              <a:t>~90% cars</a:t>
            </a:r>
          </a:p>
        </p:txBody>
      </p:sp>
      <p:sp>
        <p:nvSpPr>
          <p:cNvPr id="34" name="Rectangle 33"/>
          <p:cNvSpPr/>
          <p:nvPr/>
        </p:nvSpPr>
        <p:spPr>
          <a:xfrm>
            <a:off x="3520440" y="4361688"/>
            <a:ext cx="150876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66160" y="4389120"/>
            <a:ext cx="1417320" cy="265176"/>
          </a:xfrm>
          <a:prstGeom prst="rect">
            <a:avLst/>
          </a:prstGeom>
          <a:noFill/>
        </p:spPr>
        <p:txBody>
          <a:bodyPr wrap="square">
            <a:spAutoFit/>
          </a:bodyPr>
          <a:lstStyle/>
          <a:p>
            <a:pPr algn="ctr"/>
            <a:r>
              <a:rPr sz="1000" b="1" i="0">
                <a:solidFill>
                  <a:srgbClr val="1A1A2E"/>
                </a:solidFill>
                <a:latin typeface="Calibri"/>
              </a:rPr>
              <a:t>&gt;90% all classes</a:t>
            </a:r>
          </a:p>
        </p:txBody>
      </p:sp>
      <p:sp>
        <p:nvSpPr>
          <p:cNvPr id="36" name="Rectangle 35"/>
          <p:cNvSpPr/>
          <p:nvPr/>
        </p:nvSpPr>
        <p:spPr>
          <a:xfrm>
            <a:off x="137160" y="4681728"/>
            <a:ext cx="196596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82880" y="4709160"/>
            <a:ext cx="1874520" cy="265176"/>
          </a:xfrm>
          <a:prstGeom prst="rect">
            <a:avLst/>
          </a:prstGeom>
          <a:noFill/>
        </p:spPr>
        <p:txBody>
          <a:bodyPr wrap="square">
            <a:spAutoFit/>
          </a:bodyPr>
          <a:lstStyle/>
          <a:p>
            <a:pPr algn="ctr"/>
            <a:r>
              <a:rPr sz="1000" b="0" i="0">
                <a:solidFill>
                  <a:srgbClr val="1A1A2E"/>
                </a:solidFill>
                <a:latin typeface="Calibri"/>
              </a:rPr>
              <a:t>Queue estimation</a:t>
            </a:r>
          </a:p>
        </p:txBody>
      </p:sp>
      <p:sp>
        <p:nvSpPr>
          <p:cNvPr id="38" name="Rectangle 37"/>
          <p:cNvSpPr/>
          <p:nvPr/>
        </p:nvSpPr>
        <p:spPr>
          <a:xfrm>
            <a:off x="2103120" y="4681728"/>
            <a:ext cx="141732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148840" y="4709160"/>
            <a:ext cx="1325880" cy="265176"/>
          </a:xfrm>
          <a:prstGeom prst="rect">
            <a:avLst/>
          </a:prstGeom>
          <a:noFill/>
        </p:spPr>
        <p:txBody>
          <a:bodyPr wrap="square">
            <a:spAutoFit/>
          </a:bodyPr>
          <a:lstStyle/>
          <a:p>
            <a:pPr algn="ctr"/>
            <a:r>
              <a:rPr sz="1000" b="0" i="0">
                <a:solidFill>
                  <a:srgbClr val="1A1A2E"/>
                </a:solidFill>
                <a:latin typeface="Calibri"/>
              </a:rPr>
              <a:t>Indirect</a:t>
            </a:r>
          </a:p>
        </p:txBody>
      </p:sp>
      <p:sp>
        <p:nvSpPr>
          <p:cNvPr id="40" name="Rectangle 39"/>
          <p:cNvSpPr/>
          <p:nvPr/>
        </p:nvSpPr>
        <p:spPr>
          <a:xfrm>
            <a:off x="3520440" y="4681728"/>
            <a:ext cx="1508760" cy="320040"/>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66160" y="4709160"/>
            <a:ext cx="1417320" cy="265176"/>
          </a:xfrm>
          <a:prstGeom prst="rect">
            <a:avLst/>
          </a:prstGeom>
          <a:noFill/>
        </p:spPr>
        <p:txBody>
          <a:bodyPr wrap="square">
            <a:spAutoFit/>
          </a:bodyPr>
          <a:lstStyle/>
          <a:p>
            <a:pPr algn="ctr"/>
            <a:r>
              <a:rPr sz="1000" b="1" i="0">
                <a:solidFill>
                  <a:srgbClr val="1A1A2E"/>
                </a:solidFill>
                <a:latin typeface="Calibri"/>
              </a:rPr>
              <a:t>Direct (stationary bbox)</a:t>
            </a:r>
          </a:p>
        </p:txBody>
      </p:sp>
      <p:sp>
        <p:nvSpPr>
          <p:cNvPr id="42" name="Rectangle 41"/>
          <p:cNvSpPr/>
          <p:nvPr/>
        </p:nvSpPr>
        <p:spPr>
          <a:xfrm>
            <a:off x="137160" y="5001768"/>
            <a:ext cx="196596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2880" y="5029200"/>
            <a:ext cx="1874520" cy="265176"/>
          </a:xfrm>
          <a:prstGeom prst="rect">
            <a:avLst/>
          </a:prstGeom>
          <a:noFill/>
        </p:spPr>
        <p:txBody>
          <a:bodyPr wrap="square">
            <a:spAutoFit/>
          </a:bodyPr>
          <a:lstStyle/>
          <a:p>
            <a:pPr algn="ctr"/>
            <a:r>
              <a:rPr sz="1000" b="0" i="0">
                <a:solidFill>
                  <a:srgbClr val="1A1A2E"/>
                </a:solidFill>
                <a:latin typeface="Calibri"/>
              </a:rPr>
              <a:t>Selected</a:t>
            </a:r>
          </a:p>
        </p:txBody>
      </p:sp>
      <p:sp>
        <p:nvSpPr>
          <p:cNvPr id="44" name="Rectangle 43"/>
          <p:cNvSpPr/>
          <p:nvPr/>
        </p:nvSpPr>
        <p:spPr>
          <a:xfrm>
            <a:off x="2103120" y="5001768"/>
            <a:ext cx="141732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148840" y="5029200"/>
            <a:ext cx="1325880" cy="265176"/>
          </a:xfrm>
          <a:prstGeom prst="rect">
            <a:avLst/>
          </a:prstGeom>
          <a:noFill/>
        </p:spPr>
        <p:txBody>
          <a:bodyPr wrap="square">
            <a:spAutoFit/>
          </a:bodyPr>
          <a:lstStyle/>
          <a:p>
            <a:pPr algn="ctr"/>
            <a:r>
              <a:rPr sz="1000" b="0" i="0">
                <a:solidFill>
                  <a:srgbClr val="1A1A2E"/>
                </a:solidFill>
                <a:latin typeface="Calibri"/>
              </a:rPr>
              <a:t>No</a:t>
            </a:r>
          </a:p>
        </p:txBody>
      </p:sp>
      <p:sp>
        <p:nvSpPr>
          <p:cNvPr id="46" name="Rectangle 45"/>
          <p:cNvSpPr/>
          <p:nvPr/>
        </p:nvSpPr>
        <p:spPr>
          <a:xfrm>
            <a:off x="3520440" y="5001768"/>
            <a:ext cx="1508760" cy="320040"/>
          </a:xfrm>
          <a:prstGeom prst="rect">
            <a:avLst/>
          </a:prstGeom>
          <a:solidFill>
            <a:srgbClr val="F0F5FB"/>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566160" y="5029200"/>
            <a:ext cx="1417320" cy="265176"/>
          </a:xfrm>
          <a:prstGeom prst="rect">
            <a:avLst/>
          </a:prstGeom>
          <a:noFill/>
        </p:spPr>
        <p:txBody>
          <a:bodyPr wrap="square">
            <a:spAutoFit/>
          </a:bodyPr>
          <a:lstStyle/>
          <a:p>
            <a:pPr algn="ctr"/>
            <a:r>
              <a:rPr sz="1000" b="1" i="0">
                <a:solidFill>
                  <a:srgbClr val="1A1A2E"/>
                </a:solidFill>
                <a:latin typeface="Calibri"/>
              </a:rPr>
              <a:t>YES</a:t>
            </a:r>
          </a:p>
        </p:txBody>
      </p:sp>
      <p:sp>
        <p:nvSpPr>
          <p:cNvPr id="48" name="Rectangle 47"/>
          <p:cNvSpPr/>
          <p:nvPr/>
        </p:nvSpPr>
        <p:spPr>
          <a:xfrm>
            <a:off x="5349240" y="960120"/>
            <a:ext cx="3703320" cy="4206240"/>
          </a:xfrm>
          <a:prstGeom prst="rect">
            <a:avLst/>
          </a:prstGeom>
          <a:solidFill>
            <a:srgbClr val="F0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40680" y="1024128"/>
            <a:ext cx="3520440" cy="256032"/>
          </a:xfrm>
          <a:prstGeom prst="rect">
            <a:avLst/>
          </a:prstGeom>
          <a:noFill/>
        </p:spPr>
        <p:txBody>
          <a:bodyPr wrap="square">
            <a:spAutoFit/>
          </a:bodyPr>
          <a:lstStyle/>
          <a:p>
            <a:pPr algn="l"/>
            <a:r>
              <a:rPr sz="1100" b="1" i="0">
                <a:solidFill>
                  <a:srgbClr val="0070C0"/>
                </a:solidFill>
                <a:latin typeface="Calibri"/>
              </a:rPr>
              <a:t>FUTURE INTEGRATION PATHWAY</a:t>
            </a:r>
          </a:p>
        </p:txBody>
      </p:sp>
      <p:sp>
        <p:nvSpPr>
          <p:cNvPr id="50" name="TextBox 49"/>
          <p:cNvSpPr txBox="1"/>
          <p:nvPr/>
        </p:nvSpPr>
        <p:spPr>
          <a:xfrm>
            <a:off x="5440680" y="1325880"/>
            <a:ext cx="3520440" cy="1828800"/>
          </a:xfrm>
          <a:prstGeom prst="rect">
            <a:avLst/>
          </a:prstGeom>
          <a:noFill/>
        </p:spPr>
        <p:txBody>
          <a:bodyPr wrap="square">
            <a:spAutoFit/>
          </a:bodyPr>
          <a:lstStyle/>
          <a:p>
            <a:r>
              <a:rPr sz="1100" b="0">
                <a:solidFill>
                  <a:srgbClr val="1A1A2E"/>
                </a:solidFill>
                <a:latin typeface="Calibri"/>
              </a:rPr>
              <a:t>•  Deploy calibrated camera at one A1 junction</a:t>
            </a:r>
          </a:p>
          <a:p>
            <a:r>
              <a:rPr sz="1100" b="0">
                <a:solidFill>
                  <a:srgbClr val="1A1A2E"/>
                </a:solidFill>
                <a:latin typeface="Calibri"/>
              </a:rPr>
              <a:t>•  Validate queue estimates vs manual counts</a:t>
            </a:r>
          </a:p>
          <a:p>
            <a:r>
              <a:rPr sz="1100" b="0">
                <a:solidFill>
                  <a:srgbClr val="1A1A2E"/>
                </a:solidFill>
                <a:latin typeface="Calibri"/>
              </a:rPr>
              <a:t>•  Replace SUMO TraCI obs with live YOLO estimates in MAPPO obs pipeline</a:t>
            </a:r>
          </a:p>
          <a:p>
            <a:r>
              <a:rPr sz="1100" b="0">
                <a:solidFill>
                  <a:srgbClr val="1A1A2E"/>
                </a:solidFill>
                <a:latin typeface="Calibri"/>
              </a:rPr>
              <a:t>•  Closed-loop: real camera → YOLO → MAPPO policy → signal actuation</a:t>
            </a:r>
          </a:p>
        </p:txBody>
      </p:sp>
      <p:sp>
        <p:nvSpPr>
          <p:cNvPr id="51" name="Rectangle 50"/>
          <p:cNvSpPr/>
          <p:nvPr/>
        </p:nvSpPr>
        <p:spPr>
          <a:xfrm>
            <a:off x="5440680" y="3200400"/>
            <a:ext cx="3520440" cy="19050"/>
          </a:xfrm>
          <a:prstGeom prst="rect">
            <a:avLst/>
          </a:prstGeom>
          <a:solidFill>
            <a:srgbClr val="FB8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40680" y="3291840"/>
            <a:ext cx="3520440" cy="777240"/>
          </a:xfrm>
          <a:prstGeom prst="rect">
            <a:avLst/>
          </a:prstGeom>
          <a:noFill/>
        </p:spPr>
        <p:txBody>
          <a:bodyPr wrap="square">
            <a:spAutoFit/>
          </a:bodyPr>
          <a:lstStyle/>
          <a:p>
            <a:pPr algn="ctr"/>
            <a:r>
              <a:rPr sz="1100" b="1" i="1">
                <a:solidFill>
                  <a:srgbClr val="1A1A2E"/>
                </a:solidFill>
                <a:latin typeface="Calibri"/>
              </a:rPr>
              <a:t>Vision: real-world deployment replaces SUMO TraCI with live YOLOv8 observations</a:t>
            </a:r>
          </a:p>
        </p:txBody>
      </p:sp>
      <p:sp>
        <p:nvSpPr>
          <p:cNvPr id="53" name="TextBox 52"/>
          <p:cNvSpPr txBox="1"/>
          <p:nvPr/>
        </p:nvSpPr>
        <p:spPr>
          <a:xfrm>
            <a:off x="137160" y="4773168"/>
            <a:ext cx="8869680" cy="365760"/>
          </a:xfrm>
          <a:prstGeom prst="rect">
            <a:avLst/>
          </a:prstGeom>
          <a:noFill/>
        </p:spPr>
        <p:txBody>
          <a:bodyPr wrap="square">
            <a:spAutoFit/>
          </a:bodyPr>
          <a:lstStyle/>
          <a:p>
            <a:pPr algn="ctr"/>
            <a:r>
              <a:rPr sz="1100" b="0" i="1">
                <a:solidFill>
                  <a:srgbClr val="555555"/>
                </a:solidFill>
                <a:latin typeface="Calibri"/>
              </a:rPr>
              <a:t>Current status: module implemented and validated independently; full integration with the SUMO training loop is identified as future work.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30543BC9-0A36-D103-DFD4-306B575710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26B2C97-FB7C-79E1-420B-896F537AB6E1}"/>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12</a:t>
            </a:r>
          </a:p>
        </p:txBody>
      </p:sp>
      <p:sp>
        <p:nvSpPr>
          <p:cNvPr id="5" name="Title 1">
            <a:extLst>
              <a:ext uri="{FF2B5EF4-FFF2-40B4-BE49-F238E27FC236}">
                <a16:creationId xmlns:a16="http://schemas.microsoft.com/office/drawing/2014/main" id="{28D268CF-EE2B-BFAD-1990-E839782D14C1}"/>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CONCLUSIONS</a:t>
            </a:r>
          </a:p>
        </p:txBody>
      </p:sp>
      <p:pic>
        <p:nvPicPr>
          <p:cNvPr id="6" name="Content Placeholder 4">
            <a:extLst>
              <a:ext uri="{FF2B5EF4-FFF2-40B4-BE49-F238E27FC236}">
                <a16:creationId xmlns:a16="http://schemas.microsoft.com/office/drawing/2014/main" id="{A98033F3-9D23-2E4B-5173-10B144B3F820}"/>
              </a:ext>
            </a:extLst>
          </p:cNvPr>
          <p:cNvPicPr>
            <a:picLocks noGrp="1" noChangeAspect="1"/>
          </p:cNvPicPr>
          <p:nvPr>
            <p:ph idx="1"/>
          </p:nvPr>
        </p:nvPicPr>
        <p:blipFill>
          <a:blip r:embed="rId3"/>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9FE04023-D31B-790E-00C7-F44B62D856DD}"/>
              </a:ext>
            </a:extLst>
          </p:cNvPr>
          <p:cNvSpPr>
            <a:spLocks noGrp="1"/>
          </p:cNvSpPr>
          <p:nvPr>
            <p:ph type="sldNum" sz="quarter" idx="12"/>
          </p:nvPr>
        </p:nvSpPr>
        <p:spPr/>
        <p:txBody>
          <a:bodyPr/>
          <a:lstStyle/>
          <a:p>
            <a:fld id="{21004690-02AB-4EF8-9513-CB283ECF7991}" type="slidenum">
              <a:rPr lang="en-BW" smtClean="0"/>
              <a:t>2</a:t>
            </a:fld>
            <a:endParaRPr lang="en-BW"/>
          </a:p>
        </p:txBody>
      </p:sp>
      <p:pic>
        <p:nvPicPr>
          <p:cNvPr id="9" name="Picture 8">
            <a:extLst>
              <a:ext uri="{FF2B5EF4-FFF2-40B4-BE49-F238E27FC236}">
                <a16:creationId xmlns:a16="http://schemas.microsoft.com/office/drawing/2014/main" id="{AE7B97A8-40E2-366C-963C-E078DED597C8}"/>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C9F311F-2556-2CCF-E041-21C75B441D44}"/>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43D21A0A-29EE-FFA8-3B33-06CC5056E226}"/>
              </a:ext>
            </a:extLst>
          </p:cNvPr>
          <p:cNvSpPr txBox="1"/>
          <p:nvPr/>
        </p:nvSpPr>
        <p:spPr>
          <a:xfrm>
            <a:off x="947970" y="1768388"/>
            <a:ext cx="5846022" cy="2241960"/>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DEFINITION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PROJECT OBJECTIVES</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METHODOLOGY</a:t>
            </a:r>
          </a:p>
        </p:txBody>
      </p:sp>
      <p:sp>
        <p:nvSpPr>
          <p:cNvPr id="11" name="TextBox 10"/>
          <p:cNvSpPr txBox="1"/>
          <p:nvPr/>
        </p:nvSpPr>
        <p:spPr>
          <a:xfrm>
            <a:off x="137160" y="960120"/>
            <a:ext cx="8869680" cy="274320"/>
          </a:xfrm>
          <a:prstGeom prst="rect">
            <a:avLst/>
          </a:prstGeom>
          <a:noFill/>
        </p:spPr>
        <p:txBody>
          <a:bodyPr wrap="square">
            <a:spAutoFit/>
          </a:bodyPr>
          <a:lstStyle/>
          <a:p>
            <a:pPr algn="l"/>
            <a:r>
              <a:rPr sz="1300" b="1" i="0">
                <a:solidFill>
                  <a:srgbClr val="0070C0"/>
                </a:solidFill>
                <a:latin typeface="Calibri"/>
              </a:rPr>
              <a:t>Phase 1: Single-Agent PPO Baseline</a:t>
            </a:r>
          </a:p>
        </p:txBody>
      </p:sp>
      <p:sp>
        <p:nvSpPr>
          <p:cNvPr id="12" name="TextBox 11"/>
          <p:cNvSpPr txBox="1"/>
          <p:nvPr/>
        </p:nvSpPr>
        <p:spPr>
          <a:xfrm>
            <a:off x="137160" y="1261872"/>
            <a:ext cx="8869680" cy="1463040"/>
          </a:xfrm>
          <a:prstGeom prst="rect">
            <a:avLst/>
          </a:prstGeom>
          <a:noFill/>
        </p:spPr>
        <p:txBody>
          <a:bodyPr wrap="square">
            <a:spAutoFit/>
          </a:bodyPr>
          <a:lstStyle/>
          <a:p>
            <a:r>
              <a:rPr sz="1200" b="0">
                <a:solidFill>
                  <a:srgbClr val="1A1A2E"/>
                </a:solidFill>
                <a:latin typeface="Calibri"/>
              </a:rPr>
              <a:t>•  Trained on one SUMO junction; 9,000 timesteps; 5 demand phases</a:t>
            </a:r>
          </a:p>
          <a:p>
            <a:r>
              <a:rPr sz="1200" b="0">
                <a:solidFill>
                  <a:srgbClr val="1A1A2E"/>
                </a:solidFill>
                <a:latin typeface="Calibri"/>
              </a:rPr>
              <a:t>•  48.5% throughput improvement, 27.8% queue reduction, 27.3% pressure reduction vs Fixed (p&lt;0.001)</a:t>
            </a:r>
          </a:p>
          <a:p>
            <a:r>
              <a:rPr sz="1200" b="0">
                <a:solidFill>
                  <a:srgbClr val="1A1A2E"/>
                </a:solidFill>
                <a:latin typeface="Calibri"/>
              </a:rPr>
              <a:t>•  50–68% delay improvement during heavy/peak demand — aggregate figure misleading</a:t>
            </a:r>
          </a:p>
          <a:p>
            <a:r>
              <a:rPr sz="1200" b="0">
                <a:solidFill>
                  <a:srgbClr val="1A1A2E"/>
                </a:solidFill>
                <a:latin typeface="Calibri"/>
              </a:rPr>
              <a:t>•  Established quantitative benchmark and proved RL can learn adaptive signal control</a:t>
            </a:r>
          </a:p>
        </p:txBody>
      </p:sp>
      <p:sp>
        <p:nvSpPr>
          <p:cNvPr id="13" name="TextBox 12"/>
          <p:cNvSpPr txBox="1"/>
          <p:nvPr/>
        </p:nvSpPr>
        <p:spPr>
          <a:xfrm>
            <a:off x="137160" y="2788920"/>
            <a:ext cx="8869680" cy="274320"/>
          </a:xfrm>
          <a:prstGeom prst="rect">
            <a:avLst/>
          </a:prstGeom>
          <a:noFill/>
        </p:spPr>
        <p:txBody>
          <a:bodyPr wrap="square">
            <a:spAutoFit/>
          </a:bodyPr>
          <a:lstStyle/>
          <a:p>
            <a:pPr algn="l"/>
            <a:r>
              <a:rPr sz="1300" b="1" i="0">
                <a:solidFill>
                  <a:srgbClr val="0070C0"/>
                </a:solidFill>
                <a:latin typeface="Calibri"/>
              </a:rPr>
              <a:t>Phase 2: MAPPO Multi-Intersection Extension</a:t>
            </a:r>
          </a:p>
        </p:txBody>
      </p:sp>
      <p:sp>
        <p:nvSpPr>
          <p:cNvPr id="14" name="TextBox 13"/>
          <p:cNvSpPr txBox="1"/>
          <p:nvPr/>
        </p:nvSpPr>
        <p:spPr>
          <a:xfrm>
            <a:off x="137160" y="3090672"/>
            <a:ext cx="8869680" cy="1691640"/>
          </a:xfrm>
          <a:prstGeom prst="rect">
            <a:avLst/>
          </a:prstGeom>
          <a:noFill/>
        </p:spPr>
        <p:txBody>
          <a:bodyPr wrap="square">
            <a:spAutoFit/>
          </a:bodyPr>
          <a:lstStyle/>
          <a:p>
            <a:r>
              <a:rPr sz="1200" b="0">
                <a:solidFill>
                  <a:srgbClr val="1A1A2E"/>
                </a:solidFill>
                <a:latin typeface="Calibri"/>
              </a:rPr>
              <a:t>•  All 3 A1 junctions controlled cooperatively; 1.5M steps; 6 scenarios; 3-stage curriculum</a:t>
            </a:r>
          </a:p>
          <a:p>
            <a:r>
              <a:rPr sz="1200" b="0">
                <a:solidFill>
                  <a:srgbClr val="1A1A2E"/>
                </a:solidFill>
                <a:latin typeface="Calibri"/>
              </a:rPr>
              <a:t>•  Evaluation reward: 78% reduction in penalty; clean convergence plateau confirmed</a:t>
            </a:r>
          </a:p>
          <a:p>
            <a:r>
              <a:rPr sz="1200" b="0">
                <a:solidFill>
                  <a:srgbClr val="1A1A2E"/>
                </a:solidFill>
                <a:latin typeface="Calibri"/>
              </a:rPr>
              <a:t>•  Waiting time at TL_A vs Fixed: reduced 31.8%–97.3% across ALL 6 scenarios</a:t>
            </a:r>
          </a:p>
          <a:p>
            <a:r>
              <a:rPr sz="1200" b="0">
                <a:solidFill>
                  <a:srgbClr val="1A1A2E"/>
                </a:solidFill>
                <a:latin typeface="Calibri"/>
              </a:rPr>
              <a:t>•  Throughput: +10.8% to +26.9% in high-demand; small trade-off under light demand</a:t>
            </a:r>
          </a:p>
          <a:p>
            <a:r>
              <a:rPr sz="1200" b="0">
                <a:solidFill>
                  <a:srgbClr val="1A1A2E"/>
                </a:solidFill>
                <a:latin typeface="Calibri"/>
              </a:rPr>
              <a:t>•  Emergent cross-junction coordination: green wave, incident-adaptive phase consolidation</a:t>
            </a:r>
          </a:p>
          <a:p>
            <a:r>
              <a:rPr sz="1200" b="0">
                <a:solidFill>
                  <a:srgbClr val="1A1A2E"/>
                </a:solidFill>
                <a:latin typeface="Calibri"/>
              </a:rPr>
              <a:t>•  First reported cooperative MARL evaluation on a Botswana signalised corridor</a:t>
            </a:r>
          </a:p>
        </p:txBody>
      </p:sp>
      <p:sp>
        <p:nvSpPr>
          <p:cNvPr id="15" name="Rectangle 14"/>
          <p:cNvSpPr/>
          <p:nvPr/>
        </p:nvSpPr>
        <p:spPr>
          <a:xfrm>
            <a:off x="109728" y="4937760"/>
            <a:ext cx="8924544"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1168" y="5010912"/>
            <a:ext cx="8778240" cy="347472"/>
          </a:xfrm>
          <a:prstGeom prst="rect">
            <a:avLst/>
          </a:prstGeom>
          <a:noFill/>
        </p:spPr>
        <p:txBody>
          <a:bodyPr wrap="square">
            <a:spAutoFit/>
          </a:bodyPr>
          <a:lstStyle/>
          <a:p>
            <a:pPr algn="ctr"/>
            <a:r>
              <a:rPr sz="1100" b="1" i="0">
                <a:solidFill>
                  <a:srgbClr val="FFFFFF"/>
                </a:solidFill>
                <a:latin typeface="Calibri"/>
              </a:rPr>
              <a:t>Phase 1 proved RL can learn adaptive signal control at one junction.  Phase 2 demonstrated cooperative MARL extends that to the full A1 corridor — delivering measurably stronger performance where single-agent and fixed-time approaches fail.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30543BC9-0A36-D103-DFD4-306B575710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26B2C97-FB7C-79E1-420B-896F537AB6E1}"/>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dirty="0">
                <a:solidFill>
                  <a:schemeClr val="bg1"/>
                </a:solidFill>
                <a:latin typeface="Trebuchet MS" pitchFamily="34" charset="0"/>
                <a:cs typeface="Trebuchet MS"/>
              </a:rPr>
              <a:t>13</a:t>
            </a:r>
          </a:p>
        </p:txBody>
      </p:sp>
      <p:sp>
        <p:nvSpPr>
          <p:cNvPr id="5" name="Title 1">
            <a:extLst>
              <a:ext uri="{FF2B5EF4-FFF2-40B4-BE49-F238E27FC236}">
                <a16:creationId xmlns:a16="http://schemas.microsoft.com/office/drawing/2014/main" id="{28D268CF-EE2B-BFAD-1990-E839782D14C1}"/>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RECOMMENDATIONS &amp; FUTURE WORK</a:t>
            </a:r>
          </a:p>
        </p:txBody>
      </p:sp>
      <p:pic>
        <p:nvPicPr>
          <p:cNvPr id="6" name="Content Placeholder 4">
            <a:extLst>
              <a:ext uri="{FF2B5EF4-FFF2-40B4-BE49-F238E27FC236}">
                <a16:creationId xmlns:a16="http://schemas.microsoft.com/office/drawing/2014/main" id="{A98033F3-9D23-2E4B-5173-10B144B3F820}"/>
              </a:ext>
            </a:extLst>
          </p:cNvPr>
          <p:cNvPicPr>
            <a:picLocks noGrp="1" noChangeAspect="1"/>
          </p:cNvPicPr>
          <p:nvPr>
            <p:ph idx="1"/>
          </p:nvPr>
        </p:nvPicPr>
        <p:blipFill>
          <a:blip r:embed="rId3"/>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9FE04023-D31B-790E-00C7-F44B62D856DD}"/>
              </a:ext>
            </a:extLst>
          </p:cNvPr>
          <p:cNvSpPr>
            <a:spLocks noGrp="1"/>
          </p:cNvSpPr>
          <p:nvPr>
            <p:ph type="sldNum" sz="quarter" idx="12"/>
          </p:nvPr>
        </p:nvSpPr>
        <p:spPr/>
        <p:txBody>
          <a:bodyPr/>
          <a:lstStyle/>
          <a:p>
            <a:fld id="{21004690-02AB-4EF8-9513-CB283ECF7991}" type="slidenum">
              <a:rPr lang="en-BW" smtClean="0"/>
              <a:t>2</a:t>
            </a:fld>
            <a:endParaRPr lang="en-BW"/>
          </a:p>
        </p:txBody>
      </p:sp>
      <p:pic>
        <p:nvPicPr>
          <p:cNvPr id="9" name="Picture 8">
            <a:extLst>
              <a:ext uri="{FF2B5EF4-FFF2-40B4-BE49-F238E27FC236}">
                <a16:creationId xmlns:a16="http://schemas.microsoft.com/office/drawing/2014/main" id="{AE7B97A8-40E2-366C-963C-E078DED597C8}"/>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FC9F311F-2556-2CCF-E041-21C75B441D44}"/>
              </a:ext>
            </a:extLst>
          </p:cNvPr>
          <p:cNvPicPr>
            <a:picLocks noChangeAspect="1"/>
          </p:cNvPicPr>
          <p:nvPr/>
        </p:nvPicPr>
        <p:blipFill>
          <a:blip r:embed="rId4"/>
          <a:stretch>
            <a:fillRect/>
          </a:stretch>
        </p:blipFill>
        <p:spPr>
          <a:xfrm>
            <a:off x="0" y="6610277"/>
            <a:ext cx="9144000" cy="254891"/>
          </a:xfrm>
          <a:prstGeom prst="rect">
            <a:avLst/>
          </a:prstGeom>
        </p:spPr>
      </p:pic>
      <p:sp>
        <p:nvSpPr>
          <p:cNvPr id="7" name="TextBox 6">
            <a:extLst>
              <a:ext uri="{FF2B5EF4-FFF2-40B4-BE49-F238E27FC236}">
                <a16:creationId xmlns:a16="http://schemas.microsoft.com/office/drawing/2014/main" id="{43D21A0A-29EE-FFA8-3B33-06CC5056E226}"/>
              </a:ext>
            </a:extLst>
          </p:cNvPr>
          <p:cNvSpPr txBox="1"/>
          <p:nvPr/>
        </p:nvSpPr>
        <p:spPr>
          <a:xfrm>
            <a:off x="947970" y="1768388"/>
            <a:ext cx="5846022" cy="2241960"/>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DEFINITION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PROJECT OBJECTIVES</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METHODOLOGY</a:t>
            </a:r>
          </a:p>
        </p:txBody>
      </p:sp>
      <p:sp>
        <p:nvSpPr>
          <p:cNvPr id="11" name="Rectangle 10"/>
          <p:cNvSpPr/>
          <p:nvPr/>
        </p:nvSpPr>
        <p:spPr>
          <a:xfrm>
            <a:off x="137160" y="960120"/>
            <a:ext cx="4315968" cy="6858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0312" y="996696"/>
            <a:ext cx="4169664" cy="237744"/>
          </a:xfrm>
          <a:prstGeom prst="rect">
            <a:avLst/>
          </a:prstGeom>
          <a:noFill/>
        </p:spPr>
        <p:txBody>
          <a:bodyPr wrap="square">
            <a:spAutoFit/>
          </a:bodyPr>
          <a:lstStyle/>
          <a:p>
            <a:pPr algn="l"/>
            <a:r>
              <a:rPr sz="1000" b="1" i="0">
                <a:solidFill>
                  <a:srgbClr val="FFFFFF"/>
                </a:solidFill>
                <a:latin typeface="Calibri"/>
              </a:rPr>
              <a:t>Field Traffic Count Collection</a:t>
            </a:r>
          </a:p>
        </p:txBody>
      </p:sp>
      <p:sp>
        <p:nvSpPr>
          <p:cNvPr id="13" name="TextBox 12"/>
          <p:cNvSpPr txBox="1"/>
          <p:nvPr/>
        </p:nvSpPr>
        <p:spPr>
          <a:xfrm>
            <a:off x="210312" y="1261872"/>
            <a:ext cx="4169664" cy="338328"/>
          </a:xfrm>
          <a:prstGeom prst="rect">
            <a:avLst/>
          </a:prstGeom>
          <a:noFill/>
        </p:spPr>
        <p:txBody>
          <a:bodyPr wrap="square">
            <a:spAutoFit/>
          </a:bodyPr>
          <a:lstStyle/>
          <a:p>
            <a:pPr algn="l"/>
            <a:r>
              <a:rPr sz="900" b="0" i="0">
                <a:solidFill>
                  <a:srgbClr val="FFFFFF"/>
                </a:solidFill>
                <a:latin typeface="Calibri"/>
              </a:rPr>
              <a:t>Obtain real turning movement counts from the Botswana DoR to calibrate the SUMO model.</a:t>
            </a:r>
          </a:p>
        </p:txBody>
      </p:sp>
      <p:sp>
        <p:nvSpPr>
          <p:cNvPr id="14" name="Rectangle 13"/>
          <p:cNvSpPr/>
          <p:nvPr/>
        </p:nvSpPr>
        <p:spPr>
          <a:xfrm>
            <a:off x="4562856" y="960120"/>
            <a:ext cx="4315968" cy="6858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36008" y="996696"/>
            <a:ext cx="4169664" cy="237744"/>
          </a:xfrm>
          <a:prstGeom prst="rect">
            <a:avLst/>
          </a:prstGeom>
          <a:noFill/>
        </p:spPr>
        <p:txBody>
          <a:bodyPr wrap="square">
            <a:spAutoFit/>
          </a:bodyPr>
          <a:lstStyle/>
          <a:p>
            <a:pPr algn="l"/>
            <a:r>
              <a:rPr sz="1000" b="1" i="0">
                <a:solidFill>
                  <a:srgbClr val="FFFFFF"/>
                </a:solidFill>
                <a:latin typeface="Calibri"/>
              </a:rPr>
              <a:t>Camera Calibration + YOLO Integration</a:t>
            </a:r>
          </a:p>
        </p:txBody>
      </p:sp>
      <p:sp>
        <p:nvSpPr>
          <p:cNvPr id="16" name="TextBox 15"/>
          <p:cNvSpPr txBox="1"/>
          <p:nvPr/>
        </p:nvSpPr>
        <p:spPr>
          <a:xfrm>
            <a:off x="4636008" y="1261872"/>
            <a:ext cx="4169664" cy="338328"/>
          </a:xfrm>
          <a:prstGeom prst="rect">
            <a:avLst/>
          </a:prstGeom>
          <a:noFill/>
        </p:spPr>
        <p:txBody>
          <a:bodyPr wrap="square">
            <a:spAutoFit/>
          </a:bodyPr>
          <a:lstStyle/>
          <a:p>
            <a:pPr algn="l"/>
            <a:r>
              <a:rPr sz="900" b="0" i="0">
                <a:solidFill>
                  <a:srgbClr val="FFFFFF"/>
                </a:solidFill>
                <a:latin typeface="Calibri"/>
              </a:rPr>
              <a:t>Deploy at one A1 junction; validate queue estimates; integrate into MAPPO obs pipeline.</a:t>
            </a:r>
          </a:p>
        </p:txBody>
      </p:sp>
      <p:sp>
        <p:nvSpPr>
          <p:cNvPr id="17" name="Rectangle 16"/>
          <p:cNvSpPr/>
          <p:nvPr/>
        </p:nvSpPr>
        <p:spPr>
          <a:xfrm>
            <a:off x="137160" y="1719072"/>
            <a:ext cx="4315968" cy="6858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0312" y="1755648"/>
            <a:ext cx="4169664" cy="237744"/>
          </a:xfrm>
          <a:prstGeom prst="rect">
            <a:avLst/>
          </a:prstGeom>
          <a:noFill/>
        </p:spPr>
        <p:txBody>
          <a:bodyPr wrap="square">
            <a:spAutoFit/>
          </a:bodyPr>
          <a:lstStyle/>
          <a:p>
            <a:pPr algn="l"/>
            <a:r>
              <a:rPr sz="1000" b="1" i="0">
                <a:solidFill>
                  <a:srgbClr val="FFFFFF"/>
                </a:solidFill>
                <a:latin typeface="Calibri"/>
              </a:rPr>
              <a:t>Actuated Baseline Comparison</a:t>
            </a:r>
          </a:p>
        </p:txBody>
      </p:sp>
      <p:sp>
        <p:nvSpPr>
          <p:cNvPr id="19" name="TextBox 18"/>
          <p:cNvSpPr txBox="1"/>
          <p:nvPr/>
        </p:nvSpPr>
        <p:spPr>
          <a:xfrm>
            <a:off x="210312" y="2020824"/>
            <a:ext cx="4169664" cy="338328"/>
          </a:xfrm>
          <a:prstGeom prst="rect">
            <a:avLst/>
          </a:prstGeom>
          <a:noFill/>
        </p:spPr>
        <p:txBody>
          <a:bodyPr wrap="square">
            <a:spAutoFit/>
          </a:bodyPr>
          <a:lstStyle/>
          <a:p>
            <a:pPr algn="l"/>
            <a:r>
              <a:rPr sz="900" b="0" i="0">
                <a:solidFill>
                  <a:srgbClr val="FFFFFF"/>
                </a:solidFill>
                <a:latin typeface="Calibri"/>
              </a:rPr>
              <a:t>Add Webster-optimised or gap-based actuated controller for rigorous benchmarking.</a:t>
            </a:r>
          </a:p>
        </p:txBody>
      </p:sp>
      <p:sp>
        <p:nvSpPr>
          <p:cNvPr id="20" name="Rectangle 19"/>
          <p:cNvSpPr/>
          <p:nvPr/>
        </p:nvSpPr>
        <p:spPr>
          <a:xfrm>
            <a:off x="4562856" y="1719072"/>
            <a:ext cx="4315968" cy="685800"/>
          </a:xfrm>
          <a:prstGeom prst="rect">
            <a:avLst/>
          </a:prstGeom>
          <a:solidFill>
            <a:srgbClr val="FB8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36008" y="1755648"/>
            <a:ext cx="4169664" cy="237744"/>
          </a:xfrm>
          <a:prstGeom prst="rect">
            <a:avLst/>
          </a:prstGeom>
          <a:noFill/>
        </p:spPr>
        <p:txBody>
          <a:bodyPr wrap="square">
            <a:spAutoFit/>
          </a:bodyPr>
          <a:lstStyle/>
          <a:p>
            <a:pPr algn="l"/>
            <a:r>
              <a:rPr sz="1000" b="1" i="0">
                <a:solidFill>
                  <a:srgbClr val="FFFFFF"/>
                </a:solidFill>
                <a:latin typeface="Calibri"/>
              </a:rPr>
              <a:t>Safety: Pedestrian Phases + Emergency Pre-emption</a:t>
            </a:r>
          </a:p>
        </p:txBody>
      </p:sp>
      <p:sp>
        <p:nvSpPr>
          <p:cNvPr id="22" name="TextBox 21"/>
          <p:cNvSpPr txBox="1"/>
          <p:nvPr/>
        </p:nvSpPr>
        <p:spPr>
          <a:xfrm>
            <a:off x="4636008" y="2020824"/>
            <a:ext cx="4169664" cy="338328"/>
          </a:xfrm>
          <a:prstGeom prst="rect">
            <a:avLst/>
          </a:prstGeom>
          <a:noFill/>
        </p:spPr>
        <p:txBody>
          <a:bodyPr wrap="square">
            <a:spAutoFit/>
          </a:bodyPr>
          <a:lstStyle/>
          <a:p>
            <a:pPr algn="l"/>
            <a:r>
              <a:rPr sz="900" b="0" i="0">
                <a:solidFill>
                  <a:srgbClr val="FFFFFF"/>
                </a:solidFill>
                <a:latin typeface="Calibri"/>
              </a:rPr>
              <a:t>Add pedestrian phases, min-green guarantees, emergency vehicle pre-emption.</a:t>
            </a:r>
          </a:p>
        </p:txBody>
      </p:sp>
      <p:sp>
        <p:nvSpPr>
          <p:cNvPr id="23" name="Rectangle 22"/>
          <p:cNvSpPr/>
          <p:nvPr/>
        </p:nvSpPr>
        <p:spPr>
          <a:xfrm>
            <a:off x="137160" y="2478024"/>
            <a:ext cx="4315968" cy="685800"/>
          </a:xfrm>
          <a:prstGeom prst="rect">
            <a:avLst/>
          </a:prstGeom>
          <a:solidFill>
            <a:srgbClr val="068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0312" y="2514600"/>
            <a:ext cx="4169664" cy="237744"/>
          </a:xfrm>
          <a:prstGeom prst="rect">
            <a:avLst/>
          </a:prstGeom>
          <a:noFill/>
        </p:spPr>
        <p:txBody>
          <a:bodyPr wrap="square">
            <a:spAutoFit/>
          </a:bodyPr>
          <a:lstStyle/>
          <a:p>
            <a:pPr algn="l"/>
            <a:r>
              <a:rPr sz="1000" b="1" i="0">
                <a:solidFill>
                  <a:srgbClr val="FFFFFF"/>
                </a:solidFill>
                <a:latin typeface="Calibri"/>
              </a:rPr>
              <a:t>Extended Training + Multi-Seed</a:t>
            </a:r>
          </a:p>
        </p:txBody>
      </p:sp>
      <p:sp>
        <p:nvSpPr>
          <p:cNvPr id="25" name="TextBox 24"/>
          <p:cNvSpPr txBox="1"/>
          <p:nvPr/>
        </p:nvSpPr>
        <p:spPr>
          <a:xfrm>
            <a:off x="210312" y="2779776"/>
            <a:ext cx="4169664" cy="338328"/>
          </a:xfrm>
          <a:prstGeom prst="rect">
            <a:avLst/>
          </a:prstGeom>
          <a:noFill/>
        </p:spPr>
        <p:txBody>
          <a:bodyPr wrap="square">
            <a:spAutoFit/>
          </a:bodyPr>
          <a:lstStyle/>
          <a:p>
            <a:pPr algn="l"/>
            <a:r>
              <a:rPr sz="900" b="0" i="0">
                <a:solidFill>
                  <a:srgbClr val="FFFFFF"/>
                </a:solidFill>
                <a:latin typeface="Calibri"/>
              </a:rPr>
              <a:t>Scale to 5–10M steps with GPU; run multiple seeds to quantify variance.</a:t>
            </a:r>
          </a:p>
        </p:txBody>
      </p:sp>
      <p:sp>
        <p:nvSpPr>
          <p:cNvPr id="26" name="Rectangle 25"/>
          <p:cNvSpPr/>
          <p:nvPr/>
        </p:nvSpPr>
        <p:spPr>
          <a:xfrm>
            <a:off x="4562856" y="2478024"/>
            <a:ext cx="4315968" cy="685800"/>
          </a:xfrm>
          <a:prstGeom prst="rect">
            <a:avLst/>
          </a:prstGeom>
          <a:solidFill>
            <a:srgbClr val="068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36008" y="2514600"/>
            <a:ext cx="4169664" cy="237744"/>
          </a:xfrm>
          <a:prstGeom prst="rect">
            <a:avLst/>
          </a:prstGeom>
          <a:noFill/>
        </p:spPr>
        <p:txBody>
          <a:bodyPr wrap="square">
            <a:spAutoFit/>
          </a:bodyPr>
          <a:lstStyle/>
          <a:p>
            <a:pPr algn="l"/>
            <a:r>
              <a:rPr sz="1000" b="1" i="0">
                <a:solidFill>
                  <a:srgbClr val="FFFFFF"/>
                </a:solidFill>
                <a:latin typeface="Calibri"/>
              </a:rPr>
              <a:t>Emissions-Aware Reward</a:t>
            </a:r>
          </a:p>
        </p:txBody>
      </p:sp>
      <p:sp>
        <p:nvSpPr>
          <p:cNvPr id="28" name="TextBox 27"/>
          <p:cNvSpPr txBox="1"/>
          <p:nvPr/>
        </p:nvSpPr>
        <p:spPr>
          <a:xfrm>
            <a:off x="4636008" y="2779776"/>
            <a:ext cx="4169664" cy="338328"/>
          </a:xfrm>
          <a:prstGeom prst="rect">
            <a:avLst/>
          </a:prstGeom>
          <a:noFill/>
        </p:spPr>
        <p:txBody>
          <a:bodyPr wrap="square">
            <a:spAutoFit/>
          </a:bodyPr>
          <a:lstStyle/>
          <a:p>
            <a:pPr algn="l"/>
            <a:r>
              <a:rPr sz="900" b="0" i="0">
                <a:solidFill>
                  <a:srgbClr val="FFFFFF"/>
                </a:solidFill>
                <a:latin typeface="Calibri"/>
              </a:rPr>
              <a:t>Incorporate idle-time fuel penalty to align objectives with Palapye air quality.</a:t>
            </a:r>
          </a:p>
        </p:txBody>
      </p:sp>
      <p:sp>
        <p:nvSpPr>
          <p:cNvPr id="29" name="Rectangle 28"/>
          <p:cNvSpPr/>
          <p:nvPr/>
        </p:nvSpPr>
        <p:spPr>
          <a:xfrm>
            <a:off x="137160" y="3236976"/>
            <a:ext cx="4315968" cy="6858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10312" y="3273552"/>
            <a:ext cx="4169664" cy="237744"/>
          </a:xfrm>
          <a:prstGeom prst="rect">
            <a:avLst/>
          </a:prstGeom>
          <a:noFill/>
        </p:spPr>
        <p:txBody>
          <a:bodyPr wrap="square">
            <a:spAutoFit/>
          </a:bodyPr>
          <a:lstStyle/>
          <a:p>
            <a:pPr algn="l"/>
            <a:r>
              <a:rPr sz="1000" b="1" i="0">
                <a:solidFill>
                  <a:srgbClr val="FFFFFF"/>
                </a:solidFill>
                <a:latin typeface="Calibri"/>
              </a:rPr>
              <a:t>Hardware Deployment Roadmap</a:t>
            </a:r>
          </a:p>
        </p:txBody>
      </p:sp>
      <p:sp>
        <p:nvSpPr>
          <p:cNvPr id="31" name="TextBox 30"/>
          <p:cNvSpPr txBox="1"/>
          <p:nvPr/>
        </p:nvSpPr>
        <p:spPr>
          <a:xfrm>
            <a:off x="210312" y="3538728"/>
            <a:ext cx="4169664" cy="338328"/>
          </a:xfrm>
          <a:prstGeom prst="rect">
            <a:avLst/>
          </a:prstGeom>
          <a:noFill/>
        </p:spPr>
        <p:txBody>
          <a:bodyPr wrap="square">
            <a:spAutoFit/>
          </a:bodyPr>
          <a:lstStyle/>
          <a:p>
            <a:pPr algn="l"/>
            <a:r>
              <a:rPr sz="900" b="0" i="0">
                <a:solidFill>
                  <a:srgbClr val="FFFFFF"/>
                </a:solidFill>
                <a:latin typeface="Calibri"/>
              </a:rPr>
              <a:t>Define signal controller API, camera specs, latency budget, failsafe fallback.</a:t>
            </a:r>
          </a:p>
        </p:txBody>
      </p:sp>
      <p:sp>
        <p:nvSpPr>
          <p:cNvPr id="32" name="Rectangle 31"/>
          <p:cNvSpPr/>
          <p:nvPr/>
        </p:nvSpPr>
        <p:spPr>
          <a:xfrm>
            <a:off x="4562856" y="3236976"/>
            <a:ext cx="4315968" cy="6858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36008" y="3273552"/>
            <a:ext cx="4169664" cy="237744"/>
          </a:xfrm>
          <a:prstGeom prst="rect">
            <a:avLst/>
          </a:prstGeom>
          <a:noFill/>
        </p:spPr>
        <p:txBody>
          <a:bodyPr wrap="square">
            <a:spAutoFit/>
          </a:bodyPr>
          <a:lstStyle/>
          <a:p>
            <a:pPr algn="l"/>
            <a:r>
              <a:rPr sz="1000" b="1" i="0">
                <a:solidFill>
                  <a:srgbClr val="FFFFFF"/>
                </a:solidFill>
                <a:latin typeface="Calibri"/>
              </a:rPr>
              <a:t>Continual Learning Pipeline</a:t>
            </a:r>
          </a:p>
        </p:txBody>
      </p:sp>
      <p:sp>
        <p:nvSpPr>
          <p:cNvPr id="34" name="TextBox 33"/>
          <p:cNvSpPr txBox="1"/>
          <p:nvPr/>
        </p:nvSpPr>
        <p:spPr>
          <a:xfrm>
            <a:off x="4636008" y="3538728"/>
            <a:ext cx="4169664" cy="338328"/>
          </a:xfrm>
          <a:prstGeom prst="rect">
            <a:avLst/>
          </a:prstGeom>
          <a:noFill/>
        </p:spPr>
        <p:txBody>
          <a:bodyPr wrap="square">
            <a:spAutoFit/>
          </a:bodyPr>
          <a:lstStyle/>
          <a:p>
            <a:pPr algn="l"/>
            <a:r>
              <a:rPr sz="900" b="0" i="0">
                <a:solidFill>
                  <a:srgbClr val="FFFFFF"/>
                </a:solidFill>
                <a:latin typeface="Calibri"/>
              </a:rPr>
              <a:t>Build dataset pipeline from live runs enabling periodic fine-tuning on real-world data.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7583F1CE-7AD0-FAEF-C4E7-240C03C04C2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F60A83B-D1D1-1791-3605-40740BDE1AAB}"/>
              </a:ext>
            </a:extLst>
          </p:cNvPr>
          <p:cNvSpPr txBox="1">
            <a:spLocks/>
          </p:cNvSpPr>
          <p:nvPr/>
        </p:nvSpPr>
        <p:spPr>
          <a:xfrm>
            <a:off x="83722" y="93892"/>
            <a:ext cx="694946" cy="673488"/>
          </a:xfrm>
          <a:prstGeom prst="rect">
            <a:avLst/>
          </a:prstGeom>
          <a:solidFill>
            <a:srgbClr val="00B0F0"/>
          </a:solidFill>
          <a:ln>
            <a:solidFill>
              <a:schemeClr val="accent5">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800" b="1">
                <a:solidFill>
                  <a:schemeClr val="bg1"/>
                </a:solidFill>
                <a:latin typeface="Trebuchet MS"/>
                <a:cs typeface="Trebuchet MS"/>
              </a:rPr>
              <a:t>14</a:t>
            </a:r>
            <a:endParaRPr lang="en-US" sz="1800" b="1">
              <a:solidFill>
                <a:schemeClr val="bg1"/>
              </a:solidFill>
              <a:latin typeface="Trebuchet MS" pitchFamily="34" charset="0"/>
              <a:cs typeface="Trebuchet MS"/>
            </a:endParaRPr>
          </a:p>
        </p:txBody>
      </p:sp>
      <p:sp>
        <p:nvSpPr>
          <p:cNvPr id="5" name="Title 1">
            <a:extLst>
              <a:ext uri="{FF2B5EF4-FFF2-40B4-BE49-F238E27FC236}">
                <a16:creationId xmlns:a16="http://schemas.microsoft.com/office/drawing/2014/main" id="{381E17E5-B67A-FCF1-18DC-254BCEF6654A}"/>
              </a:ext>
            </a:extLst>
          </p:cNvPr>
          <p:cNvSpPr txBox="1">
            <a:spLocks/>
          </p:cNvSpPr>
          <p:nvPr/>
        </p:nvSpPr>
        <p:spPr>
          <a:xfrm>
            <a:off x="947970" y="136524"/>
            <a:ext cx="6450806" cy="678857"/>
          </a:xfrm>
          <a:prstGeom prst="rect">
            <a:avLst/>
          </a:prstGeom>
          <a:solidFill>
            <a:srgbClr val="FB823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vert="horz" lIns="68580" tIns="34290" rIns="68580" bIns="3429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100" b="1" dirty="0">
                <a:solidFill>
                  <a:prstClr val="white"/>
                </a:solidFill>
                <a:latin typeface="Times New Roman"/>
                <a:ea typeface="Tahoma"/>
                <a:cs typeface="Times New Roman"/>
              </a:rPr>
              <a:t>THANK YOU FOR YOUR TIME
Tsotlhe Nayang Seiphepi  |  21001137
tsotlhenayangseiphepi@gmail.com
Supervisor: Dr Bokamoso Basutli  |  BIUST 2025
QnA</a:t>
            </a:r>
          </a:p>
        </p:txBody>
      </p:sp>
      <p:pic>
        <p:nvPicPr>
          <p:cNvPr id="6" name="Content Placeholder 4">
            <a:extLst>
              <a:ext uri="{FF2B5EF4-FFF2-40B4-BE49-F238E27FC236}">
                <a16:creationId xmlns:a16="http://schemas.microsoft.com/office/drawing/2014/main" id="{7FB7AAA0-AC16-C509-FC79-AAED2E405474}"/>
              </a:ext>
            </a:extLst>
          </p:cNvPr>
          <p:cNvPicPr>
            <a:picLocks noGrp="1" noChangeAspect="1"/>
          </p:cNvPicPr>
          <p:nvPr>
            <p:ph idx="1"/>
          </p:nvPr>
        </p:nvPicPr>
        <p:blipFill>
          <a:blip r:embed="rId3"/>
          <a:stretch>
            <a:fillRect/>
          </a:stretch>
        </p:blipFill>
        <p:spPr>
          <a:xfrm>
            <a:off x="7543110" y="136524"/>
            <a:ext cx="1536000" cy="678857"/>
          </a:xfrm>
          <a:prstGeom prst="rect">
            <a:avLst/>
          </a:prstGeom>
        </p:spPr>
      </p:pic>
      <p:sp>
        <p:nvSpPr>
          <p:cNvPr id="2" name="Slide Number Placeholder 1">
            <a:extLst>
              <a:ext uri="{FF2B5EF4-FFF2-40B4-BE49-F238E27FC236}">
                <a16:creationId xmlns:a16="http://schemas.microsoft.com/office/drawing/2014/main" id="{D6663FA7-1EBC-ABCA-30A8-BE5AEE4DD65E}"/>
              </a:ext>
            </a:extLst>
          </p:cNvPr>
          <p:cNvSpPr>
            <a:spLocks noGrp="1"/>
          </p:cNvSpPr>
          <p:nvPr>
            <p:ph type="sldNum" sz="quarter" idx="12"/>
          </p:nvPr>
        </p:nvSpPr>
        <p:spPr/>
        <p:txBody>
          <a:bodyPr/>
          <a:lstStyle/>
          <a:p>
            <a:fld id="{21004690-02AB-4EF8-9513-CB283ECF7991}" type="slidenum">
              <a:rPr lang="en-BW" smtClean="0"/>
              <a:t>15</a:t>
            </a:fld>
            <a:endParaRPr lang="en-BW"/>
          </a:p>
        </p:txBody>
      </p:sp>
      <p:pic>
        <p:nvPicPr>
          <p:cNvPr id="9" name="Picture 8">
            <a:extLst>
              <a:ext uri="{FF2B5EF4-FFF2-40B4-BE49-F238E27FC236}">
                <a16:creationId xmlns:a16="http://schemas.microsoft.com/office/drawing/2014/main" id="{8F59AC28-90CC-7FA6-BE55-C1162FB28039}"/>
              </a:ext>
            </a:extLst>
          </p:cNvPr>
          <p:cNvPicPr>
            <a:picLocks noChangeAspect="1"/>
          </p:cNvPicPr>
          <p:nvPr/>
        </p:nvPicPr>
        <p:blipFill>
          <a:blip r:embed="rId3"/>
          <a:stretch>
            <a:fillRect/>
          </a:stretch>
        </p:blipFill>
        <p:spPr>
          <a:xfrm>
            <a:off x="4015197" y="6356351"/>
            <a:ext cx="1113605" cy="451648"/>
          </a:xfrm>
          <a:prstGeom prst="rect">
            <a:avLst/>
          </a:prstGeom>
        </p:spPr>
      </p:pic>
      <p:pic>
        <p:nvPicPr>
          <p:cNvPr id="10" name="Picture 9">
            <a:extLst>
              <a:ext uri="{FF2B5EF4-FFF2-40B4-BE49-F238E27FC236}">
                <a16:creationId xmlns:a16="http://schemas.microsoft.com/office/drawing/2014/main" id="{53BF235D-1D0B-58E3-30A5-85B28C1F917F}"/>
              </a:ext>
            </a:extLst>
          </p:cNvPr>
          <p:cNvPicPr>
            <a:picLocks noChangeAspect="1"/>
          </p:cNvPicPr>
          <p:nvPr/>
        </p:nvPicPr>
        <p:blipFill>
          <a:blip r:embed="rId4"/>
          <a:stretch>
            <a:fillRect/>
          </a:stretch>
        </p:blipFill>
        <p:spPr>
          <a:xfrm>
            <a:off x="0" y="6610277"/>
            <a:ext cx="9144000" cy="254891"/>
          </a:xfrm>
          <a:prstGeom prst="rect">
            <a:avLst/>
          </a:prstGeom>
        </p:spPr>
      </p:pic>
      <p:sp>
        <p:nvSpPr>
          <p:cNvPr id="11" name="TextBox 10">
            <a:extLst>
              <a:ext uri="{FF2B5EF4-FFF2-40B4-BE49-F238E27FC236}">
                <a16:creationId xmlns:a16="http://schemas.microsoft.com/office/drawing/2014/main" id="{30224578-E447-DF49-B2EA-D8579494FD04}"/>
              </a:ext>
            </a:extLst>
          </p:cNvPr>
          <p:cNvSpPr txBox="1"/>
          <p:nvPr/>
        </p:nvSpPr>
        <p:spPr>
          <a:xfrm>
            <a:off x="1369860" y="1596592"/>
            <a:ext cx="6019644" cy="397031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600" b="1" dirty="0">
                <a:ea typeface="Calibri" panose="020F0502020204030204"/>
                <a:cs typeface="Calibri" panose="020F0502020204030204"/>
              </a:rPr>
              <a:t>THANK YOU FOR YOUR TIME
Tsotlhe Nayang Seiphepi  |  21001137
tsotlhenayangseiphepi@gmail.com
Supervisor: Dr Bokamoso Basutli  |  BIUST 2025
QnA</a:t>
            </a:r>
            <a:endParaRPr lang="en-US" sz="3600" dirty="0">
              <a:ea typeface="Calibri"/>
              <a:cs typeface="Calibri"/>
            </a:endParaRPr>
          </a:p>
          <a:p>
            <a:pPr algn="ctr"/>
            <a:endParaRPr lang="en-US" sz="3600" b="1" dirty="0">
              <a:ea typeface="Calibri" panose="020F0502020204030204"/>
              <a:cs typeface="Calibri" panose="020F0502020204030204"/>
            </a:endParaRPr>
          </a:p>
          <a:p>
            <a:pPr algn="ctr"/>
            <a:endParaRPr lang="en-US" sz="3600" b="1" dirty="0">
              <a:ea typeface="Calibri" panose="020F0502020204030204"/>
              <a:cs typeface="Calibri" panose="020F0502020204030204"/>
            </a:endParaRPr>
          </a:p>
          <a:p>
            <a:pPr algn="ctr"/>
            <a:endParaRPr lang="en-US" sz="3600" b="1" dirty="0">
              <a:ea typeface="Calibri" panose="020F0502020204030204"/>
              <a:cs typeface="Calibri" panose="020F0502020204030204"/>
            </a:endParaRPr>
          </a:p>
          <a:p>
            <a:pPr algn="ctr"/>
            <a:endParaRPr lang="en-US" sz="3600" b="1" dirty="0">
              <a:ea typeface="Calibri" panose="020F0502020204030204"/>
              <a:cs typeface="Calibri" panose="020F0502020204030204"/>
            </a:endParaRPr>
          </a:p>
          <a:p>
            <a:pPr algn="ctr"/>
            <a:endParaRPr lang="en-US" sz="3600" b="1" dirty="0">
              <a:ea typeface="Calibri" panose="020F0502020204030204"/>
              <a:cs typeface="Calibri" panose="020F0502020204030204"/>
            </a:endParaRPr>
          </a:p>
          <a:p>
            <a:pPr algn="ctr"/>
            <a:r>
              <a:rPr lang="en-US" sz="3600" b="1" dirty="0" err="1">
                <a:ea typeface="Calibri" panose="020F0502020204030204"/>
                <a:cs typeface="Calibri" panose="020F0502020204030204"/>
              </a:rPr>
              <a:t/>
            </a:r>
            <a:endParaRPr lang="en-US" sz="3600" b="1" dirty="0">
              <a:ea typeface="Calibri" panose="020F0502020204030204"/>
              <a:cs typeface="Calibri" panose="020F0502020204030204"/>
            </a:endParaRPr>
          </a:p>
        </p:txBody>
      </p:sp>
      <p:grpSp>
        <p:nvGrpSpPr>
          <p:cNvPr id="12" name="Google Shape;5822;p79">
            <a:extLst>
              <a:ext uri="{FF2B5EF4-FFF2-40B4-BE49-F238E27FC236}">
                <a16:creationId xmlns:a16="http://schemas.microsoft.com/office/drawing/2014/main" id="{C7700C01-D7ED-6FDF-25AC-15F5306468F0}"/>
              </a:ext>
            </a:extLst>
          </p:cNvPr>
          <p:cNvGrpSpPr/>
          <p:nvPr/>
        </p:nvGrpSpPr>
        <p:grpSpPr>
          <a:xfrm>
            <a:off x="3082353" y="2362436"/>
            <a:ext cx="2594793" cy="2415033"/>
            <a:chOff x="3274578" y="1880626"/>
            <a:chExt cx="481750" cy="481850"/>
          </a:xfrm>
          <a:solidFill>
            <a:schemeClr val="accent2">
              <a:lumMod val="40000"/>
              <a:lumOff val="60000"/>
            </a:schemeClr>
          </a:solidFill>
        </p:grpSpPr>
        <p:sp>
          <p:nvSpPr>
            <p:cNvPr id="13" name="Google Shape;5823;p79">
              <a:extLst>
                <a:ext uri="{FF2B5EF4-FFF2-40B4-BE49-F238E27FC236}">
                  <a16:creationId xmlns:a16="http://schemas.microsoft.com/office/drawing/2014/main" id="{DD5A107E-FFCE-58AF-39AE-BBEDDC75F5E6}"/>
                </a:ext>
              </a:extLst>
            </p:cNvPr>
            <p:cNvSpPr/>
            <p:nvPr/>
          </p:nvSpPr>
          <p:spPr>
            <a:xfrm>
              <a:off x="3416628" y="2247651"/>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4" name="Google Shape;5824;p79">
              <a:extLst>
                <a:ext uri="{FF2B5EF4-FFF2-40B4-BE49-F238E27FC236}">
                  <a16:creationId xmlns:a16="http://schemas.microsoft.com/office/drawing/2014/main" id="{A6B40039-6F58-FB4C-1AEA-B2451F77C847}"/>
                </a:ext>
              </a:extLst>
            </p:cNvPr>
            <p:cNvSpPr/>
            <p:nvPr/>
          </p:nvSpPr>
          <p:spPr>
            <a:xfrm>
              <a:off x="3338478" y="1880626"/>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5" name="Google Shape;5825;p79">
              <a:extLst>
                <a:ext uri="{FF2B5EF4-FFF2-40B4-BE49-F238E27FC236}">
                  <a16:creationId xmlns:a16="http://schemas.microsoft.com/office/drawing/2014/main" id="{51F2C41B-8FBA-17E8-64F2-10CE5EA3CAE7}"/>
                </a:ext>
              </a:extLst>
            </p:cNvPr>
            <p:cNvSpPr/>
            <p:nvPr/>
          </p:nvSpPr>
          <p:spPr>
            <a:xfrm>
              <a:off x="3274578" y="2050026"/>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6" name="Google Shape;5826;p79">
              <a:extLst>
                <a:ext uri="{FF2B5EF4-FFF2-40B4-BE49-F238E27FC236}">
                  <a16:creationId xmlns:a16="http://schemas.microsoft.com/office/drawing/2014/main" id="{5D1AACD1-DC84-35F3-A393-2B50F128EA33}"/>
                </a:ext>
              </a:extLst>
            </p:cNvPr>
            <p:cNvSpPr/>
            <p:nvPr/>
          </p:nvSpPr>
          <p:spPr>
            <a:xfrm>
              <a:off x="3277428" y="1955526"/>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7" name="Google Shape;5827;p79">
              <a:extLst>
                <a:ext uri="{FF2B5EF4-FFF2-40B4-BE49-F238E27FC236}">
                  <a16:creationId xmlns:a16="http://schemas.microsoft.com/office/drawing/2014/main" id="{CDE0B430-33E4-D925-DAB9-31ACFEC0C38F}"/>
                </a:ext>
              </a:extLst>
            </p:cNvPr>
            <p:cNvSpPr/>
            <p:nvPr/>
          </p:nvSpPr>
          <p:spPr>
            <a:xfrm>
              <a:off x="3277428" y="2124901"/>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8" name="Google Shape;5828;p79">
              <a:extLst>
                <a:ext uri="{FF2B5EF4-FFF2-40B4-BE49-F238E27FC236}">
                  <a16:creationId xmlns:a16="http://schemas.microsoft.com/office/drawing/2014/main" id="{B1CC4620-8F7D-085C-0964-003A0237B8B3}"/>
                </a:ext>
              </a:extLst>
            </p:cNvPr>
            <p:cNvSpPr/>
            <p:nvPr/>
          </p:nvSpPr>
          <p:spPr>
            <a:xfrm>
              <a:off x="3699903" y="2050026"/>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19" name="Google Shape;5829;p79">
              <a:extLst>
                <a:ext uri="{FF2B5EF4-FFF2-40B4-BE49-F238E27FC236}">
                  <a16:creationId xmlns:a16="http://schemas.microsoft.com/office/drawing/2014/main" id="{1DB24D83-2A1D-4553-BBB1-E24AD9A48983}"/>
                </a:ext>
              </a:extLst>
            </p:cNvPr>
            <p:cNvSpPr/>
            <p:nvPr/>
          </p:nvSpPr>
          <p:spPr>
            <a:xfrm>
              <a:off x="3702778" y="1955526"/>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
          <p:nvSpPr>
            <p:cNvPr id="20" name="Google Shape;5830;p79">
              <a:extLst>
                <a:ext uri="{FF2B5EF4-FFF2-40B4-BE49-F238E27FC236}">
                  <a16:creationId xmlns:a16="http://schemas.microsoft.com/office/drawing/2014/main" id="{B098A796-641A-6D7A-31DE-CBE36AC2EC90}"/>
                </a:ext>
              </a:extLst>
            </p:cNvPr>
            <p:cNvSpPr/>
            <p:nvPr/>
          </p:nvSpPr>
          <p:spPr>
            <a:xfrm>
              <a:off x="3702628" y="2124726"/>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grpFill/>
            <a:ln>
              <a:solidFill>
                <a:schemeClr val="accent2">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7508928-13aa-496e-92c2-06b222dfd71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EDFE191AF2D144C8CBCA275A0906B01" ma:contentTypeVersion="16" ma:contentTypeDescription="Create a new document." ma:contentTypeScope="" ma:versionID="6f135530753812c06d9a1546942b4a47">
  <xsd:schema xmlns:xsd="http://www.w3.org/2001/XMLSchema" xmlns:xs="http://www.w3.org/2001/XMLSchema" xmlns:p="http://schemas.microsoft.com/office/2006/metadata/properties" xmlns:ns3="f7508928-13aa-496e-92c2-06b222dfd713" xmlns:ns4="79cb7905-fd5d-4fb8-b6ba-3bfa43bb8ac8" targetNamespace="http://schemas.microsoft.com/office/2006/metadata/properties" ma:root="true" ma:fieldsID="88f6a09d0188fdb8f65eb00db31a054b" ns3:_="" ns4:_="">
    <xsd:import namespace="f7508928-13aa-496e-92c2-06b222dfd713"/>
    <xsd:import namespace="79cb7905-fd5d-4fb8-b6ba-3bfa43bb8ac8"/>
    <xsd:element name="properties">
      <xsd:complexType>
        <xsd:sequence>
          <xsd:element name="documentManagement">
            <xsd:complexType>
              <xsd:all>
                <xsd:element ref="ns3:MediaServiceMetadata" minOccurs="0"/>
                <xsd:element ref="ns3:MediaServiceFastMetadata" minOccurs="0"/>
                <xsd:element ref="ns3:_activity" minOccurs="0"/>
                <xsd:element ref="ns3:MediaServiceDateTaken" minOccurs="0"/>
                <xsd:element ref="ns3:MediaServiceAutoTags" minOccurs="0"/>
                <xsd:element ref="ns3:MediaServiceLocation" minOccurs="0"/>
                <xsd:element ref="ns3:MediaServiceGenerationTime" minOccurs="0"/>
                <xsd:element ref="ns3:MediaServiceEventHashCode" minOccurs="0"/>
                <xsd:element ref="ns3:MediaLengthInSeconds" minOccurs="0"/>
                <xsd:element ref="ns3:MediaServiceOCR" minOccurs="0"/>
                <xsd:element ref="ns3:MediaServiceSearchProperties" minOccurs="0"/>
                <xsd:element ref="ns3:MediaServiceObjectDetectorVersions" minOccurs="0"/>
                <xsd:element ref="ns4:SharedWithUsers" minOccurs="0"/>
                <xsd:element ref="ns4:SharedWithDetails" minOccurs="0"/>
                <xsd:element ref="ns4:SharingHintHash" minOccurs="0"/>
                <xsd:element ref="ns4:MigrationSource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508928-13aa-496e-92c2-06b222dfd7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AutoTags" ma:index="12" nillable="true" ma:displayName="Tags" ma:internalName="MediaServiceAutoTags" ma:readOnly="true">
      <xsd:simpleType>
        <xsd:restriction base="dms:Text"/>
      </xsd:simpleType>
    </xsd:element>
    <xsd:element name="MediaServiceLocation" ma:index="13" nillable="true" ma:displayName="Location" ma:indexed="true"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9cb7905-fd5d-4fb8-b6ba-3bfa43bb8ac8"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SharingHintHash" ma:index="22" nillable="true" ma:displayName="Sharing Hint Hash" ma:hidden="true" ma:internalName="SharingHintHash" ma:readOnly="true">
      <xsd:simpleType>
        <xsd:restriction base="dms:Text"/>
      </xsd:simpleType>
    </xsd:element>
    <xsd:element name="MigrationSourceID" ma:index="23" nillable="true" ma:displayName="MigrationSourceID" ma:internalName="MigrationSourceID"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898F7C-A34A-4FE6-8F4C-62983E46AD0D}">
  <ds:schemaRefs>
    <ds:schemaRef ds:uri="http://purl.org/dc/elements/1.1/"/>
    <ds:schemaRef ds:uri="http://schemas.microsoft.com/office/2006/documentManagement/types"/>
    <ds:schemaRef ds:uri="http://www.w3.org/XML/1998/namespace"/>
    <ds:schemaRef ds:uri="79cb7905-fd5d-4fb8-b6ba-3bfa43bb8ac8"/>
    <ds:schemaRef ds:uri="http://purl.org/dc/dcmitype/"/>
    <ds:schemaRef ds:uri="http://schemas.openxmlformats.org/package/2006/metadata/core-properties"/>
    <ds:schemaRef ds:uri="http://schemas.microsoft.com/office/infopath/2007/PartnerControls"/>
    <ds:schemaRef ds:uri="http://purl.org/dc/terms/"/>
    <ds:schemaRef ds:uri="f7508928-13aa-496e-92c2-06b222dfd713"/>
    <ds:schemaRef ds:uri="http://schemas.microsoft.com/office/2006/metadata/properties"/>
  </ds:schemaRefs>
</ds:datastoreItem>
</file>

<file path=customXml/itemProps2.xml><?xml version="1.0" encoding="utf-8"?>
<ds:datastoreItem xmlns:ds="http://schemas.openxmlformats.org/officeDocument/2006/customXml" ds:itemID="{8403A09B-36AC-4EA4-9FA8-CBC20ECEEE77}">
  <ds:schemaRefs>
    <ds:schemaRef ds:uri="http://schemas.microsoft.com/sharepoint/v3/contenttype/forms"/>
  </ds:schemaRefs>
</ds:datastoreItem>
</file>

<file path=customXml/itemProps3.xml><?xml version="1.0" encoding="utf-8"?>
<ds:datastoreItem xmlns:ds="http://schemas.openxmlformats.org/officeDocument/2006/customXml" ds:itemID="{CA87858B-EB8B-49A0-AB8A-FE5E6799AB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508928-13aa-496e-92c2-06b222dfd713"/>
    <ds:schemaRef ds:uri="79cb7905-fd5d-4fb8-b6ba-3bfa43bb8a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ab414c51-c6f2-4403-8b00-bb190e2191b2}" enabled="0" method="" siteId="{ab414c51-c6f2-4403-8b00-bb190e2191b2}" removed="1"/>
</clbl:labelList>
</file>

<file path=docProps/app.xml><?xml version="1.0" encoding="utf-8"?>
<Properties xmlns="http://schemas.openxmlformats.org/officeDocument/2006/extended-properties" xmlns:vt="http://schemas.openxmlformats.org/officeDocument/2006/docPropsVTypes">
  <Template>Office Theme</Template>
  <TotalTime>2335</TotalTime>
  <Words>757</Words>
  <Application>Microsoft Office PowerPoint</Application>
  <PresentationFormat>On-screen Show (4:3)</PresentationFormat>
  <Paragraphs>146</Paragraphs>
  <Slides>15</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Aptos Narrow</vt:lpstr>
      <vt:lpstr>Arial</vt:lpstr>
      <vt:lpstr>Calibri</vt:lpstr>
      <vt:lpstr>Calibri Light</vt:lpstr>
      <vt:lpstr>Cambria</vt:lpstr>
      <vt:lpstr>Tahoma</vt:lpstr>
      <vt:lpstr>Times New Roman</vt:lpstr>
      <vt:lpstr>Trebuchet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Lucia K. Ketshabetswe</dc:creator>
  <cp:lastModifiedBy>TSHOTLHE SEIPHEPI</cp:lastModifiedBy>
  <cp:revision>12</cp:revision>
  <dcterms:created xsi:type="dcterms:W3CDTF">2021-10-07T13:58:06Z</dcterms:created>
  <dcterms:modified xsi:type="dcterms:W3CDTF">2026-05-20T01:06:53Z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0x010100BEDFE191AF2D144C8CBCA275A0906B01</vt:lpwstr>
  </property>
</Properties>
</file>